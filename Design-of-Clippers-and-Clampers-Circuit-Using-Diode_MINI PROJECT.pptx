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68" r:id="rId5"/>
    <p:sldId id="267" r:id="rId6"/>
    <p:sldId id="259" r:id="rId7"/>
    <p:sldId id="260" r:id="rId8"/>
    <p:sldId id="261" r:id="rId9"/>
    <p:sldId id="262" r:id="rId10"/>
    <p:sldId id="263" r:id="rId11"/>
    <p:sldId id="264" r:id="rId12"/>
    <p:sldId id="266" r:id="rId13"/>
  </p:sldIdLst>
  <p:sldSz cx="14630400" cy="8229600"/>
  <p:notesSz cx="8229600" cy="14630400"/>
  <p:embeddedFontLst>
    <p:embeddedFont>
      <p:font typeface="Cambria Math" panose="02040503050406030204" pitchFamily="18" charset="0"/>
      <p:regular r:id="rId15"/>
    </p:embeddedFont>
    <p:embeddedFont>
      <p:font typeface="Tomorrow Semi Bold" panose="020B0604020202020204" charset="0"/>
      <p:regular r:id="rId16"/>
    </p:embeddedFont>
    <p:embeddedFont>
      <p:font typeface="Calibri" panose="020F0502020204030204" pitchFamily="34" charset="0"/>
      <p:regular r:id="rId17"/>
      <p:bold r:id="rId18"/>
      <p:italic r:id="rId19"/>
      <p:boldItalic r:id="rId20"/>
    </p:embeddedFont>
    <p:embeddedFont>
      <p:font typeface="Calibri Light" panose="020F0302020204030204" pitchFamily="34" charset="0"/>
      <p:regular r:id="rId21"/>
      <p:italic r:id="rId22"/>
    </p:embeddedFont>
    <p:embeddedFont>
      <p:font typeface="Arial Black" panose="020B0A04020102020204" pitchFamily="34" charset="0"/>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4" d="100"/>
          <a:sy n="54" d="100"/>
        </p:scale>
        <p:origin x="1404"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b9fd190484b7cc43" providerId="LiveId" clId="{3573AE8F-4F6A-44AA-8030-DA8D7FD1CAFA}"/>
    <pc:docChg chg="modSld">
      <pc:chgData name="" userId="b9fd190484b7cc43" providerId="LiveId" clId="{3573AE8F-4F6A-44AA-8030-DA8D7FD1CAFA}" dt="2025-07-19T22:50:42.358" v="16"/>
      <pc:docMkLst>
        <pc:docMk/>
      </pc:docMkLst>
      <pc:sldChg chg="modSp">
        <pc:chgData name="" userId="b9fd190484b7cc43" providerId="LiveId" clId="{3573AE8F-4F6A-44AA-8030-DA8D7FD1CAFA}" dt="2025-07-19T22:50:42.358" v="16"/>
        <pc:sldMkLst>
          <pc:docMk/>
          <pc:sldMk cId="0" sldId="256"/>
        </pc:sldMkLst>
        <pc:spChg chg="mod">
          <ac:chgData name="" userId="b9fd190484b7cc43" providerId="LiveId" clId="{3573AE8F-4F6A-44AA-8030-DA8D7FD1CAFA}" dt="2025-07-17T08:29:10.287" v="3" actId="1076"/>
          <ac:spMkLst>
            <pc:docMk/>
            <pc:sldMk cId="0" sldId="256"/>
            <ac:spMk id="3" creationId="{00000000-0000-0000-0000-000000000000}"/>
          </ac:spMkLst>
        </pc:spChg>
        <pc:spChg chg="mod">
          <ac:chgData name="" userId="b9fd190484b7cc43" providerId="LiveId" clId="{3573AE8F-4F6A-44AA-8030-DA8D7FD1CAFA}" dt="2025-07-19T22:50:42.358" v="16"/>
          <ac:spMkLst>
            <pc:docMk/>
            <pc:sldMk cId="0" sldId="256"/>
            <ac:spMk id="4" creationId="{00000000-0000-0000-0000-000000000000}"/>
          </ac:spMkLst>
        </pc:spChg>
        <pc:spChg chg="mod">
          <ac:chgData name="" userId="b9fd190484b7cc43" providerId="LiveId" clId="{3573AE8F-4F6A-44AA-8030-DA8D7FD1CAFA}" dt="2025-07-17T08:29:28.921" v="6" actId="1076"/>
          <ac:spMkLst>
            <pc:docMk/>
            <pc:sldMk cId="0" sldId="256"/>
            <ac:spMk id="6" creationId="{C74BFDE0-42C8-441B-8349-1F9E0EE0E160}"/>
          </ac:spMkLst>
        </pc:spChg>
        <pc:spChg chg="mod">
          <ac:chgData name="" userId="b9fd190484b7cc43" providerId="LiveId" clId="{3573AE8F-4F6A-44AA-8030-DA8D7FD1CAFA}" dt="2025-07-17T08:29:23.625" v="5" actId="1076"/>
          <ac:spMkLst>
            <pc:docMk/>
            <pc:sldMk cId="0" sldId="256"/>
            <ac:spMk id="7" creationId="{8EABCC12-A0FA-49F8-8481-3EBA220EFB09}"/>
          </ac:spMkLst>
        </pc:spChg>
        <pc:spChg chg="mod">
          <ac:chgData name="" userId="b9fd190484b7cc43" providerId="LiveId" clId="{3573AE8F-4F6A-44AA-8030-DA8D7FD1CAFA}" dt="2025-07-17T08:29:16.021" v="4" actId="1076"/>
          <ac:spMkLst>
            <pc:docMk/>
            <pc:sldMk cId="0" sldId="256"/>
            <ac:spMk id="8" creationId="{B69A119D-841D-48E5-949A-E3F3CCC65A27}"/>
          </ac:spMkLst>
        </pc:spChg>
        <pc:spChg chg="mod">
          <ac:chgData name="" userId="b9fd190484b7cc43" providerId="LiveId" clId="{3573AE8F-4F6A-44AA-8030-DA8D7FD1CAFA}" dt="2025-07-17T08:28:24.906" v="1" actId="1076"/>
          <ac:spMkLst>
            <pc:docMk/>
            <pc:sldMk cId="0" sldId="256"/>
            <ac:spMk id="15" creationId="{E73FEE83-694A-49FB-BC81-1795B60777F0}"/>
          </ac:spMkLst>
        </pc:spChg>
        <pc:picChg chg="mod">
          <ac:chgData name="" userId="b9fd190484b7cc43" providerId="LiveId" clId="{3573AE8F-4F6A-44AA-8030-DA8D7FD1CAFA}" dt="2025-07-17T08:28:20.275" v="0" actId="1076"/>
          <ac:picMkLst>
            <pc:docMk/>
            <pc:sldMk cId="0" sldId="256"/>
            <ac:picMk id="17" creationId="{BC0182B9-5B63-4C38-BA9C-C1F415A98E65}"/>
          </ac:picMkLst>
        </pc:picChg>
      </pc:sldChg>
      <pc:sldChg chg="modSp">
        <pc:chgData name="" userId="b9fd190484b7cc43" providerId="LiveId" clId="{3573AE8F-4F6A-44AA-8030-DA8D7FD1CAFA}" dt="2025-07-17T08:50:45.486" v="7" actId="20577"/>
        <pc:sldMkLst>
          <pc:docMk/>
          <pc:sldMk cId="0" sldId="258"/>
        </pc:sldMkLst>
        <pc:grpChg chg="mod">
          <ac:chgData name="" userId="b9fd190484b7cc43" providerId="LiveId" clId="{3573AE8F-4F6A-44AA-8030-DA8D7FD1CAFA}" dt="2025-07-17T08:50:45.486" v="7" actId="20577"/>
          <ac:grpSpMkLst>
            <pc:docMk/>
            <pc:sldMk cId="0" sldId="258"/>
            <ac:grpSpMk id="11" creationId="{F928B40D-2E06-499A-A39D-706C8E249272}"/>
          </ac:grpSpMkLst>
        </pc:grpChg>
      </pc:sldChg>
      <pc:sldChg chg="modSp">
        <pc:chgData name="" userId="b9fd190484b7cc43" providerId="LiveId" clId="{3573AE8F-4F6A-44AA-8030-DA8D7FD1CAFA}" dt="2025-07-17T13:53:19.141" v="15" actId="20577"/>
        <pc:sldMkLst>
          <pc:docMk/>
          <pc:sldMk cId="0" sldId="261"/>
        </pc:sldMkLst>
        <pc:spChg chg="mod">
          <ac:chgData name="" userId="b9fd190484b7cc43" providerId="LiveId" clId="{3573AE8F-4F6A-44AA-8030-DA8D7FD1CAFA}" dt="2025-07-17T13:53:19.141" v="15" actId="20577"/>
          <ac:spMkLst>
            <pc:docMk/>
            <pc:sldMk cId="0" sldId="261"/>
            <ac:spMk id="25" creationId="{7BA6984B-898D-4EAE-96C9-868F5D8CED13}"/>
          </ac:spMkLst>
        </pc:spChg>
      </pc:sldChg>
      <pc:sldChg chg="modSp modAnim">
        <pc:chgData name="" userId="b9fd190484b7cc43" providerId="LiveId" clId="{3573AE8F-4F6A-44AA-8030-DA8D7FD1CAFA}" dt="2025-07-17T13:01:30.731" v="9" actId="20577"/>
        <pc:sldMkLst>
          <pc:docMk/>
          <pc:sldMk cId="957434249" sldId="266"/>
        </pc:sldMkLst>
        <pc:spChg chg="mod">
          <ac:chgData name="" userId="b9fd190484b7cc43" providerId="LiveId" clId="{3573AE8F-4F6A-44AA-8030-DA8D7FD1CAFA}" dt="2025-07-17T13:01:30.731" v="9" actId="20577"/>
          <ac:spMkLst>
            <pc:docMk/>
            <pc:sldMk cId="957434249" sldId="266"/>
            <ac:spMk id="2" creationId="{4D9EC5C3-BCEA-4926-B614-9443CD94E78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7859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8" Type="http://schemas.openxmlformats.org/officeDocument/2006/relationships/image" Target="../media/image37.jpeg"/><Relationship Id="rId3" Type="http://schemas.openxmlformats.org/officeDocument/2006/relationships/image" Target="../media/image32.png"/><Relationship Id="rId7" Type="http://schemas.openxmlformats.org/officeDocument/2006/relationships/image" Target="../media/image36.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www.geeksforgeeks.org/digital-logic/introduction-to-clippers/" TargetMode="External"/><Relationship Id="rId2" Type="http://schemas.openxmlformats.org/officeDocument/2006/relationships/image" Target="../media/image39.png"/><Relationship Id="rId1" Type="http://schemas.openxmlformats.org/officeDocument/2006/relationships/slideLayout" Target="../slideLayouts/slideLayout1.xml"/><Relationship Id="rId6" Type="http://schemas.openxmlformats.org/officeDocument/2006/relationships/hyperlink" Target="https://www.youtube.com/watch?v=7O3Hbkkt624&amp;list=PLwjK_iyK4LLBVM18VZ7JKW-q88FAtnr8_&amp;index=50" TargetMode="External"/><Relationship Id="rId5" Type="http://schemas.openxmlformats.org/officeDocument/2006/relationships/hyperlink" Target="https://www.youtube.com/watch?v=S76CnEJMl5E&amp;list=PLwjK_iyK4LLBVM18VZ7JKW-q88FAtnr8_&amp;index=48" TargetMode="External"/><Relationship Id="rId4" Type="http://schemas.openxmlformats.org/officeDocument/2006/relationships/hyperlink" Target="https://www.tutorialspoint.com/electronic_circuits/electronic_clamper_circuits.ht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3884239" y="2296009"/>
            <a:ext cx="10500368" cy="696235"/>
          </a:xfrm>
          <a:prstGeom prst="rect">
            <a:avLst/>
          </a:prstGeom>
          <a:noFill/>
          <a:ln/>
        </p:spPr>
        <p:txBody>
          <a:bodyPr wrap="square" lIns="0" tIns="0" rIns="0" bIns="0" rtlCol="0" anchor="t"/>
          <a:lstStyle/>
          <a:p>
            <a:pPr>
              <a:lnSpc>
                <a:spcPts val="5550"/>
              </a:lnSpc>
            </a:pPr>
            <a:r>
              <a:rPr lang="en-IN" sz="2400" b="1" u="sng" dirty="0">
                <a:latin typeface="Times New Roman" panose="02020603050405020304" pitchFamily="18" charset="0"/>
                <a:cs typeface="Times New Roman" panose="02020603050405020304" pitchFamily="18" charset="0"/>
              </a:rPr>
              <a:t>TOPIC: DESIGN OF CLIPPERS AND CLAMPERS CIRCUIT USING DIODE</a:t>
            </a:r>
          </a:p>
          <a:p>
            <a:pPr marL="0" indent="0" algn="l">
              <a:lnSpc>
                <a:spcPts val="5550"/>
              </a:lnSpc>
              <a:buNone/>
            </a:pPr>
            <a:endParaRPr lang="en-US" sz="4450" dirty="0" err="1">
              <a:solidFill>
                <a:srgbClr val="EDEDE8"/>
              </a:solidFill>
              <a:latin typeface="Tomorrow Semi Bold" pitchFamily="34" charset="0"/>
              <a:ea typeface="Tomorrow Semi Bold" pitchFamily="34" charset="-122"/>
              <a:cs typeface="Tomorrow Semi Bold" pitchFamily="34" charset="-120"/>
            </a:endParaRPr>
          </a:p>
        </p:txBody>
      </p:sp>
      <p:sp>
        <p:nvSpPr>
          <p:cNvPr id="4" name="Text 1"/>
          <p:cNvSpPr/>
          <p:nvPr/>
        </p:nvSpPr>
        <p:spPr>
          <a:xfrm>
            <a:off x="2417737" y="6258394"/>
            <a:ext cx="9778382" cy="1936954"/>
          </a:xfrm>
          <a:prstGeom prst="rect">
            <a:avLst/>
          </a:prstGeom>
          <a:noFill/>
          <a:ln/>
        </p:spPr>
        <p:txBody>
          <a:bodyPr wrap="square" lIns="0" tIns="0" rIns="0" bIns="0" rtlCol="0" anchor="t"/>
          <a:lstStyle/>
          <a:p>
            <a:r>
              <a:rPr lang="en-IN" sz="2400" b="1" dirty="0">
                <a:latin typeface="Times New Roman" panose="02020603050405020304" pitchFamily="18" charset="0"/>
                <a:cs typeface="Times New Roman" panose="02020603050405020304" pitchFamily="18" charset="0"/>
              </a:rPr>
              <a:t>STREAM: ELECTRONICS AND COMMUNICATION ENGINEEERING</a:t>
            </a:r>
          </a:p>
          <a:p>
            <a:r>
              <a:rPr lang="en-IN" sz="2400" b="1" dirty="0">
                <a:latin typeface="Times New Roman" panose="02020603050405020304" pitchFamily="18" charset="0"/>
                <a:cs typeface="Times New Roman" panose="02020603050405020304" pitchFamily="18" charset="0"/>
              </a:rPr>
              <a:t>SUBJECT: MINI-PROJECT ON ELECTRONIC DESIGN</a:t>
            </a:r>
          </a:p>
          <a:p>
            <a:r>
              <a:rPr lang="en-IN" sz="2400" b="1" dirty="0">
                <a:latin typeface="Times New Roman" panose="02020603050405020304" pitchFamily="18" charset="0"/>
                <a:cs typeface="Times New Roman" panose="02020603050405020304" pitchFamily="18" charset="0"/>
              </a:rPr>
              <a:t>SUBJECT CODE: EC3.2.10</a:t>
            </a:r>
          </a:p>
          <a:p>
            <a:r>
              <a:rPr lang="en-IN" sz="2400" b="1" dirty="0">
                <a:latin typeface="Times New Roman" panose="02020603050405020304" pitchFamily="18" charset="0"/>
                <a:cs typeface="Times New Roman" panose="02020603050405020304" pitchFamily="18" charset="0"/>
              </a:rPr>
              <a:t>SESSION:2025</a:t>
            </a:r>
            <a:br>
              <a:rPr lang="en-IN" sz="2400" dirty="0"/>
            </a:br>
            <a:endParaRPr lang="en-IN" sz="2400" dirty="0"/>
          </a:p>
          <a:p>
            <a:pPr marL="0" indent="0">
              <a:lnSpc>
                <a:spcPts val="2850"/>
              </a:lnSpc>
              <a:buNone/>
            </a:pPr>
            <a:endParaRPr lang="en-US" sz="1750" dirty="0"/>
          </a:p>
        </p:txBody>
      </p:sp>
      <p:sp>
        <p:nvSpPr>
          <p:cNvPr id="6" name="Rectangle 5">
            <a:extLst>
              <a:ext uri="{FF2B5EF4-FFF2-40B4-BE49-F238E27FC236}">
                <a16:creationId xmlns:a16="http://schemas.microsoft.com/office/drawing/2014/main" id="{C74BFDE0-42C8-441B-8349-1F9E0EE0E160}"/>
              </a:ext>
            </a:extLst>
          </p:cNvPr>
          <p:cNvSpPr/>
          <p:nvPr/>
        </p:nvSpPr>
        <p:spPr>
          <a:xfrm>
            <a:off x="3816427" y="223285"/>
            <a:ext cx="7373755" cy="368755"/>
          </a:xfrm>
          <a:prstGeom prst="rect">
            <a:avLst/>
          </a:prstGeom>
        </p:spPr>
        <p:txBody>
          <a:bodyPr wrap="square">
            <a:spAutoFit/>
          </a:bodyPr>
          <a:lstStyle/>
          <a:p>
            <a:pPr>
              <a:lnSpc>
                <a:spcPct val="107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UNIVERSITY COLLEGE OF SCIENCE AND TECHNOLOGY</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8EABCC12-A0FA-49F8-8481-3EBA220EFB09}"/>
              </a:ext>
            </a:extLst>
          </p:cNvPr>
          <p:cNvSpPr/>
          <p:nvPr/>
        </p:nvSpPr>
        <p:spPr>
          <a:xfrm>
            <a:off x="3784421" y="569027"/>
            <a:ext cx="6633932" cy="399405"/>
          </a:xfrm>
          <a:prstGeom prst="rect">
            <a:avLst/>
          </a:prstGeom>
        </p:spPr>
        <p:txBody>
          <a:bodyPr wrap="none">
            <a:spAutoFit/>
          </a:bodyPr>
          <a:lstStyle/>
          <a:p>
            <a:pPr algn="ctr">
              <a:lnSpc>
                <a:spcPct val="107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INSTITUTE OF RADIO PHYSICS AND ELECTRONICS</a:t>
            </a:r>
            <a:endParaRPr lang="en-IN" sz="20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Rectangle 7">
            <a:extLst>
              <a:ext uri="{FF2B5EF4-FFF2-40B4-BE49-F238E27FC236}">
                <a16:creationId xmlns:a16="http://schemas.microsoft.com/office/drawing/2014/main" id="{B69A119D-841D-48E5-949A-E3F3CCC65A27}"/>
              </a:ext>
            </a:extLst>
          </p:cNvPr>
          <p:cNvSpPr/>
          <p:nvPr/>
        </p:nvSpPr>
        <p:spPr>
          <a:xfrm>
            <a:off x="3816427" y="1799214"/>
            <a:ext cx="6012180" cy="460895"/>
          </a:xfrm>
          <a:prstGeom prst="rect">
            <a:avLst/>
          </a:prstGeom>
        </p:spPr>
        <p:txBody>
          <a:bodyPr wrap="square">
            <a:spAutoFit/>
          </a:bodyPr>
          <a:lstStyle/>
          <a:p>
            <a:pPr>
              <a:lnSpc>
                <a:spcPct val="107000"/>
              </a:lnSpc>
              <a:spcAft>
                <a:spcPts val="800"/>
              </a:spcAft>
            </a:pPr>
            <a:r>
              <a:rPr lang="en-IN" sz="2400" b="1" dirty="0">
                <a:latin typeface="Times New Roman" panose="02020603050405020304" pitchFamily="18" charset="0"/>
                <a:ea typeface="Calibri" panose="020F0502020204030204" pitchFamily="34" charset="0"/>
                <a:cs typeface="Times New Roman" panose="02020603050405020304" pitchFamily="18" charset="0"/>
              </a:rPr>
              <a:t>REPORT ON MINI-PROJECT</a:t>
            </a:r>
            <a:endParaRPr lang="en-IN" sz="24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id="{E73FEE83-694A-49FB-BC81-1795B60777F0}"/>
              </a:ext>
            </a:extLst>
          </p:cNvPr>
          <p:cNvSpPr txBox="1"/>
          <p:nvPr/>
        </p:nvSpPr>
        <p:spPr>
          <a:xfrm>
            <a:off x="35905" y="40408"/>
            <a:ext cx="3816427" cy="2875621"/>
          </a:xfrm>
          <a:prstGeom prst="rect">
            <a:avLst/>
          </a:prstGeom>
          <a:noFill/>
          <a:ln>
            <a:solidFill>
              <a:schemeClr val="tx1"/>
            </a:solidFill>
          </a:ln>
        </p:spPr>
        <p:txBody>
          <a:bodyPr wrap="square" rtlCol="0">
            <a:spAutoFit/>
          </a:bodyPr>
          <a:lstStyle/>
          <a:p>
            <a:endParaRPr lang="en-IN" dirty="0"/>
          </a:p>
        </p:txBody>
      </p:sp>
      <p:pic>
        <p:nvPicPr>
          <p:cNvPr id="17" name="Picture 16">
            <a:extLst>
              <a:ext uri="{FF2B5EF4-FFF2-40B4-BE49-F238E27FC236}">
                <a16:creationId xmlns:a16="http://schemas.microsoft.com/office/drawing/2014/main" id="{BC0182B9-5B63-4C38-BA9C-C1F415A98E65}"/>
              </a:ext>
            </a:extLst>
          </p:cNvPr>
          <p:cNvPicPr>
            <a:picLocks noChangeAspect="1"/>
          </p:cNvPicPr>
          <p:nvPr/>
        </p:nvPicPr>
        <p:blipFill>
          <a:blip r:embed="rId3"/>
          <a:stretch>
            <a:fillRect/>
          </a:stretch>
        </p:blipFill>
        <p:spPr>
          <a:xfrm>
            <a:off x="245793" y="189330"/>
            <a:ext cx="3396653" cy="2262753"/>
          </a:xfrm>
          <a:prstGeom prst="rect">
            <a:avLst/>
          </a:prstGeom>
        </p:spPr>
      </p:pic>
      <p:sp>
        <p:nvSpPr>
          <p:cNvPr id="18" name="Text Box 33">
            <a:extLst>
              <a:ext uri="{FF2B5EF4-FFF2-40B4-BE49-F238E27FC236}">
                <a16:creationId xmlns:a16="http://schemas.microsoft.com/office/drawing/2014/main" id="{283D5730-B9CF-4DF2-922C-67682EF03518}"/>
              </a:ext>
            </a:extLst>
          </p:cNvPr>
          <p:cNvSpPr txBox="1"/>
          <p:nvPr/>
        </p:nvSpPr>
        <p:spPr>
          <a:xfrm>
            <a:off x="5447952" y="3708756"/>
            <a:ext cx="3306870" cy="1464493"/>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IN" b="1" dirty="0">
                <a:effectLst/>
                <a:latin typeface="Calibri" panose="020F0502020204030204" pitchFamily="34" charset="0"/>
                <a:ea typeface="Calibri" panose="020F0502020204030204" pitchFamily="34" charset="0"/>
                <a:cs typeface="Times New Roman" panose="02020603050405020304" pitchFamily="18" charset="0"/>
              </a:rPr>
              <a:t>SWAPNIL SAHA</a:t>
            </a:r>
            <a:br>
              <a:rPr lang="en-IN" dirty="0">
                <a:effectLst/>
                <a:latin typeface="Calibri" panose="020F0502020204030204" pitchFamily="34" charset="0"/>
                <a:ea typeface="Calibri" panose="020F0502020204030204" pitchFamily="34" charset="0"/>
                <a:cs typeface="Times New Roman" panose="02020603050405020304" pitchFamily="18" charset="0"/>
              </a:rPr>
            </a:br>
            <a:r>
              <a:rPr lang="en-IN" dirty="0">
                <a:effectLst/>
                <a:latin typeface="Calibri" panose="020F0502020204030204" pitchFamily="34" charset="0"/>
                <a:ea typeface="Calibri" panose="020F0502020204030204" pitchFamily="34" charset="0"/>
                <a:cs typeface="Times New Roman" panose="02020603050405020304" pitchFamily="18" charset="0"/>
              </a:rPr>
              <a:t>CU Reg No:012-1111-0753-20</a:t>
            </a:r>
            <a:br>
              <a:rPr lang="en-IN" dirty="0">
                <a:effectLst/>
                <a:latin typeface="Calibri" panose="020F0502020204030204" pitchFamily="34" charset="0"/>
                <a:ea typeface="Calibri" panose="020F0502020204030204" pitchFamily="34" charset="0"/>
                <a:cs typeface="Times New Roman" panose="02020603050405020304" pitchFamily="18" charset="0"/>
              </a:rPr>
            </a:br>
            <a:r>
              <a:rPr lang="en-IN" dirty="0">
                <a:effectLst/>
                <a:latin typeface="Calibri" panose="020F0502020204030204" pitchFamily="34" charset="0"/>
                <a:ea typeface="Calibri" panose="020F0502020204030204" pitchFamily="34" charset="0"/>
                <a:cs typeface="Times New Roman" panose="02020603050405020304" pitchFamily="18" charset="0"/>
              </a:rPr>
              <a:t>CU Roll No: T91/ECE/226013</a:t>
            </a:r>
            <a:br>
              <a:rPr lang="en-IN" dirty="0">
                <a:effectLst/>
                <a:latin typeface="Calibri" panose="020F0502020204030204" pitchFamily="34" charset="0"/>
                <a:ea typeface="Calibri" panose="020F0502020204030204" pitchFamily="34" charset="0"/>
                <a:cs typeface="Times New Roman" panose="02020603050405020304" pitchFamily="18" charset="0"/>
              </a:rPr>
            </a:br>
            <a:r>
              <a:rPr lang="en-IN" dirty="0">
                <a:effectLst/>
                <a:latin typeface="Calibri" panose="020F0502020204030204" pitchFamily="34" charset="0"/>
                <a:ea typeface="Calibri" panose="020F0502020204030204" pitchFamily="34" charset="0"/>
                <a:cs typeface="Times New Roman" panose="02020603050405020304" pitchFamily="18" charset="0"/>
              </a:rPr>
              <a:t>Class Roll No:313</a:t>
            </a:r>
          </a:p>
          <a:p>
            <a:pPr>
              <a:lnSpc>
                <a:spcPct val="107000"/>
              </a:lnSpc>
              <a:spcAft>
                <a:spcPts val="800"/>
              </a:spcAft>
            </a:pPr>
            <a:r>
              <a:rPr lang="en-IN" sz="1100" dirty="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19" name="Text Box 34">
            <a:extLst>
              <a:ext uri="{FF2B5EF4-FFF2-40B4-BE49-F238E27FC236}">
                <a16:creationId xmlns:a16="http://schemas.microsoft.com/office/drawing/2014/main" id="{1C1B1B20-F89E-4D86-8076-4EBEFD7B1B26}"/>
              </a:ext>
            </a:extLst>
          </p:cNvPr>
          <p:cNvSpPr txBox="1"/>
          <p:nvPr/>
        </p:nvSpPr>
        <p:spPr>
          <a:xfrm>
            <a:off x="1182597" y="3764694"/>
            <a:ext cx="2996371" cy="1278246"/>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IN" sz="1600" b="1" dirty="0">
                <a:effectLst/>
                <a:latin typeface="Calibri" panose="020F0502020204030204" pitchFamily="34" charset="0"/>
                <a:ea typeface="Calibri" panose="020F0502020204030204" pitchFamily="34" charset="0"/>
                <a:cs typeface="Times New Roman" panose="02020603050405020304" pitchFamily="18" charset="0"/>
              </a:rPr>
              <a:t>SOHELA BANERJEE</a:t>
            </a:r>
            <a:br>
              <a:rPr lang="en-IN" sz="1600" dirty="0">
                <a:effectLst/>
                <a:latin typeface="Calibri" panose="020F0502020204030204" pitchFamily="34" charset="0"/>
                <a:ea typeface="Calibri" panose="020F0502020204030204" pitchFamily="34" charset="0"/>
                <a:cs typeface="Times New Roman" panose="02020603050405020304" pitchFamily="18" charset="0"/>
              </a:rPr>
            </a:br>
            <a:r>
              <a:rPr lang="en-IN" sz="1600" dirty="0">
                <a:effectLst/>
                <a:latin typeface="Calibri" panose="020F0502020204030204" pitchFamily="34" charset="0"/>
                <a:ea typeface="Calibri" panose="020F0502020204030204" pitchFamily="34" charset="0"/>
                <a:cs typeface="Times New Roman" panose="02020603050405020304" pitchFamily="18" charset="0"/>
              </a:rPr>
              <a:t>CU Reg No:031-1211-0277-19</a:t>
            </a:r>
            <a:br>
              <a:rPr lang="en-IN" sz="1600" dirty="0">
                <a:effectLst/>
                <a:latin typeface="Calibri" panose="020F0502020204030204" pitchFamily="34" charset="0"/>
                <a:ea typeface="Calibri" panose="020F0502020204030204" pitchFamily="34" charset="0"/>
                <a:cs typeface="Times New Roman" panose="02020603050405020304" pitchFamily="18" charset="0"/>
              </a:rPr>
            </a:br>
            <a:r>
              <a:rPr lang="en-IN" sz="1600" dirty="0">
                <a:effectLst/>
                <a:latin typeface="Calibri" panose="020F0502020204030204" pitchFamily="34" charset="0"/>
                <a:ea typeface="Calibri" panose="020F0502020204030204" pitchFamily="34" charset="0"/>
                <a:cs typeface="Times New Roman" panose="02020603050405020304" pitchFamily="18" charset="0"/>
              </a:rPr>
              <a:t>CU Roll No: T91/ECE/226011</a:t>
            </a:r>
            <a:br>
              <a:rPr lang="en-IN" sz="1600" dirty="0">
                <a:effectLst/>
                <a:latin typeface="Calibri" panose="020F0502020204030204" pitchFamily="34" charset="0"/>
                <a:ea typeface="Calibri" panose="020F0502020204030204" pitchFamily="34" charset="0"/>
                <a:cs typeface="Times New Roman" panose="02020603050405020304" pitchFamily="18" charset="0"/>
              </a:rPr>
            </a:br>
            <a:r>
              <a:rPr lang="en-IN" sz="1600" dirty="0">
                <a:effectLst/>
                <a:latin typeface="Calibri" panose="020F0502020204030204" pitchFamily="34" charset="0"/>
                <a:ea typeface="Calibri" panose="020F0502020204030204" pitchFamily="34" charset="0"/>
                <a:cs typeface="Times New Roman" panose="02020603050405020304" pitchFamily="18" charset="0"/>
              </a:rPr>
              <a:t>Class Roll No:305</a:t>
            </a:r>
          </a:p>
          <a:p>
            <a:pPr>
              <a:lnSpc>
                <a:spcPct val="107000"/>
              </a:lnSpc>
              <a:spcAft>
                <a:spcPts val="800"/>
              </a:spcAft>
            </a:pPr>
            <a:r>
              <a:rPr lang="en-IN" sz="1100" dirty="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20" name="Text Box 35">
            <a:extLst>
              <a:ext uri="{FF2B5EF4-FFF2-40B4-BE49-F238E27FC236}">
                <a16:creationId xmlns:a16="http://schemas.microsoft.com/office/drawing/2014/main" id="{8F26E4A6-BF57-48DC-838A-EA21ACCB5E40}"/>
              </a:ext>
            </a:extLst>
          </p:cNvPr>
          <p:cNvSpPr txBox="1"/>
          <p:nvPr/>
        </p:nvSpPr>
        <p:spPr>
          <a:xfrm>
            <a:off x="10356211" y="3708756"/>
            <a:ext cx="2857651" cy="1464493"/>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IN" sz="1600" b="1" dirty="0">
                <a:effectLst/>
                <a:latin typeface="Calibri" panose="020F0502020204030204" pitchFamily="34" charset="0"/>
                <a:ea typeface="Calibri" panose="020F0502020204030204" pitchFamily="34" charset="0"/>
                <a:cs typeface="Times New Roman" panose="02020603050405020304" pitchFamily="18" charset="0"/>
              </a:rPr>
              <a:t>AAYAN AHMED</a:t>
            </a:r>
            <a:br>
              <a:rPr lang="en-IN" sz="1600" dirty="0">
                <a:effectLst/>
                <a:latin typeface="Calibri" panose="020F0502020204030204" pitchFamily="34" charset="0"/>
                <a:ea typeface="Calibri" panose="020F0502020204030204" pitchFamily="34" charset="0"/>
                <a:cs typeface="Times New Roman" panose="02020603050405020304" pitchFamily="18" charset="0"/>
              </a:rPr>
            </a:br>
            <a:r>
              <a:rPr lang="en-IN" sz="1600" dirty="0">
                <a:effectLst/>
                <a:latin typeface="Calibri" panose="020F0502020204030204" pitchFamily="34" charset="0"/>
                <a:ea typeface="Calibri" panose="020F0502020204030204" pitchFamily="34" charset="0"/>
                <a:cs typeface="Times New Roman" panose="02020603050405020304" pitchFamily="18" charset="0"/>
              </a:rPr>
              <a:t>CU Reg No:D01-1115-0250-22</a:t>
            </a:r>
            <a:br>
              <a:rPr lang="en-IN" sz="1600" dirty="0">
                <a:effectLst/>
                <a:latin typeface="Calibri" panose="020F0502020204030204" pitchFamily="34" charset="0"/>
                <a:ea typeface="Calibri" panose="020F0502020204030204" pitchFamily="34" charset="0"/>
                <a:cs typeface="Times New Roman" panose="02020603050405020304" pitchFamily="18" charset="0"/>
              </a:rPr>
            </a:br>
            <a:r>
              <a:rPr lang="en-IN" sz="1600" dirty="0">
                <a:effectLst/>
                <a:latin typeface="Calibri" panose="020F0502020204030204" pitchFamily="34" charset="0"/>
                <a:ea typeface="Calibri" panose="020F0502020204030204" pitchFamily="34" charset="0"/>
                <a:cs typeface="Times New Roman" panose="02020603050405020304" pitchFamily="18" charset="0"/>
              </a:rPr>
              <a:t>CU Roll No: T91/ECE/224064</a:t>
            </a:r>
            <a:br>
              <a:rPr lang="en-IN" sz="1600" dirty="0">
                <a:effectLst/>
                <a:latin typeface="Calibri" panose="020F0502020204030204" pitchFamily="34" charset="0"/>
                <a:ea typeface="Calibri" panose="020F0502020204030204" pitchFamily="34" charset="0"/>
                <a:cs typeface="Times New Roman" panose="02020603050405020304" pitchFamily="18" charset="0"/>
              </a:rPr>
            </a:br>
            <a:r>
              <a:rPr lang="en-IN" sz="1600" dirty="0">
                <a:effectLst/>
                <a:latin typeface="Calibri" panose="020F0502020204030204" pitchFamily="34" charset="0"/>
                <a:ea typeface="Calibri" panose="020F0502020204030204" pitchFamily="34" charset="0"/>
                <a:cs typeface="Times New Roman" panose="02020603050405020304" pitchFamily="18" charset="0"/>
              </a:rPr>
              <a:t>Class Roll No:436</a:t>
            </a:r>
          </a:p>
          <a:p>
            <a:pPr>
              <a:lnSpc>
                <a:spcPct val="107000"/>
              </a:lnSpc>
              <a:spcAft>
                <a:spcPts val="800"/>
              </a:spcAft>
            </a:pPr>
            <a:r>
              <a:rPr lang="en-IN" sz="1100" dirty="0">
                <a:effectLst/>
                <a:latin typeface="Calibri" panose="020F0502020204030204" pitchFamily="34" charset="0"/>
                <a:ea typeface="Calibri" panose="020F0502020204030204" pitchFamily="34" charset="0"/>
                <a:cs typeface="Times New Roman" panose="02020603050405020304" pitchFamily="18"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969090" y="290311"/>
            <a:ext cx="6964040" cy="708779"/>
          </a:xfrm>
          <a:prstGeom prst="rect">
            <a:avLst/>
          </a:prstGeom>
          <a:noFill/>
          <a:ln/>
        </p:spPr>
        <p:txBody>
          <a:bodyPr wrap="none" lIns="0" tIns="0" rIns="0" bIns="0" rtlCol="0" anchor="t"/>
          <a:lstStyle/>
          <a:p>
            <a:pPr marL="0" indent="0" algn="l">
              <a:lnSpc>
                <a:spcPts val="5550"/>
              </a:lnSpc>
              <a:buNone/>
            </a:pPr>
            <a:r>
              <a:rPr lang="en-US" sz="4450" b="1" u="sng" dirty="0">
                <a:latin typeface="Times New Roman" panose="02020603050405020304" pitchFamily="18" charset="0"/>
                <a:ea typeface="Tomorrow Semi Bold" pitchFamily="34" charset="-122"/>
                <a:cs typeface="Times New Roman" panose="02020603050405020304" pitchFamily="18" charset="0"/>
              </a:rPr>
              <a:t>Project Overview &amp; Contents</a:t>
            </a:r>
            <a:endParaRPr lang="en-US" sz="4450" b="1" u="sng" dirty="0">
              <a:latin typeface="Times New Roman" panose="02020603050405020304" pitchFamily="18" charset="0"/>
              <a:cs typeface="Times New Roman" panose="02020603050405020304" pitchFamily="18" charset="0"/>
            </a:endParaRPr>
          </a:p>
        </p:txBody>
      </p:sp>
      <p:sp>
        <p:nvSpPr>
          <p:cNvPr id="3" name="Text 1"/>
          <p:cNvSpPr/>
          <p:nvPr/>
        </p:nvSpPr>
        <p:spPr>
          <a:xfrm>
            <a:off x="473570" y="1201949"/>
            <a:ext cx="13410726" cy="3091369"/>
          </a:xfrm>
          <a:prstGeom prst="rect">
            <a:avLst/>
          </a:prstGeom>
          <a:noFill/>
          <a:ln/>
        </p:spPr>
        <p:txBody>
          <a:bodyPr wrap="square" lIns="0" tIns="0" rIns="0" bIns="0" rtlCol="0" anchor="t"/>
          <a:lstStyle/>
          <a:p>
            <a:r>
              <a:rPr lang="en-IN" sz="2400" dirty="0"/>
              <a:t>This project focuses on the design, simulation, and practical implementation of various </a:t>
            </a:r>
            <a:r>
              <a:rPr lang="en-IN" sz="2400" b="1" dirty="0"/>
              <a:t>clipper and clamper circuits</a:t>
            </a:r>
            <a:r>
              <a:rPr lang="en-IN" sz="2400" dirty="0"/>
              <a:t> using diodes, aimed at understanding their behaviour in signal conditioning applications.</a:t>
            </a:r>
          </a:p>
          <a:p>
            <a:endParaRPr lang="en-IN" sz="2400" dirty="0"/>
          </a:p>
          <a:p>
            <a:r>
              <a:rPr lang="en-IN" sz="2400" dirty="0"/>
              <a:t>A </a:t>
            </a:r>
            <a:r>
              <a:rPr lang="en-IN" sz="2400" b="1" dirty="0"/>
              <a:t>combination of clipper and clamper circuits</a:t>
            </a:r>
            <a:r>
              <a:rPr lang="en-IN" sz="2400" dirty="0"/>
              <a:t> is also explored to demonstrate waveform shaping. This circuit is simulated using circuit design tools and then implemented on a custom-designed </a:t>
            </a:r>
            <a:r>
              <a:rPr lang="en-IN" sz="2400" b="1" dirty="0"/>
              <a:t>Printed Circuit Board (PCB)</a:t>
            </a:r>
            <a:r>
              <a:rPr lang="en-IN" sz="2400" dirty="0"/>
              <a:t> to demonstrate real-time behaviour. The project highlights the practical use of diodes, resistors, capacitors, and voltage sources in shaping and conditioning </a:t>
            </a:r>
            <a:r>
              <a:rPr lang="en-IN" sz="2400" dirty="0" err="1"/>
              <a:t>analog</a:t>
            </a:r>
            <a:r>
              <a:rPr lang="en-IN" sz="2400" dirty="0"/>
              <a:t> signals, which are essential in communication and electronic systems.</a:t>
            </a:r>
          </a:p>
        </p:txBody>
      </p:sp>
      <p:sp>
        <p:nvSpPr>
          <p:cNvPr id="22" name="Arrow: Chevron 21">
            <a:extLst>
              <a:ext uri="{FF2B5EF4-FFF2-40B4-BE49-F238E27FC236}">
                <a16:creationId xmlns:a16="http://schemas.microsoft.com/office/drawing/2014/main" id="{FE85F3FB-47D0-46B4-BE7B-528ECF78E6C2}"/>
              </a:ext>
            </a:extLst>
          </p:cNvPr>
          <p:cNvSpPr/>
          <p:nvPr/>
        </p:nvSpPr>
        <p:spPr>
          <a:xfrm>
            <a:off x="473570" y="5930556"/>
            <a:ext cx="2937842" cy="1375324"/>
          </a:xfrm>
          <a:prstGeom prst="chevron">
            <a:avLst>
              <a:gd name="adj" fmla="val 40000"/>
            </a:avLst>
          </a:prstGeom>
          <a:solidFill>
            <a:srgbClr val="FFC00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IN" dirty="0">
              <a:solidFill>
                <a:schemeClr val="accent1">
                  <a:lumMod val="40000"/>
                  <a:lumOff val="60000"/>
                </a:schemeClr>
              </a:solidFill>
            </a:endParaRPr>
          </a:p>
        </p:txBody>
      </p:sp>
      <p:sp>
        <p:nvSpPr>
          <p:cNvPr id="23" name="Freeform: Shape 22">
            <a:extLst>
              <a:ext uri="{FF2B5EF4-FFF2-40B4-BE49-F238E27FC236}">
                <a16:creationId xmlns:a16="http://schemas.microsoft.com/office/drawing/2014/main" id="{11C4B657-5D47-47EF-8D0B-CA2D9303406E}"/>
              </a:ext>
            </a:extLst>
          </p:cNvPr>
          <p:cNvSpPr/>
          <p:nvPr/>
        </p:nvSpPr>
        <p:spPr>
          <a:xfrm>
            <a:off x="1201302" y="6193905"/>
            <a:ext cx="2480845" cy="1375324"/>
          </a:xfrm>
          <a:custGeom>
            <a:avLst/>
            <a:gdLst>
              <a:gd name="connsiteX0" fmla="*/ 0 w 2304490"/>
              <a:gd name="connsiteY0" fmla="*/ 105339 h 1053394"/>
              <a:gd name="connsiteX1" fmla="*/ 105339 w 2304490"/>
              <a:gd name="connsiteY1" fmla="*/ 0 h 1053394"/>
              <a:gd name="connsiteX2" fmla="*/ 2199151 w 2304490"/>
              <a:gd name="connsiteY2" fmla="*/ 0 h 1053394"/>
              <a:gd name="connsiteX3" fmla="*/ 2304490 w 2304490"/>
              <a:gd name="connsiteY3" fmla="*/ 105339 h 1053394"/>
              <a:gd name="connsiteX4" fmla="*/ 2304490 w 2304490"/>
              <a:gd name="connsiteY4" fmla="*/ 948055 h 1053394"/>
              <a:gd name="connsiteX5" fmla="*/ 2199151 w 2304490"/>
              <a:gd name="connsiteY5" fmla="*/ 1053394 h 1053394"/>
              <a:gd name="connsiteX6" fmla="*/ 105339 w 2304490"/>
              <a:gd name="connsiteY6" fmla="*/ 1053394 h 1053394"/>
              <a:gd name="connsiteX7" fmla="*/ 0 w 2304490"/>
              <a:gd name="connsiteY7" fmla="*/ 948055 h 1053394"/>
              <a:gd name="connsiteX8" fmla="*/ 0 w 2304490"/>
              <a:gd name="connsiteY8" fmla="*/ 105339 h 1053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4490" h="1053394">
                <a:moveTo>
                  <a:pt x="0" y="105339"/>
                </a:moveTo>
                <a:cubicBezTo>
                  <a:pt x="0" y="47162"/>
                  <a:pt x="47162" y="0"/>
                  <a:pt x="105339" y="0"/>
                </a:cubicBezTo>
                <a:lnTo>
                  <a:pt x="2199151" y="0"/>
                </a:lnTo>
                <a:cubicBezTo>
                  <a:pt x="2257328" y="0"/>
                  <a:pt x="2304490" y="47162"/>
                  <a:pt x="2304490" y="105339"/>
                </a:cubicBezTo>
                <a:lnTo>
                  <a:pt x="2304490" y="948055"/>
                </a:lnTo>
                <a:cubicBezTo>
                  <a:pt x="2304490" y="1006232"/>
                  <a:pt x="2257328" y="1053394"/>
                  <a:pt x="2199151" y="1053394"/>
                </a:cubicBezTo>
                <a:lnTo>
                  <a:pt x="105339" y="1053394"/>
                </a:lnTo>
                <a:cubicBezTo>
                  <a:pt x="47162" y="1053394"/>
                  <a:pt x="0" y="1006232"/>
                  <a:pt x="0" y="948055"/>
                </a:cubicBezTo>
                <a:lnTo>
                  <a:pt x="0" y="105339"/>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30421" tIns="130421" rIns="130421" bIns="130421" numCol="1" spcCol="1270" anchor="ctr" anchorCtr="0">
            <a:noAutofit/>
          </a:bodyPr>
          <a:lstStyle/>
          <a:p>
            <a:pPr marL="0" lvl="0" indent="0" algn="l" defTabSz="622300">
              <a:lnSpc>
                <a:spcPct val="90000"/>
              </a:lnSpc>
              <a:spcBef>
                <a:spcPct val="0"/>
              </a:spcBef>
              <a:spcAft>
                <a:spcPct val="35000"/>
              </a:spcAft>
              <a:buNone/>
            </a:pPr>
            <a:r>
              <a:rPr lang="en-US" b="1" kern="1200" dirty="0"/>
              <a:t>Introduction To Clipper And Clamper Circuits With Different Circuit Designs</a:t>
            </a:r>
            <a:endParaRPr lang="en-IN" b="1" kern="1200" dirty="0"/>
          </a:p>
        </p:txBody>
      </p:sp>
      <p:sp>
        <p:nvSpPr>
          <p:cNvPr id="24" name="Arrow: Chevron 23">
            <a:extLst>
              <a:ext uri="{FF2B5EF4-FFF2-40B4-BE49-F238E27FC236}">
                <a16:creationId xmlns:a16="http://schemas.microsoft.com/office/drawing/2014/main" id="{C89D63E1-D6D9-4CA7-8E1C-66279CD34D3A}"/>
              </a:ext>
            </a:extLst>
          </p:cNvPr>
          <p:cNvSpPr/>
          <p:nvPr/>
        </p:nvSpPr>
        <p:spPr>
          <a:xfrm>
            <a:off x="3969090" y="5930556"/>
            <a:ext cx="2937842" cy="1375324"/>
          </a:xfrm>
          <a:prstGeom prst="chevron">
            <a:avLst>
              <a:gd name="adj" fmla="val 40000"/>
            </a:avLst>
          </a:prstGeom>
          <a:solidFill>
            <a:srgbClr val="FFC00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5" name="Freeform: Shape 24">
            <a:extLst>
              <a:ext uri="{FF2B5EF4-FFF2-40B4-BE49-F238E27FC236}">
                <a16:creationId xmlns:a16="http://schemas.microsoft.com/office/drawing/2014/main" id="{CE185D6C-03E7-4B2F-BA5D-0FDB8995AD16}"/>
              </a:ext>
            </a:extLst>
          </p:cNvPr>
          <p:cNvSpPr/>
          <p:nvPr/>
        </p:nvSpPr>
        <p:spPr>
          <a:xfrm>
            <a:off x="4696823" y="6193905"/>
            <a:ext cx="2480845" cy="1375324"/>
          </a:xfrm>
          <a:custGeom>
            <a:avLst/>
            <a:gdLst>
              <a:gd name="connsiteX0" fmla="*/ 0 w 2304490"/>
              <a:gd name="connsiteY0" fmla="*/ 105339 h 1053394"/>
              <a:gd name="connsiteX1" fmla="*/ 105339 w 2304490"/>
              <a:gd name="connsiteY1" fmla="*/ 0 h 1053394"/>
              <a:gd name="connsiteX2" fmla="*/ 2199151 w 2304490"/>
              <a:gd name="connsiteY2" fmla="*/ 0 h 1053394"/>
              <a:gd name="connsiteX3" fmla="*/ 2304490 w 2304490"/>
              <a:gd name="connsiteY3" fmla="*/ 105339 h 1053394"/>
              <a:gd name="connsiteX4" fmla="*/ 2304490 w 2304490"/>
              <a:gd name="connsiteY4" fmla="*/ 948055 h 1053394"/>
              <a:gd name="connsiteX5" fmla="*/ 2199151 w 2304490"/>
              <a:gd name="connsiteY5" fmla="*/ 1053394 h 1053394"/>
              <a:gd name="connsiteX6" fmla="*/ 105339 w 2304490"/>
              <a:gd name="connsiteY6" fmla="*/ 1053394 h 1053394"/>
              <a:gd name="connsiteX7" fmla="*/ 0 w 2304490"/>
              <a:gd name="connsiteY7" fmla="*/ 948055 h 1053394"/>
              <a:gd name="connsiteX8" fmla="*/ 0 w 2304490"/>
              <a:gd name="connsiteY8" fmla="*/ 105339 h 1053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4490" h="1053394">
                <a:moveTo>
                  <a:pt x="0" y="105339"/>
                </a:moveTo>
                <a:cubicBezTo>
                  <a:pt x="0" y="47162"/>
                  <a:pt x="47162" y="0"/>
                  <a:pt x="105339" y="0"/>
                </a:cubicBezTo>
                <a:lnTo>
                  <a:pt x="2199151" y="0"/>
                </a:lnTo>
                <a:cubicBezTo>
                  <a:pt x="2257328" y="0"/>
                  <a:pt x="2304490" y="47162"/>
                  <a:pt x="2304490" y="105339"/>
                </a:cubicBezTo>
                <a:lnTo>
                  <a:pt x="2304490" y="948055"/>
                </a:lnTo>
                <a:cubicBezTo>
                  <a:pt x="2304490" y="1006232"/>
                  <a:pt x="2257328" y="1053394"/>
                  <a:pt x="2199151" y="1053394"/>
                </a:cubicBezTo>
                <a:lnTo>
                  <a:pt x="105339" y="1053394"/>
                </a:lnTo>
                <a:cubicBezTo>
                  <a:pt x="47162" y="1053394"/>
                  <a:pt x="0" y="1006232"/>
                  <a:pt x="0" y="948055"/>
                </a:cubicBezTo>
                <a:lnTo>
                  <a:pt x="0" y="105339"/>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30421" tIns="130421" rIns="130421" bIns="130421" numCol="1" spcCol="1270" anchor="ctr" anchorCtr="0">
            <a:noAutofit/>
          </a:bodyPr>
          <a:lstStyle/>
          <a:p>
            <a:pPr marL="0" lvl="0" indent="0" algn="l" defTabSz="622300">
              <a:lnSpc>
                <a:spcPct val="90000"/>
              </a:lnSpc>
              <a:spcBef>
                <a:spcPct val="0"/>
              </a:spcBef>
              <a:spcAft>
                <a:spcPct val="35000"/>
              </a:spcAft>
              <a:buNone/>
            </a:pPr>
            <a:r>
              <a:rPr lang="en-IN" sz="1600" b="1" u="none" kern="1200" dirty="0"/>
              <a:t>Design and analysis of clipper-clamper circuits for signal conditioning of sinusoidal signals</a:t>
            </a:r>
          </a:p>
        </p:txBody>
      </p:sp>
      <p:sp>
        <p:nvSpPr>
          <p:cNvPr id="26" name="Arrow: Chevron 25">
            <a:extLst>
              <a:ext uri="{FF2B5EF4-FFF2-40B4-BE49-F238E27FC236}">
                <a16:creationId xmlns:a16="http://schemas.microsoft.com/office/drawing/2014/main" id="{3C7C315A-A6AB-42D1-B949-D8F84D62686F}"/>
              </a:ext>
            </a:extLst>
          </p:cNvPr>
          <p:cNvSpPr/>
          <p:nvPr/>
        </p:nvSpPr>
        <p:spPr>
          <a:xfrm>
            <a:off x="7470032" y="5930556"/>
            <a:ext cx="2937842" cy="1375324"/>
          </a:xfrm>
          <a:prstGeom prst="chevron">
            <a:avLst>
              <a:gd name="adj" fmla="val 40000"/>
            </a:avLst>
          </a:prstGeom>
          <a:solidFill>
            <a:srgbClr val="FFC00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7" name="Freeform: Shape 26">
            <a:extLst>
              <a:ext uri="{FF2B5EF4-FFF2-40B4-BE49-F238E27FC236}">
                <a16:creationId xmlns:a16="http://schemas.microsoft.com/office/drawing/2014/main" id="{F2F5C576-CED4-4CF7-9651-9AED87C98EA2}"/>
              </a:ext>
            </a:extLst>
          </p:cNvPr>
          <p:cNvSpPr/>
          <p:nvPr/>
        </p:nvSpPr>
        <p:spPr>
          <a:xfrm>
            <a:off x="8197764" y="6193905"/>
            <a:ext cx="2480845" cy="1375324"/>
          </a:xfrm>
          <a:custGeom>
            <a:avLst/>
            <a:gdLst>
              <a:gd name="connsiteX0" fmla="*/ 0 w 2304490"/>
              <a:gd name="connsiteY0" fmla="*/ 105339 h 1053394"/>
              <a:gd name="connsiteX1" fmla="*/ 105339 w 2304490"/>
              <a:gd name="connsiteY1" fmla="*/ 0 h 1053394"/>
              <a:gd name="connsiteX2" fmla="*/ 2199151 w 2304490"/>
              <a:gd name="connsiteY2" fmla="*/ 0 h 1053394"/>
              <a:gd name="connsiteX3" fmla="*/ 2304490 w 2304490"/>
              <a:gd name="connsiteY3" fmla="*/ 105339 h 1053394"/>
              <a:gd name="connsiteX4" fmla="*/ 2304490 w 2304490"/>
              <a:gd name="connsiteY4" fmla="*/ 948055 h 1053394"/>
              <a:gd name="connsiteX5" fmla="*/ 2199151 w 2304490"/>
              <a:gd name="connsiteY5" fmla="*/ 1053394 h 1053394"/>
              <a:gd name="connsiteX6" fmla="*/ 105339 w 2304490"/>
              <a:gd name="connsiteY6" fmla="*/ 1053394 h 1053394"/>
              <a:gd name="connsiteX7" fmla="*/ 0 w 2304490"/>
              <a:gd name="connsiteY7" fmla="*/ 948055 h 1053394"/>
              <a:gd name="connsiteX8" fmla="*/ 0 w 2304490"/>
              <a:gd name="connsiteY8" fmla="*/ 105339 h 1053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4490" h="1053394">
                <a:moveTo>
                  <a:pt x="0" y="105339"/>
                </a:moveTo>
                <a:cubicBezTo>
                  <a:pt x="0" y="47162"/>
                  <a:pt x="47162" y="0"/>
                  <a:pt x="105339" y="0"/>
                </a:cubicBezTo>
                <a:lnTo>
                  <a:pt x="2199151" y="0"/>
                </a:lnTo>
                <a:cubicBezTo>
                  <a:pt x="2257328" y="0"/>
                  <a:pt x="2304490" y="47162"/>
                  <a:pt x="2304490" y="105339"/>
                </a:cubicBezTo>
                <a:lnTo>
                  <a:pt x="2304490" y="948055"/>
                </a:lnTo>
                <a:cubicBezTo>
                  <a:pt x="2304490" y="1006232"/>
                  <a:pt x="2257328" y="1053394"/>
                  <a:pt x="2199151" y="1053394"/>
                </a:cubicBezTo>
                <a:lnTo>
                  <a:pt x="105339" y="1053394"/>
                </a:lnTo>
                <a:cubicBezTo>
                  <a:pt x="47162" y="1053394"/>
                  <a:pt x="0" y="1006232"/>
                  <a:pt x="0" y="948055"/>
                </a:cubicBezTo>
                <a:lnTo>
                  <a:pt x="0" y="105339"/>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30421" tIns="130421" rIns="130421" bIns="130421" numCol="1" spcCol="1270" anchor="ctr" anchorCtr="0">
            <a:noAutofit/>
          </a:bodyPr>
          <a:lstStyle/>
          <a:p>
            <a:pPr marL="0" lvl="0" indent="0" algn="l" defTabSz="622300">
              <a:lnSpc>
                <a:spcPct val="90000"/>
              </a:lnSpc>
              <a:spcBef>
                <a:spcPct val="0"/>
              </a:spcBef>
              <a:spcAft>
                <a:spcPct val="35000"/>
              </a:spcAft>
              <a:buNone/>
            </a:pPr>
            <a:r>
              <a:rPr lang="en-IN" sz="1600" b="1" u="none" kern="1200" dirty="0"/>
              <a:t>Printed circuit board (PCB) design</a:t>
            </a:r>
          </a:p>
        </p:txBody>
      </p:sp>
      <p:sp>
        <p:nvSpPr>
          <p:cNvPr id="28" name="Arrow: Chevron 27">
            <a:extLst>
              <a:ext uri="{FF2B5EF4-FFF2-40B4-BE49-F238E27FC236}">
                <a16:creationId xmlns:a16="http://schemas.microsoft.com/office/drawing/2014/main" id="{0A4DA93E-4AC4-4BFB-A403-0A81A4B604C3}"/>
              </a:ext>
            </a:extLst>
          </p:cNvPr>
          <p:cNvSpPr/>
          <p:nvPr/>
        </p:nvSpPr>
        <p:spPr>
          <a:xfrm>
            <a:off x="10989873" y="5930556"/>
            <a:ext cx="2937842" cy="1375324"/>
          </a:xfrm>
          <a:prstGeom prst="chevron">
            <a:avLst>
              <a:gd name="adj" fmla="val 40000"/>
            </a:avLst>
          </a:prstGeom>
          <a:solidFill>
            <a:srgbClr val="FFC00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9" name="Freeform: Shape 28">
            <a:extLst>
              <a:ext uri="{FF2B5EF4-FFF2-40B4-BE49-F238E27FC236}">
                <a16:creationId xmlns:a16="http://schemas.microsoft.com/office/drawing/2014/main" id="{A5877444-7A89-4AB2-9DEE-C5BED5897368}"/>
              </a:ext>
            </a:extLst>
          </p:cNvPr>
          <p:cNvSpPr/>
          <p:nvPr/>
        </p:nvSpPr>
        <p:spPr>
          <a:xfrm>
            <a:off x="11717606" y="6193905"/>
            <a:ext cx="2480845" cy="1375324"/>
          </a:xfrm>
          <a:custGeom>
            <a:avLst/>
            <a:gdLst>
              <a:gd name="connsiteX0" fmla="*/ 0 w 2304490"/>
              <a:gd name="connsiteY0" fmla="*/ 105339 h 1053394"/>
              <a:gd name="connsiteX1" fmla="*/ 105339 w 2304490"/>
              <a:gd name="connsiteY1" fmla="*/ 0 h 1053394"/>
              <a:gd name="connsiteX2" fmla="*/ 2199151 w 2304490"/>
              <a:gd name="connsiteY2" fmla="*/ 0 h 1053394"/>
              <a:gd name="connsiteX3" fmla="*/ 2304490 w 2304490"/>
              <a:gd name="connsiteY3" fmla="*/ 105339 h 1053394"/>
              <a:gd name="connsiteX4" fmla="*/ 2304490 w 2304490"/>
              <a:gd name="connsiteY4" fmla="*/ 948055 h 1053394"/>
              <a:gd name="connsiteX5" fmla="*/ 2199151 w 2304490"/>
              <a:gd name="connsiteY5" fmla="*/ 1053394 h 1053394"/>
              <a:gd name="connsiteX6" fmla="*/ 105339 w 2304490"/>
              <a:gd name="connsiteY6" fmla="*/ 1053394 h 1053394"/>
              <a:gd name="connsiteX7" fmla="*/ 0 w 2304490"/>
              <a:gd name="connsiteY7" fmla="*/ 948055 h 1053394"/>
              <a:gd name="connsiteX8" fmla="*/ 0 w 2304490"/>
              <a:gd name="connsiteY8" fmla="*/ 105339 h 1053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4490" h="1053394">
                <a:moveTo>
                  <a:pt x="0" y="105339"/>
                </a:moveTo>
                <a:cubicBezTo>
                  <a:pt x="0" y="47162"/>
                  <a:pt x="47162" y="0"/>
                  <a:pt x="105339" y="0"/>
                </a:cubicBezTo>
                <a:lnTo>
                  <a:pt x="2199151" y="0"/>
                </a:lnTo>
                <a:cubicBezTo>
                  <a:pt x="2257328" y="0"/>
                  <a:pt x="2304490" y="47162"/>
                  <a:pt x="2304490" y="105339"/>
                </a:cubicBezTo>
                <a:lnTo>
                  <a:pt x="2304490" y="948055"/>
                </a:lnTo>
                <a:cubicBezTo>
                  <a:pt x="2304490" y="1006232"/>
                  <a:pt x="2257328" y="1053394"/>
                  <a:pt x="2199151" y="1053394"/>
                </a:cubicBezTo>
                <a:lnTo>
                  <a:pt x="105339" y="1053394"/>
                </a:lnTo>
                <a:cubicBezTo>
                  <a:pt x="47162" y="1053394"/>
                  <a:pt x="0" y="1006232"/>
                  <a:pt x="0" y="948055"/>
                </a:cubicBezTo>
                <a:lnTo>
                  <a:pt x="0" y="105339"/>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30421" tIns="130421" rIns="130421" bIns="130421" numCol="1" spcCol="1270" anchor="ctr" anchorCtr="0">
            <a:noAutofit/>
          </a:bodyPr>
          <a:lstStyle/>
          <a:p>
            <a:pPr marL="0" lvl="0" indent="0" algn="l" defTabSz="622300">
              <a:lnSpc>
                <a:spcPct val="90000"/>
              </a:lnSpc>
              <a:spcBef>
                <a:spcPct val="0"/>
              </a:spcBef>
              <a:spcAft>
                <a:spcPct val="35000"/>
              </a:spcAft>
              <a:buNone/>
            </a:pPr>
            <a:r>
              <a:rPr lang="en-IN" sz="1600" b="1" u="none" kern="1200" dirty="0"/>
              <a:t>Result And Discussion</a:t>
            </a:r>
          </a:p>
        </p:txBody>
      </p:sp>
      <p:sp>
        <p:nvSpPr>
          <p:cNvPr id="4" name="TextBox 3">
            <a:extLst>
              <a:ext uri="{FF2B5EF4-FFF2-40B4-BE49-F238E27FC236}">
                <a16:creationId xmlns:a16="http://schemas.microsoft.com/office/drawing/2014/main" id="{E0E84A46-1564-43BA-AD7C-6BF455069739}"/>
              </a:ext>
            </a:extLst>
          </p:cNvPr>
          <p:cNvSpPr txBox="1"/>
          <p:nvPr/>
        </p:nvSpPr>
        <p:spPr>
          <a:xfrm>
            <a:off x="473570" y="5065222"/>
            <a:ext cx="2673468" cy="584775"/>
          </a:xfrm>
          <a:prstGeom prst="rect">
            <a:avLst/>
          </a:prstGeom>
          <a:noFill/>
        </p:spPr>
        <p:txBody>
          <a:bodyPr wrap="square" rtlCol="0">
            <a:spAutoFit/>
          </a:bodyPr>
          <a:lstStyle/>
          <a:p>
            <a:r>
              <a:rPr lang="en-US" sz="3200" b="1" dirty="0"/>
              <a:t>Contents:</a:t>
            </a:r>
            <a:endParaRPr lang="en-IN" sz="3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5" grpId="0" animBg="1"/>
      <p:bldP spid="27" grpId="0" animBg="1"/>
      <p:bldP spid="29" grpId="0" animBg="1"/>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20584" y="60040"/>
            <a:ext cx="9127808" cy="708779"/>
          </a:xfrm>
          <a:prstGeom prst="rect">
            <a:avLst/>
          </a:prstGeom>
          <a:noFill/>
          <a:ln/>
        </p:spPr>
        <p:txBody>
          <a:bodyPr wrap="none" lIns="0" tIns="0" rIns="0" bIns="0" rtlCol="0" anchor="t"/>
          <a:lstStyle/>
          <a:p>
            <a:pPr marL="0" indent="0" algn="l">
              <a:lnSpc>
                <a:spcPts val="5550"/>
              </a:lnSpc>
              <a:buNone/>
            </a:pPr>
            <a:r>
              <a:rPr lang="en-US" sz="4450" b="1" dirty="0">
                <a:latin typeface="Times New Roman" panose="02020603050405020304" pitchFamily="18" charset="0"/>
                <a:ea typeface="Tomorrow Semi Bold" pitchFamily="34" charset="-122"/>
                <a:cs typeface="Times New Roman" panose="02020603050405020304" pitchFamily="18" charset="0"/>
              </a:rPr>
              <a:t>Clipper Circuits: Theory &amp; Types</a:t>
            </a:r>
            <a:endParaRPr lang="en-US" sz="4450" b="1" dirty="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A0CC91B7-F29E-4E33-9699-3D9C9A3EFE23}"/>
              </a:ext>
            </a:extLst>
          </p:cNvPr>
          <p:cNvSpPr/>
          <p:nvPr/>
        </p:nvSpPr>
        <p:spPr>
          <a:xfrm>
            <a:off x="220584" y="893356"/>
            <a:ext cx="14072840" cy="2840521"/>
          </a:xfrm>
          <a:prstGeom prst="rect">
            <a:avLst/>
          </a:prstGeom>
        </p:spPr>
        <p:txBody>
          <a:bodyPr wrap="square">
            <a:spAutoFit/>
          </a:bodyPr>
          <a:lstStyle/>
          <a:p>
            <a:pPr>
              <a:lnSpc>
                <a:spcPct val="107000"/>
              </a:lnSpc>
              <a:spcAft>
                <a:spcPts val="800"/>
              </a:spcAft>
            </a:pPr>
            <a:r>
              <a:rPr lang="en-IN" sz="2800" dirty="0">
                <a:latin typeface="Calibri" panose="020F0502020204030204" pitchFamily="34" charset="0"/>
                <a:ea typeface="Calibri" panose="020F0502020204030204" pitchFamily="34" charset="0"/>
                <a:cs typeface="Times New Roman" panose="02020603050405020304" pitchFamily="18" charset="0"/>
              </a:rPr>
              <a:t>Clipping circuits are used for removing or cutting off portions of an input signal that go beyond a certain voltage level.</a:t>
            </a:r>
          </a:p>
          <a:p>
            <a:pPr marL="342900" lvl="0" indent="-342900">
              <a:buSzPts val="1000"/>
              <a:buFont typeface="Symbol" panose="05050102010706020507" pitchFamily="18" charset="2"/>
              <a:buChar char=""/>
              <a:tabLst>
                <a:tab pos="457200" algn="l"/>
              </a:tabLst>
            </a:pPr>
            <a:r>
              <a:rPr lang="en-IN" sz="2800" dirty="0">
                <a:latin typeface="Calibri" panose="020F0502020204030204" pitchFamily="34" charset="0"/>
                <a:ea typeface="Times New Roman" panose="02020603050405020304" pitchFamily="18" charset="0"/>
              </a:rPr>
              <a:t>Performed using diodes, resistors, and sometimes biasing voltages.</a:t>
            </a:r>
            <a:endParaRPr lang="en-IN" sz="2800" dirty="0">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2800" dirty="0">
                <a:latin typeface="Calibri" panose="020F0502020204030204" pitchFamily="34" charset="0"/>
                <a:ea typeface="Times New Roman" panose="02020603050405020304" pitchFamily="18" charset="0"/>
              </a:rPr>
              <a:t>Used to limit the amplitude of the signal.</a:t>
            </a:r>
            <a:endParaRPr lang="en-IN" sz="2800" dirty="0">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2800" dirty="0">
                <a:latin typeface="Calibri" panose="020F0502020204030204" pitchFamily="34" charset="0"/>
                <a:ea typeface="Times New Roman" panose="02020603050405020304" pitchFamily="18" charset="0"/>
              </a:rPr>
              <a:t>Output waveform is flattened above or below a threshold.</a:t>
            </a:r>
            <a:endParaRPr lang="en-IN" sz="2800" dirty="0">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2800" dirty="0">
                <a:latin typeface="Calibri" panose="020F0502020204030204" pitchFamily="34" charset="0"/>
                <a:ea typeface="Times New Roman" panose="02020603050405020304" pitchFamily="18" charset="0"/>
              </a:rPr>
              <a:t>It does not shift the signal — only limits certain parts.</a:t>
            </a:r>
            <a:endParaRPr lang="en-IN" sz="2800" dirty="0">
              <a:effectLst/>
              <a:latin typeface="Times New Roman" panose="02020603050405020304" pitchFamily="18" charset="0"/>
              <a:ea typeface="Times New Roman" panose="02020603050405020304" pitchFamily="18" charset="0"/>
            </a:endParaRPr>
          </a:p>
        </p:txBody>
      </p:sp>
      <p:grpSp>
        <p:nvGrpSpPr>
          <p:cNvPr id="11" name="Group 10">
            <a:extLst>
              <a:ext uri="{FF2B5EF4-FFF2-40B4-BE49-F238E27FC236}">
                <a16:creationId xmlns:a16="http://schemas.microsoft.com/office/drawing/2014/main" id="{F928B40D-2E06-499A-A39D-706C8E249272}"/>
              </a:ext>
            </a:extLst>
          </p:cNvPr>
          <p:cNvGrpSpPr/>
          <p:nvPr/>
        </p:nvGrpSpPr>
        <p:grpSpPr>
          <a:xfrm>
            <a:off x="484909" y="3976255"/>
            <a:ext cx="13514900" cy="3629890"/>
            <a:chOff x="220584" y="3976255"/>
            <a:chExt cx="13204471" cy="3629890"/>
          </a:xfrm>
          <a:solidFill>
            <a:schemeClr val="bg1">
              <a:lumMod val="95000"/>
            </a:schemeClr>
          </a:solidFill>
        </p:grpSpPr>
        <p:sp>
          <p:nvSpPr>
            <p:cNvPr id="10" name="Rectangle 9">
              <a:extLst>
                <a:ext uri="{FF2B5EF4-FFF2-40B4-BE49-F238E27FC236}">
                  <a16:creationId xmlns:a16="http://schemas.microsoft.com/office/drawing/2014/main" id="{1C2A9532-22B9-4B0A-A8A6-34F1D8848C41}"/>
                </a:ext>
              </a:extLst>
            </p:cNvPr>
            <p:cNvSpPr/>
            <p:nvPr/>
          </p:nvSpPr>
          <p:spPr>
            <a:xfrm>
              <a:off x="220584" y="3976255"/>
              <a:ext cx="13204471" cy="362989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84BF47FE-381D-49FA-A0B5-3DF0587D6B24}"/>
                </a:ext>
              </a:extLst>
            </p:cNvPr>
            <p:cNvSpPr/>
            <p:nvPr/>
          </p:nvSpPr>
          <p:spPr>
            <a:xfrm>
              <a:off x="685800" y="4077047"/>
              <a:ext cx="12358688" cy="1323439"/>
            </a:xfrm>
            <a:prstGeom prst="rect">
              <a:avLst/>
            </a:prstGeom>
            <a:grpFill/>
          </p:spPr>
          <p:txBody>
            <a:bodyPr wrap="square">
              <a:spAutoFit/>
            </a:bodyPr>
            <a:lstStyle/>
            <a:p>
              <a:r>
                <a:rPr lang="en-US" sz="2000" b="1" dirty="0"/>
                <a:t>NOTE:</a:t>
              </a:r>
              <a:r>
                <a:rPr lang="en-US" sz="2000" dirty="0"/>
                <a:t> Choosing the correct resistance value (R) in clipper circuits — whether series or shunt, positive or negative, biased or unbiased — depends on the circuit's desired behavior, diode specifications, and the input signal properties. </a:t>
              </a:r>
            </a:p>
            <a:p>
              <a:endParaRPr lang="en-US" sz="2000" dirty="0"/>
            </a:p>
            <a:p>
              <a:endParaRPr lang="en-US" sz="2000" dirty="0"/>
            </a:p>
          </p:txBody>
        </p:sp>
        <p:sp>
          <p:nvSpPr>
            <p:cNvPr id="5" name="Rectangle 1">
              <a:extLst>
                <a:ext uri="{FF2B5EF4-FFF2-40B4-BE49-F238E27FC236}">
                  <a16:creationId xmlns:a16="http://schemas.microsoft.com/office/drawing/2014/main" id="{A448E9C8-D14A-47E6-AFC0-5B8FED9704F0}"/>
                </a:ext>
              </a:extLst>
            </p:cNvPr>
            <p:cNvSpPr>
              <a:spLocks noChangeArrowheads="1"/>
            </p:cNvSpPr>
            <p:nvPr/>
          </p:nvSpPr>
          <p:spPr bwMode="auto">
            <a:xfrm rot="10800000" flipV="1">
              <a:off x="685800" y="4802695"/>
              <a:ext cx="6091355" cy="2246769"/>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sz="2000" b="1" dirty="0"/>
                <a:t>FOR SERIES CLIPPER CIRCUIT:</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i="0" u="none" strike="noStrike" cap="none" normalizeH="0" baseline="0" dirty="0">
                  <a:ln>
                    <a:noFill/>
                  </a:ln>
                  <a:solidFill>
                    <a:schemeClr val="tx1"/>
                  </a:solidFill>
                  <a:effectLst/>
                </a:rPr>
                <a:t>Choose a moderate to high value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rPr>
                <a:t>To limit the current when the diode conducts.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rPr>
                <a:t>To ensure voltage drop appears mainly across the diode (during conduction).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rPr>
                <a:t>Resistance should not be too high, else the signal will be severely attenuated.</a:t>
              </a:r>
            </a:p>
          </p:txBody>
        </p:sp>
        <p:sp>
          <p:nvSpPr>
            <p:cNvPr id="8" name="Rectangle 7">
              <a:extLst>
                <a:ext uri="{FF2B5EF4-FFF2-40B4-BE49-F238E27FC236}">
                  <a16:creationId xmlns:a16="http://schemas.microsoft.com/office/drawing/2014/main" id="{E2B9FC1A-714D-4D76-B306-108220581BBF}"/>
                </a:ext>
              </a:extLst>
            </p:cNvPr>
            <p:cNvSpPr/>
            <p:nvPr/>
          </p:nvSpPr>
          <p:spPr>
            <a:xfrm>
              <a:off x="6777155" y="4802695"/>
              <a:ext cx="6267333" cy="2246769"/>
            </a:xfrm>
            <a:prstGeom prst="rect">
              <a:avLst/>
            </a:prstGeom>
            <a:grpFill/>
            <a:ln>
              <a:solidFill>
                <a:schemeClr val="tx1">
                  <a:lumMod val="95000"/>
                  <a:lumOff val="5000"/>
                </a:schemeClr>
              </a:solidFill>
            </a:ln>
          </p:spPr>
          <p:txBody>
            <a:bodyPr wrap="square">
              <a:spAutoFit/>
            </a:bodyPr>
            <a:lstStyle/>
            <a:p>
              <a:pPr eaLnBrk="0" fontAlgn="base" hangingPunct="0">
                <a:spcBef>
                  <a:spcPct val="0"/>
                </a:spcBef>
                <a:spcAft>
                  <a:spcPct val="0"/>
                </a:spcAft>
              </a:pPr>
              <a:r>
                <a:rPr lang="en-US" sz="2000" b="1" dirty="0"/>
                <a:t>FOR SHUNT CLIPPER CIRCUIT:</a:t>
              </a:r>
            </a:p>
            <a:p>
              <a:pPr lvl="0" eaLnBrk="0" fontAlgn="base" hangingPunct="0">
                <a:spcBef>
                  <a:spcPct val="0"/>
                </a:spcBef>
                <a:spcAft>
                  <a:spcPct val="0"/>
                </a:spcAft>
              </a:pPr>
              <a:r>
                <a:rPr lang="en-US" altLang="en-US" sz="2000" dirty="0"/>
                <a:t>Choose a relatively low value</a:t>
              </a:r>
            </a:p>
            <a:p>
              <a:pPr lvl="0" eaLnBrk="0" fontAlgn="base" hangingPunct="0">
                <a:spcBef>
                  <a:spcPct val="0"/>
                </a:spcBef>
                <a:spcAft>
                  <a:spcPct val="0"/>
                </a:spcAft>
                <a:buFontTx/>
                <a:buChar char="•"/>
              </a:pPr>
              <a:r>
                <a:rPr lang="en-US" altLang="en-US" sz="2000" dirty="0"/>
                <a:t>To provide a path for current when diode conducts.</a:t>
              </a:r>
            </a:p>
            <a:p>
              <a:pPr lvl="0" eaLnBrk="0" fontAlgn="base" hangingPunct="0">
                <a:spcBef>
                  <a:spcPct val="0"/>
                </a:spcBef>
                <a:spcAft>
                  <a:spcPct val="0"/>
                </a:spcAft>
                <a:buFontTx/>
                <a:buChar char="•"/>
              </a:pPr>
              <a:r>
                <a:rPr lang="en-US" altLang="en-US" sz="2000" dirty="0"/>
                <a:t>To develop enough voltage drop across it for proper clipping.</a:t>
              </a:r>
            </a:p>
            <a:p>
              <a:pPr lvl="0" eaLnBrk="0" fontAlgn="base" hangingPunct="0">
                <a:spcBef>
                  <a:spcPct val="0"/>
                </a:spcBef>
                <a:spcAft>
                  <a:spcPct val="0"/>
                </a:spcAft>
                <a:buFontTx/>
                <a:buChar char="•"/>
              </a:pPr>
              <a:r>
                <a:rPr lang="en-US" altLang="en-US" sz="2000" dirty="0"/>
                <a:t>If Resistance is too large, the diode might not get enough forward voltage to turn ON.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2AA220-A82B-4D66-84CF-A3F371A4D53B}"/>
              </a:ext>
            </a:extLst>
          </p:cNvPr>
          <p:cNvSpPr/>
          <p:nvPr/>
        </p:nvSpPr>
        <p:spPr>
          <a:xfrm>
            <a:off x="7353119" y="4624932"/>
            <a:ext cx="7144683" cy="3582046"/>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Rectangle 2">
            <a:extLst>
              <a:ext uri="{FF2B5EF4-FFF2-40B4-BE49-F238E27FC236}">
                <a16:creationId xmlns:a16="http://schemas.microsoft.com/office/drawing/2014/main" id="{AEA8EAA0-4E9A-4ABE-ADEC-1FBA187ED790}"/>
              </a:ext>
            </a:extLst>
          </p:cNvPr>
          <p:cNvSpPr/>
          <p:nvPr/>
        </p:nvSpPr>
        <p:spPr>
          <a:xfrm>
            <a:off x="92188" y="4624932"/>
            <a:ext cx="7128546" cy="3582046"/>
          </a:xfrm>
          <a:prstGeom prst="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Rectangle 3">
            <a:extLst>
              <a:ext uri="{FF2B5EF4-FFF2-40B4-BE49-F238E27FC236}">
                <a16:creationId xmlns:a16="http://schemas.microsoft.com/office/drawing/2014/main" id="{86918FD0-F335-4F85-9C72-BC1B715A20E5}"/>
              </a:ext>
            </a:extLst>
          </p:cNvPr>
          <p:cNvSpPr/>
          <p:nvPr/>
        </p:nvSpPr>
        <p:spPr>
          <a:xfrm>
            <a:off x="7336983" y="449850"/>
            <a:ext cx="7160821" cy="3653000"/>
          </a:xfrm>
          <a:prstGeom prst="rect">
            <a:avLst/>
          </a:prstGeom>
          <a:solidFill>
            <a:schemeClr val="tx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4">
            <a:extLst>
              <a:ext uri="{FF2B5EF4-FFF2-40B4-BE49-F238E27FC236}">
                <a16:creationId xmlns:a16="http://schemas.microsoft.com/office/drawing/2014/main" id="{1BED1300-827A-4BA3-8097-E7A0885AA87D}"/>
              </a:ext>
            </a:extLst>
          </p:cNvPr>
          <p:cNvSpPr/>
          <p:nvPr/>
        </p:nvSpPr>
        <p:spPr>
          <a:xfrm>
            <a:off x="132595" y="461984"/>
            <a:ext cx="7047732" cy="3624736"/>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2D84F92F-A718-4454-B430-DA78CF685F42}"/>
              </a:ext>
            </a:extLst>
          </p:cNvPr>
          <p:cNvSpPr txBox="1"/>
          <p:nvPr/>
        </p:nvSpPr>
        <p:spPr>
          <a:xfrm>
            <a:off x="3997417" y="-48009"/>
            <a:ext cx="6592002" cy="523220"/>
          </a:xfrm>
          <a:prstGeom prst="rect">
            <a:avLst/>
          </a:prstGeom>
          <a:noFill/>
        </p:spPr>
        <p:txBody>
          <a:bodyPr wrap="square" rtlCol="0">
            <a:spAutoFit/>
          </a:bodyPr>
          <a:lstStyle/>
          <a:p>
            <a:r>
              <a:rPr lang="en-US" sz="2800" b="1" u="sng" dirty="0">
                <a:latin typeface="Times New Roman" panose="02020603050405020304" pitchFamily="18" charset="0"/>
                <a:cs typeface="Times New Roman" panose="02020603050405020304" pitchFamily="18" charset="0"/>
              </a:rPr>
              <a:t>SERIES POSITIVE CLIPPER CIRCUIT</a:t>
            </a:r>
            <a:endParaRPr lang="en-IN" sz="2800" b="1" u="sng"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344D390-AE38-43AB-9708-2E4BC46B956F}"/>
              </a:ext>
            </a:extLst>
          </p:cNvPr>
          <p:cNvSpPr txBox="1"/>
          <p:nvPr/>
        </p:nvSpPr>
        <p:spPr>
          <a:xfrm>
            <a:off x="2108063" y="449958"/>
            <a:ext cx="2571750" cy="400110"/>
          </a:xfrm>
          <a:prstGeom prst="rect">
            <a:avLst/>
          </a:prstGeom>
          <a:noFill/>
        </p:spPr>
        <p:txBody>
          <a:bodyPr wrap="square" rtlCol="0">
            <a:spAutoFit/>
          </a:bodyPr>
          <a:lstStyle/>
          <a:p>
            <a:r>
              <a:rPr lang="en-US" sz="2000" u="sng" dirty="0"/>
              <a:t>UNBIASED CONDITION</a:t>
            </a:r>
            <a:endParaRPr lang="en-IN" sz="2000" u="sng" dirty="0"/>
          </a:p>
        </p:txBody>
      </p:sp>
      <p:sp>
        <p:nvSpPr>
          <p:cNvPr id="8" name="Rectangle 7">
            <a:extLst>
              <a:ext uri="{FF2B5EF4-FFF2-40B4-BE49-F238E27FC236}">
                <a16:creationId xmlns:a16="http://schemas.microsoft.com/office/drawing/2014/main" id="{B8F5AF99-59FF-4512-B000-4470E4102C74}"/>
              </a:ext>
            </a:extLst>
          </p:cNvPr>
          <p:cNvSpPr/>
          <p:nvPr/>
        </p:nvSpPr>
        <p:spPr>
          <a:xfrm>
            <a:off x="9988670" y="501061"/>
            <a:ext cx="2210220" cy="400110"/>
          </a:xfrm>
          <a:prstGeom prst="rect">
            <a:avLst/>
          </a:prstGeom>
        </p:spPr>
        <p:txBody>
          <a:bodyPr wrap="none">
            <a:spAutoFit/>
          </a:bodyPr>
          <a:lstStyle/>
          <a:p>
            <a:r>
              <a:rPr lang="en-US" sz="2000" u="sng" dirty="0"/>
              <a:t>BIASED CONDITION</a:t>
            </a:r>
            <a:endParaRPr lang="en-IN" sz="2000" u="sng" dirty="0"/>
          </a:p>
        </p:txBody>
      </p:sp>
      <p:sp>
        <p:nvSpPr>
          <p:cNvPr id="9" name="TextBox 8">
            <a:extLst>
              <a:ext uri="{FF2B5EF4-FFF2-40B4-BE49-F238E27FC236}">
                <a16:creationId xmlns:a16="http://schemas.microsoft.com/office/drawing/2014/main" id="{27E64737-DFB6-4C47-85DC-7861F1948D3D}"/>
              </a:ext>
            </a:extLst>
          </p:cNvPr>
          <p:cNvSpPr txBox="1"/>
          <p:nvPr/>
        </p:nvSpPr>
        <p:spPr>
          <a:xfrm>
            <a:off x="3857315" y="4111410"/>
            <a:ext cx="6748146" cy="523220"/>
          </a:xfrm>
          <a:prstGeom prst="rect">
            <a:avLst/>
          </a:prstGeom>
          <a:noFill/>
        </p:spPr>
        <p:txBody>
          <a:bodyPr wrap="square" rtlCol="0">
            <a:spAutoFit/>
          </a:bodyPr>
          <a:lstStyle/>
          <a:p>
            <a:r>
              <a:rPr lang="en-US" sz="2800" b="1" u="sng" dirty="0">
                <a:latin typeface="Times New Roman" panose="02020603050405020304" pitchFamily="18" charset="0"/>
                <a:cs typeface="Times New Roman" panose="02020603050405020304" pitchFamily="18" charset="0"/>
              </a:rPr>
              <a:t>SERIES NEGATIVE CLIPPER CIRCUIT</a:t>
            </a:r>
            <a:endParaRPr lang="en-IN" sz="2800" b="1" u="sng"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23C44A3D-F885-401F-BCD3-F1572D2DF2DA}"/>
              </a:ext>
            </a:extLst>
          </p:cNvPr>
          <p:cNvSpPr txBox="1"/>
          <p:nvPr/>
        </p:nvSpPr>
        <p:spPr>
          <a:xfrm>
            <a:off x="1889734" y="4670666"/>
            <a:ext cx="2571750" cy="400110"/>
          </a:xfrm>
          <a:prstGeom prst="rect">
            <a:avLst/>
          </a:prstGeom>
          <a:noFill/>
        </p:spPr>
        <p:txBody>
          <a:bodyPr wrap="square" rtlCol="0">
            <a:spAutoFit/>
          </a:bodyPr>
          <a:lstStyle/>
          <a:p>
            <a:r>
              <a:rPr lang="en-US" sz="2000" u="sng" dirty="0"/>
              <a:t>UNBIASED CONDITION</a:t>
            </a:r>
            <a:endParaRPr lang="en-IN" sz="2000" u="sng" dirty="0"/>
          </a:p>
        </p:txBody>
      </p:sp>
      <p:sp>
        <p:nvSpPr>
          <p:cNvPr id="11" name="Rectangle 10">
            <a:extLst>
              <a:ext uri="{FF2B5EF4-FFF2-40B4-BE49-F238E27FC236}">
                <a16:creationId xmlns:a16="http://schemas.microsoft.com/office/drawing/2014/main" id="{E565E912-87BF-4D90-A8E2-134156B25720}"/>
              </a:ext>
            </a:extLst>
          </p:cNvPr>
          <p:cNvSpPr/>
          <p:nvPr/>
        </p:nvSpPr>
        <p:spPr>
          <a:xfrm>
            <a:off x="9836784" y="4649080"/>
            <a:ext cx="2205412" cy="400110"/>
          </a:xfrm>
          <a:prstGeom prst="rect">
            <a:avLst/>
          </a:prstGeom>
        </p:spPr>
        <p:txBody>
          <a:bodyPr wrap="none">
            <a:spAutoFit/>
          </a:bodyPr>
          <a:lstStyle/>
          <a:p>
            <a:r>
              <a:rPr lang="en-US" sz="2000" u="sng" dirty="0"/>
              <a:t>BIASED</a:t>
            </a:r>
            <a:r>
              <a:rPr lang="en-US" u="sng" dirty="0"/>
              <a:t> </a:t>
            </a:r>
            <a:r>
              <a:rPr lang="en-US" sz="2000" u="sng" dirty="0"/>
              <a:t>CONDITION</a:t>
            </a:r>
            <a:endParaRPr lang="en-IN" sz="2000" u="sng" dirty="0"/>
          </a:p>
        </p:txBody>
      </p:sp>
      <p:sp>
        <p:nvSpPr>
          <p:cNvPr id="28" name="Rectangle 5">
            <a:extLst>
              <a:ext uri="{FF2B5EF4-FFF2-40B4-BE49-F238E27FC236}">
                <a16:creationId xmlns:a16="http://schemas.microsoft.com/office/drawing/2014/main" id="{91C762FD-FC5B-4A21-9740-8C0EE049EA22}"/>
              </a:ext>
            </a:extLst>
          </p:cNvPr>
          <p:cNvSpPr>
            <a:spLocks noChangeArrowheads="1"/>
          </p:cNvSpPr>
          <p:nvPr/>
        </p:nvSpPr>
        <p:spPr bwMode="auto">
          <a:xfrm>
            <a:off x="10092064" y="5101498"/>
            <a:ext cx="12420036" cy="308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dirty="0"/>
          </a:p>
        </p:txBody>
      </p:sp>
      <p:sp>
        <p:nvSpPr>
          <p:cNvPr id="29" name="Rectangle 6">
            <a:extLst>
              <a:ext uri="{FF2B5EF4-FFF2-40B4-BE49-F238E27FC236}">
                <a16:creationId xmlns:a16="http://schemas.microsoft.com/office/drawing/2014/main" id="{3FFB6EEE-B2E2-45F6-BF0A-7BEF763C3434}"/>
              </a:ext>
            </a:extLst>
          </p:cNvPr>
          <p:cNvSpPr>
            <a:spLocks noChangeArrowheads="1"/>
          </p:cNvSpPr>
          <p:nvPr/>
        </p:nvSpPr>
        <p:spPr bwMode="auto">
          <a:xfrm>
            <a:off x="15196900" y="5558698"/>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sp>
        <p:nvSpPr>
          <p:cNvPr id="30" name="Rectangle 8">
            <a:extLst>
              <a:ext uri="{FF2B5EF4-FFF2-40B4-BE49-F238E27FC236}">
                <a16:creationId xmlns:a16="http://schemas.microsoft.com/office/drawing/2014/main" id="{829C22E7-7C08-4DBE-94EA-5C894B9FCFA2}"/>
              </a:ext>
            </a:extLst>
          </p:cNvPr>
          <p:cNvSpPr>
            <a:spLocks noChangeArrowheads="1"/>
          </p:cNvSpPr>
          <p:nvPr/>
        </p:nvSpPr>
        <p:spPr bwMode="auto">
          <a:xfrm>
            <a:off x="15196900" y="6898548"/>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pic>
        <p:nvPicPr>
          <p:cNvPr id="2052" name="Picture 9">
            <a:extLst>
              <a:ext uri="{FF2B5EF4-FFF2-40B4-BE49-F238E27FC236}">
                <a16:creationId xmlns:a16="http://schemas.microsoft.com/office/drawing/2014/main" id="{2FA1B6FC-CEC9-4252-97D5-E636BA31E9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0013" t="32912" r="21124" b="449"/>
          <a:stretch>
            <a:fillRect/>
          </a:stretch>
        </p:blipFill>
        <p:spPr bwMode="auto">
          <a:xfrm>
            <a:off x="2461544" y="869769"/>
            <a:ext cx="4636030" cy="269683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38">
            <a:extLst>
              <a:ext uri="{FF2B5EF4-FFF2-40B4-BE49-F238E27FC236}">
                <a16:creationId xmlns:a16="http://schemas.microsoft.com/office/drawing/2014/main" id="{0D682202-699D-4AFD-A886-D379FDDEE3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5547" t="53992" r="45544" b="18517"/>
          <a:stretch>
            <a:fillRect/>
          </a:stretch>
        </p:blipFill>
        <p:spPr bwMode="auto">
          <a:xfrm>
            <a:off x="234385" y="869770"/>
            <a:ext cx="2125370" cy="2696834"/>
          </a:xfrm>
          <a:prstGeom prst="rect">
            <a:avLst/>
          </a:prstGeom>
          <a:noFill/>
          <a:extLst>
            <a:ext uri="{909E8E84-426E-40DD-AFC4-6F175D3DCCD1}">
              <a14:hiddenFill xmlns:a14="http://schemas.microsoft.com/office/drawing/2010/main">
                <a:solidFill>
                  <a:srgbClr val="FFFFFF"/>
                </a:solidFill>
              </a14:hiddenFill>
            </a:ext>
          </a:extLst>
        </p:spPr>
      </p:pic>
      <p:sp>
        <p:nvSpPr>
          <p:cNvPr id="31" name="Text Box 36">
            <a:extLst>
              <a:ext uri="{FF2B5EF4-FFF2-40B4-BE49-F238E27FC236}">
                <a16:creationId xmlns:a16="http://schemas.microsoft.com/office/drawing/2014/main" id="{59F4DCA7-9875-42AE-8FC9-3A0134B064F5}"/>
              </a:ext>
            </a:extLst>
          </p:cNvPr>
          <p:cNvSpPr txBox="1">
            <a:spLocks noChangeArrowheads="1"/>
          </p:cNvSpPr>
          <p:nvPr/>
        </p:nvSpPr>
        <p:spPr bwMode="auto">
          <a:xfrm>
            <a:off x="234385" y="3670579"/>
            <a:ext cx="2125370" cy="34388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1"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Fig.1.1: Circuit Diagram</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048" name="Text Box 37">
            <a:extLst>
              <a:ext uri="{FF2B5EF4-FFF2-40B4-BE49-F238E27FC236}">
                <a16:creationId xmlns:a16="http://schemas.microsoft.com/office/drawing/2014/main" id="{77740211-4649-4236-B7CA-A033B3087F20}"/>
              </a:ext>
            </a:extLst>
          </p:cNvPr>
          <p:cNvSpPr txBox="1">
            <a:spLocks noChangeArrowheads="1"/>
          </p:cNvSpPr>
          <p:nvPr/>
        </p:nvSpPr>
        <p:spPr bwMode="auto">
          <a:xfrm>
            <a:off x="2461544" y="3666817"/>
            <a:ext cx="4636029" cy="34388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1"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Fig.1.2: Corresponding Input and Output Waveform</a:t>
            </a:r>
            <a:endParaRPr kumimoji="0" lang="en-US" altLang="en-US" sz="16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49" name="Rectangle 5">
            <a:extLst>
              <a:ext uri="{FF2B5EF4-FFF2-40B4-BE49-F238E27FC236}">
                <a16:creationId xmlns:a16="http://schemas.microsoft.com/office/drawing/2014/main" id="{D85D269C-7AE7-40AB-8DDC-2ACB413B2C91}"/>
              </a:ext>
            </a:extLst>
          </p:cNvPr>
          <p:cNvSpPr>
            <a:spLocks noChangeArrowheads="1"/>
          </p:cNvSpPr>
          <p:nvPr/>
        </p:nvSpPr>
        <p:spPr bwMode="auto">
          <a:xfrm>
            <a:off x="523071" y="462604"/>
            <a:ext cx="1463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051" name="Rectangle 6">
            <a:extLst>
              <a:ext uri="{FF2B5EF4-FFF2-40B4-BE49-F238E27FC236}">
                <a16:creationId xmlns:a16="http://schemas.microsoft.com/office/drawing/2014/main" id="{A2539CB1-C531-4848-BA1A-127AC878C1FE}"/>
              </a:ext>
            </a:extLst>
          </p:cNvPr>
          <p:cNvSpPr>
            <a:spLocks noChangeArrowheads="1"/>
          </p:cNvSpPr>
          <p:nvPr/>
        </p:nvSpPr>
        <p:spPr bwMode="auto">
          <a:xfrm>
            <a:off x="523071" y="919804"/>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sp>
        <p:nvSpPr>
          <p:cNvPr id="2053" name="Rectangle 8">
            <a:extLst>
              <a:ext uri="{FF2B5EF4-FFF2-40B4-BE49-F238E27FC236}">
                <a16:creationId xmlns:a16="http://schemas.microsoft.com/office/drawing/2014/main" id="{EA769CB5-1B9F-4CD5-809A-C407E5588D03}"/>
              </a:ext>
            </a:extLst>
          </p:cNvPr>
          <p:cNvSpPr>
            <a:spLocks noChangeArrowheads="1"/>
          </p:cNvSpPr>
          <p:nvPr/>
        </p:nvSpPr>
        <p:spPr bwMode="auto">
          <a:xfrm>
            <a:off x="523071" y="2266004"/>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pic>
        <p:nvPicPr>
          <p:cNvPr id="2062" name="Picture 17">
            <a:extLst>
              <a:ext uri="{FF2B5EF4-FFF2-40B4-BE49-F238E27FC236}">
                <a16:creationId xmlns:a16="http://schemas.microsoft.com/office/drawing/2014/main" id="{BFDA2DE5-A61E-44AA-89BF-42D3CDFF79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35732" t="54996" r="44881" b="18124"/>
          <a:stretch>
            <a:fillRect/>
          </a:stretch>
        </p:blipFill>
        <p:spPr bwMode="auto">
          <a:xfrm>
            <a:off x="237787" y="5144573"/>
            <a:ext cx="2277401" cy="2486424"/>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22">
            <a:extLst>
              <a:ext uri="{FF2B5EF4-FFF2-40B4-BE49-F238E27FC236}">
                <a16:creationId xmlns:a16="http://schemas.microsoft.com/office/drawing/2014/main" id="{0124411F-4011-44F4-8D5B-7F73190F60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20226" t="33257" r="21233" b="908"/>
          <a:stretch>
            <a:fillRect/>
          </a:stretch>
        </p:blipFill>
        <p:spPr bwMode="auto">
          <a:xfrm>
            <a:off x="2709927" y="5101498"/>
            <a:ext cx="4448454" cy="2499824"/>
          </a:xfrm>
          <a:prstGeom prst="rect">
            <a:avLst/>
          </a:prstGeom>
          <a:noFill/>
          <a:extLst>
            <a:ext uri="{909E8E84-426E-40DD-AFC4-6F175D3DCCD1}">
              <a14:hiddenFill xmlns:a14="http://schemas.microsoft.com/office/drawing/2010/main">
                <a:solidFill>
                  <a:srgbClr val="FFFFFF"/>
                </a:solidFill>
              </a14:hiddenFill>
            </a:ext>
          </a:extLst>
        </p:spPr>
      </p:pic>
      <p:sp>
        <p:nvSpPr>
          <p:cNvPr id="2055" name="Text Box 40">
            <a:extLst>
              <a:ext uri="{FF2B5EF4-FFF2-40B4-BE49-F238E27FC236}">
                <a16:creationId xmlns:a16="http://schemas.microsoft.com/office/drawing/2014/main" id="{A6345477-AD6F-401E-85F7-AB3AA3B2D5D3}"/>
              </a:ext>
            </a:extLst>
          </p:cNvPr>
          <p:cNvSpPr txBox="1">
            <a:spLocks noChangeArrowheads="1"/>
          </p:cNvSpPr>
          <p:nvPr/>
        </p:nvSpPr>
        <p:spPr bwMode="auto">
          <a:xfrm>
            <a:off x="213531" y="7757329"/>
            <a:ext cx="2375053" cy="373619"/>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800" b="0" i="1"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1600" b="0" i="1"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Fig.3.1: Circuit Diagram</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056" name="Text Box 41">
            <a:extLst>
              <a:ext uri="{FF2B5EF4-FFF2-40B4-BE49-F238E27FC236}">
                <a16:creationId xmlns:a16="http://schemas.microsoft.com/office/drawing/2014/main" id="{7FE06891-4BE4-4383-879B-C97B04028AD5}"/>
              </a:ext>
            </a:extLst>
          </p:cNvPr>
          <p:cNvSpPr txBox="1">
            <a:spLocks noChangeArrowheads="1"/>
          </p:cNvSpPr>
          <p:nvPr/>
        </p:nvSpPr>
        <p:spPr bwMode="auto">
          <a:xfrm>
            <a:off x="2709927" y="7683415"/>
            <a:ext cx="4470400" cy="457200"/>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defTabSz="914400" rtl="0" eaLnBrk="0" fontAlgn="base" latinLnBrk="0" hangingPunct="0">
              <a:lnSpc>
                <a:spcPct val="100000"/>
              </a:lnSpc>
              <a:spcBef>
                <a:spcPct val="0"/>
              </a:spcBef>
              <a:spcAft>
                <a:spcPct val="0"/>
              </a:spcAft>
              <a:buClrTx/>
              <a:buSzTx/>
              <a:buFontTx/>
              <a:buNone/>
              <a:tabLst/>
            </a:pPr>
            <a:br>
              <a:rPr kumimoji="0" lang="en-US" altLang="en-US" sz="800" b="0" i="1"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br>
            <a:r>
              <a:rPr kumimoji="0" lang="en-US" altLang="en-US" sz="1600" b="0" i="1"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Fig.3.2: Corresponding Input and Output Waveform</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057" name="Rectangle 15">
            <a:extLst>
              <a:ext uri="{FF2B5EF4-FFF2-40B4-BE49-F238E27FC236}">
                <a16:creationId xmlns:a16="http://schemas.microsoft.com/office/drawing/2014/main" id="{2214B63E-F55A-4407-824D-07EB4D6E07FB}"/>
              </a:ext>
            </a:extLst>
          </p:cNvPr>
          <p:cNvSpPr>
            <a:spLocks noChangeArrowheads="1"/>
          </p:cNvSpPr>
          <p:nvPr/>
        </p:nvSpPr>
        <p:spPr bwMode="auto">
          <a:xfrm>
            <a:off x="474727" y="4477578"/>
            <a:ext cx="1463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058" name="Rectangle 16">
            <a:extLst>
              <a:ext uri="{FF2B5EF4-FFF2-40B4-BE49-F238E27FC236}">
                <a16:creationId xmlns:a16="http://schemas.microsoft.com/office/drawing/2014/main" id="{D2C40559-E190-4688-9887-166CA02BC869}"/>
              </a:ext>
            </a:extLst>
          </p:cNvPr>
          <p:cNvSpPr>
            <a:spLocks noChangeArrowheads="1"/>
          </p:cNvSpPr>
          <p:nvPr/>
        </p:nvSpPr>
        <p:spPr bwMode="auto">
          <a:xfrm>
            <a:off x="474727" y="4934778"/>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sp>
        <p:nvSpPr>
          <p:cNvPr id="2059" name="Rectangle 18">
            <a:extLst>
              <a:ext uri="{FF2B5EF4-FFF2-40B4-BE49-F238E27FC236}">
                <a16:creationId xmlns:a16="http://schemas.microsoft.com/office/drawing/2014/main" id="{9BDB2E4E-AE12-44BA-A99D-7E3AADE47111}"/>
              </a:ext>
            </a:extLst>
          </p:cNvPr>
          <p:cNvSpPr>
            <a:spLocks noChangeArrowheads="1"/>
          </p:cNvSpPr>
          <p:nvPr/>
        </p:nvSpPr>
        <p:spPr bwMode="auto">
          <a:xfrm>
            <a:off x="474727" y="6192078"/>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pic>
        <p:nvPicPr>
          <p:cNvPr id="2082" name="Picture 11">
            <a:extLst>
              <a:ext uri="{FF2B5EF4-FFF2-40B4-BE49-F238E27FC236}">
                <a16:creationId xmlns:a16="http://schemas.microsoft.com/office/drawing/2014/main" id="{1BD02CE4-BC76-49EE-B12B-632990F0EC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20113" t="32854" r="20999" b="1158"/>
          <a:stretch>
            <a:fillRect/>
          </a:stretch>
        </p:blipFill>
        <p:spPr bwMode="auto">
          <a:xfrm>
            <a:off x="9898409" y="909731"/>
            <a:ext cx="4470399" cy="2601928"/>
          </a:xfrm>
          <a:prstGeom prst="rect">
            <a:avLst/>
          </a:prstGeom>
          <a:noFill/>
          <a:extLst>
            <a:ext uri="{909E8E84-426E-40DD-AFC4-6F175D3DCCD1}">
              <a14:hiddenFill xmlns:a14="http://schemas.microsoft.com/office/drawing/2010/main">
                <a:solidFill>
                  <a:srgbClr val="FFFFFF"/>
                </a:solidFill>
              </a14:hiddenFill>
            </a:ext>
          </a:extLst>
        </p:spPr>
      </p:pic>
      <p:pic>
        <p:nvPicPr>
          <p:cNvPr id="2080" name="Picture 32">
            <a:extLst>
              <a:ext uri="{FF2B5EF4-FFF2-40B4-BE49-F238E27FC236}">
                <a16:creationId xmlns:a16="http://schemas.microsoft.com/office/drawing/2014/main" id="{702B6F38-D0CF-4134-A9BF-2516F6809B3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34271" t="52330" r="43953" b="14362"/>
          <a:stretch>
            <a:fillRect/>
          </a:stretch>
        </p:blipFill>
        <p:spPr bwMode="auto">
          <a:xfrm>
            <a:off x="7472123" y="909732"/>
            <a:ext cx="2195402" cy="2605706"/>
          </a:xfrm>
          <a:prstGeom prst="rect">
            <a:avLst/>
          </a:prstGeom>
          <a:noFill/>
          <a:extLst>
            <a:ext uri="{909E8E84-426E-40DD-AFC4-6F175D3DCCD1}">
              <a14:hiddenFill xmlns:a14="http://schemas.microsoft.com/office/drawing/2010/main">
                <a:solidFill>
                  <a:srgbClr val="FFFFFF"/>
                </a:solidFill>
              </a14:hiddenFill>
            </a:ext>
          </a:extLst>
        </p:spPr>
      </p:pic>
      <p:sp>
        <p:nvSpPr>
          <p:cNvPr id="2069" name="Text Box 42">
            <a:extLst>
              <a:ext uri="{FF2B5EF4-FFF2-40B4-BE49-F238E27FC236}">
                <a16:creationId xmlns:a16="http://schemas.microsoft.com/office/drawing/2014/main" id="{8EF06EAE-A3F2-4923-A640-B2C4BB8315BC}"/>
              </a:ext>
            </a:extLst>
          </p:cNvPr>
          <p:cNvSpPr txBox="1">
            <a:spLocks noChangeArrowheads="1"/>
          </p:cNvSpPr>
          <p:nvPr/>
        </p:nvSpPr>
        <p:spPr bwMode="auto">
          <a:xfrm>
            <a:off x="7463598" y="3605322"/>
            <a:ext cx="2182606" cy="391676"/>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600" b="0" i="1"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Fig.2.1: Circuit Diagram</a:t>
            </a:r>
            <a:endParaRPr kumimoji="0" lang="en-US" altLang="en-US" sz="16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tab pos="457200" algn="l"/>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71" name="Text Box 44">
            <a:extLst>
              <a:ext uri="{FF2B5EF4-FFF2-40B4-BE49-F238E27FC236}">
                <a16:creationId xmlns:a16="http://schemas.microsoft.com/office/drawing/2014/main" id="{099A1EAB-8DD2-407C-AD3F-8147227FB16B}"/>
              </a:ext>
            </a:extLst>
          </p:cNvPr>
          <p:cNvSpPr txBox="1">
            <a:spLocks noChangeArrowheads="1"/>
          </p:cNvSpPr>
          <p:nvPr/>
        </p:nvSpPr>
        <p:spPr bwMode="auto">
          <a:xfrm>
            <a:off x="9898410" y="3605322"/>
            <a:ext cx="4470400" cy="384511"/>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1"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Fig.2.2: Corresponding Input and Output Waveform</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073" name="Rectangle 35">
            <a:extLst>
              <a:ext uri="{FF2B5EF4-FFF2-40B4-BE49-F238E27FC236}">
                <a16:creationId xmlns:a16="http://schemas.microsoft.com/office/drawing/2014/main" id="{62126913-E691-4AB9-99A8-A0DDE25860C0}"/>
              </a:ext>
            </a:extLst>
          </p:cNvPr>
          <p:cNvSpPr>
            <a:spLocks noChangeArrowheads="1"/>
          </p:cNvSpPr>
          <p:nvPr/>
        </p:nvSpPr>
        <p:spPr bwMode="auto">
          <a:xfrm>
            <a:off x="7715804" y="745478"/>
            <a:ext cx="1463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074" name="Rectangle 36">
            <a:extLst>
              <a:ext uri="{FF2B5EF4-FFF2-40B4-BE49-F238E27FC236}">
                <a16:creationId xmlns:a16="http://schemas.microsoft.com/office/drawing/2014/main" id="{8A9FE4D1-B274-4C87-BB8E-F396EDB7FD31}"/>
              </a:ext>
            </a:extLst>
          </p:cNvPr>
          <p:cNvSpPr>
            <a:spLocks noChangeArrowheads="1"/>
          </p:cNvSpPr>
          <p:nvPr/>
        </p:nvSpPr>
        <p:spPr bwMode="auto">
          <a:xfrm>
            <a:off x="7715804" y="1202678"/>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sp>
        <p:nvSpPr>
          <p:cNvPr id="2075" name="Rectangle 38">
            <a:extLst>
              <a:ext uri="{FF2B5EF4-FFF2-40B4-BE49-F238E27FC236}">
                <a16:creationId xmlns:a16="http://schemas.microsoft.com/office/drawing/2014/main" id="{4A3D2FDA-E89A-4939-A24F-C5225BAE6896}"/>
              </a:ext>
            </a:extLst>
          </p:cNvPr>
          <p:cNvSpPr>
            <a:spLocks noChangeArrowheads="1"/>
          </p:cNvSpPr>
          <p:nvPr/>
        </p:nvSpPr>
        <p:spPr bwMode="auto">
          <a:xfrm>
            <a:off x="7715804" y="2498078"/>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sp>
        <p:nvSpPr>
          <p:cNvPr id="2076" name="Rectangle 40">
            <a:extLst>
              <a:ext uri="{FF2B5EF4-FFF2-40B4-BE49-F238E27FC236}">
                <a16:creationId xmlns:a16="http://schemas.microsoft.com/office/drawing/2014/main" id="{021BD0B2-ED63-43CF-8788-E81B3DAA7BF9}"/>
              </a:ext>
            </a:extLst>
          </p:cNvPr>
          <p:cNvSpPr>
            <a:spLocks noChangeArrowheads="1"/>
          </p:cNvSpPr>
          <p:nvPr/>
        </p:nvSpPr>
        <p:spPr bwMode="auto">
          <a:xfrm>
            <a:off x="7715804" y="3592680"/>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92" name="Picture 13">
            <a:extLst>
              <a:ext uri="{FF2B5EF4-FFF2-40B4-BE49-F238E27FC236}">
                <a16:creationId xmlns:a16="http://schemas.microsoft.com/office/drawing/2014/main" id="{29B88C1C-728E-44C6-BA77-3111DA0107A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l="20082" t="32722" r="21210" b="241"/>
          <a:stretch>
            <a:fillRect/>
          </a:stretch>
        </p:blipFill>
        <p:spPr bwMode="auto">
          <a:xfrm>
            <a:off x="9843949" y="5049190"/>
            <a:ext cx="4279900" cy="2596715"/>
          </a:xfrm>
          <a:prstGeom prst="rect">
            <a:avLst/>
          </a:prstGeom>
          <a:noFill/>
          <a:extLst>
            <a:ext uri="{909E8E84-426E-40DD-AFC4-6F175D3DCCD1}">
              <a14:hiddenFill xmlns:a14="http://schemas.microsoft.com/office/drawing/2010/main">
                <a:solidFill>
                  <a:srgbClr val="FFFFFF"/>
                </a:solidFill>
              </a14:hiddenFill>
            </a:ext>
          </a:extLst>
        </p:spPr>
      </p:pic>
      <p:pic>
        <p:nvPicPr>
          <p:cNvPr id="2090" name="Picture 12">
            <a:extLst>
              <a:ext uri="{FF2B5EF4-FFF2-40B4-BE49-F238E27FC236}">
                <a16:creationId xmlns:a16="http://schemas.microsoft.com/office/drawing/2014/main" id="{71703E52-80C9-4085-AECF-CBD5CC76A88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l="35158" t="53761" r="44217" b="14565"/>
          <a:stretch>
            <a:fillRect/>
          </a:stretch>
        </p:blipFill>
        <p:spPr bwMode="auto">
          <a:xfrm>
            <a:off x="7472123" y="5049189"/>
            <a:ext cx="2154513" cy="2574091"/>
          </a:xfrm>
          <a:prstGeom prst="rect">
            <a:avLst/>
          </a:prstGeom>
          <a:noFill/>
          <a:extLst>
            <a:ext uri="{909E8E84-426E-40DD-AFC4-6F175D3DCCD1}">
              <a14:hiddenFill xmlns:a14="http://schemas.microsoft.com/office/drawing/2010/main">
                <a:solidFill>
                  <a:srgbClr val="FFFFFF"/>
                </a:solidFill>
              </a14:hiddenFill>
            </a:ext>
          </a:extLst>
        </p:spPr>
      </p:pic>
      <p:sp>
        <p:nvSpPr>
          <p:cNvPr id="2077" name="Text Box 50">
            <a:extLst>
              <a:ext uri="{FF2B5EF4-FFF2-40B4-BE49-F238E27FC236}">
                <a16:creationId xmlns:a16="http://schemas.microsoft.com/office/drawing/2014/main" id="{E4D61D5C-34B5-445B-B001-6031E1757A24}"/>
              </a:ext>
            </a:extLst>
          </p:cNvPr>
          <p:cNvSpPr txBox="1">
            <a:spLocks noChangeArrowheads="1"/>
          </p:cNvSpPr>
          <p:nvPr/>
        </p:nvSpPr>
        <p:spPr bwMode="auto">
          <a:xfrm>
            <a:off x="7463598" y="7757331"/>
            <a:ext cx="2167518" cy="352254"/>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1"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Fig.4.1: Circuit Diagram</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078" name="Text Box 51">
            <a:extLst>
              <a:ext uri="{FF2B5EF4-FFF2-40B4-BE49-F238E27FC236}">
                <a16:creationId xmlns:a16="http://schemas.microsoft.com/office/drawing/2014/main" id="{F5004F1F-3567-4F14-A21F-6EED91DBA0CD}"/>
              </a:ext>
            </a:extLst>
          </p:cNvPr>
          <p:cNvSpPr txBox="1">
            <a:spLocks noChangeArrowheads="1"/>
          </p:cNvSpPr>
          <p:nvPr/>
        </p:nvSpPr>
        <p:spPr bwMode="auto">
          <a:xfrm>
            <a:off x="9843949" y="7757329"/>
            <a:ext cx="4470400" cy="35225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1"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Fig.4.2: Corresponding Input and Output Waveform</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079" name="Rectangle 45">
            <a:extLst>
              <a:ext uri="{FF2B5EF4-FFF2-40B4-BE49-F238E27FC236}">
                <a16:creationId xmlns:a16="http://schemas.microsoft.com/office/drawing/2014/main" id="{50EB38AC-3915-4166-A86F-36CB19A96796}"/>
              </a:ext>
            </a:extLst>
          </p:cNvPr>
          <p:cNvSpPr>
            <a:spLocks noChangeArrowheads="1"/>
          </p:cNvSpPr>
          <p:nvPr/>
        </p:nvSpPr>
        <p:spPr bwMode="auto">
          <a:xfrm>
            <a:off x="7623809" y="4714043"/>
            <a:ext cx="6405342" cy="311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2081" name="Rectangle 46">
            <a:extLst>
              <a:ext uri="{FF2B5EF4-FFF2-40B4-BE49-F238E27FC236}">
                <a16:creationId xmlns:a16="http://schemas.microsoft.com/office/drawing/2014/main" id="{6DE21E3A-688D-4CF0-B2A5-79BE855C398F}"/>
              </a:ext>
            </a:extLst>
          </p:cNvPr>
          <p:cNvSpPr>
            <a:spLocks noChangeArrowheads="1"/>
          </p:cNvSpPr>
          <p:nvPr/>
        </p:nvSpPr>
        <p:spPr bwMode="auto">
          <a:xfrm>
            <a:off x="7623809" y="5171243"/>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sp>
        <p:nvSpPr>
          <p:cNvPr id="2083" name="Rectangle 48">
            <a:extLst>
              <a:ext uri="{FF2B5EF4-FFF2-40B4-BE49-F238E27FC236}">
                <a16:creationId xmlns:a16="http://schemas.microsoft.com/office/drawing/2014/main" id="{F9AD3A14-1C34-44A3-A305-B4E55E887132}"/>
              </a:ext>
            </a:extLst>
          </p:cNvPr>
          <p:cNvSpPr>
            <a:spLocks noChangeArrowheads="1"/>
          </p:cNvSpPr>
          <p:nvPr/>
        </p:nvSpPr>
        <p:spPr bwMode="auto">
          <a:xfrm>
            <a:off x="7623809" y="6517443"/>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588980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nodeType="withEffect">
                                  <p:stCondLst>
                                    <p:cond delay="0"/>
                                  </p:stCondLst>
                                  <p:childTnLst>
                                    <p:set>
                                      <p:cBhvr>
                                        <p:cTn id="9" dur="1" fill="hold">
                                          <p:stCondLst>
                                            <p:cond delay="0"/>
                                          </p:stCondLst>
                                        </p:cTn>
                                        <p:tgtEl>
                                          <p:spTgt spid="2050"/>
                                        </p:tgtEl>
                                        <p:attrNameLst>
                                          <p:attrName>style.visibility</p:attrName>
                                        </p:attrNameLst>
                                      </p:cBhvr>
                                      <p:to>
                                        <p:strVal val="visible"/>
                                      </p:to>
                                    </p:set>
                                    <p:animEffect transition="in" filter="wipe(down)">
                                      <p:cBhvr>
                                        <p:cTn id="10" dur="500"/>
                                        <p:tgtEl>
                                          <p:spTgt spid="2050"/>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par>
                                <p:cTn id="14" presetID="22" presetClass="entr" presetSubtype="4" fill="hold" nodeType="withEffect">
                                  <p:stCondLst>
                                    <p:cond delay="0"/>
                                  </p:stCondLst>
                                  <p:childTnLst>
                                    <p:set>
                                      <p:cBhvr>
                                        <p:cTn id="15" dur="1" fill="hold">
                                          <p:stCondLst>
                                            <p:cond delay="0"/>
                                          </p:stCondLst>
                                        </p:cTn>
                                        <p:tgtEl>
                                          <p:spTgt spid="2052"/>
                                        </p:tgtEl>
                                        <p:attrNameLst>
                                          <p:attrName>style.visibility</p:attrName>
                                        </p:attrNameLst>
                                      </p:cBhvr>
                                      <p:to>
                                        <p:strVal val="visible"/>
                                      </p:to>
                                    </p:set>
                                    <p:animEffect transition="in" filter="wipe(down)">
                                      <p:cBhvr>
                                        <p:cTn id="16" dur="500"/>
                                        <p:tgtEl>
                                          <p:spTgt spid="2052"/>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048"/>
                                        </p:tgtEl>
                                        <p:attrNameLst>
                                          <p:attrName>style.visibility</p:attrName>
                                        </p:attrNameLst>
                                      </p:cBhvr>
                                      <p:to>
                                        <p:strVal val="visible"/>
                                      </p:to>
                                    </p:set>
                                    <p:animEffect transition="in" filter="wipe(down)">
                                      <p:cBhvr>
                                        <p:cTn id="19" dur="500"/>
                                        <p:tgtEl>
                                          <p:spTgt spid="2048"/>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down)">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down)">
                                      <p:cBhvr>
                                        <p:cTn id="27" dur="500"/>
                                        <p:tgtEl>
                                          <p:spTgt spid="4"/>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down)">
                                      <p:cBhvr>
                                        <p:cTn id="30" dur="500"/>
                                        <p:tgtEl>
                                          <p:spTgt spid="8"/>
                                        </p:tgtEl>
                                      </p:cBhvr>
                                    </p:animEffect>
                                  </p:childTnLst>
                                </p:cTn>
                              </p:par>
                              <p:par>
                                <p:cTn id="31" presetID="22" presetClass="entr" presetSubtype="4" fill="hold" nodeType="withEffect">
                                  <p:stCondLst>
                                    <p:cond delay="0"/>
                                  </p:stCondLst>
                                  <p:childTnLst>
                                    <p:set>
                                      <p:cBhvr>
                                        <p:cTn id="32" dur="1" fill="hold">
                                          <p:stCondLst>
                                            <p:cond delay="0"/>
                                          </p:stCondLst>
                                        </p:cTn>
                                        <p:tgtEl>
                                          <p:spTgt spid="2080"/>
                                        </p:tgtEl>
                                        <p:attrNameLst>
                                          <p:attrName>style.visibility</p:attrName>
                                        </p:attrNameLst>
                                      </p:cBhvr>
                                      <p:to>
                                        <p:strVal val="visible"/>
                                      </p:to>
                                    </p:set>
                                    <p:animEffect transition="in" filter="wipe(down)">
                                      <p:cBhvr>
                                        <p:cTn id="33" dur="500"/>
                                        <p:tgtEl>
                                          <p:spTgt spid="2080"/>
                                        </p:tgtEl>
                                      </p:cBhvr>
                                    </p:animEffect>
                                  </p:childTnLst>
                                </p:cTn>
                              </p:par>
                              <p:par>
                                <p:cTn id="34" presetID="22" presetClass="entr" presetSubtype="4" fill="hold" nodeType="withEffect">
                                  <p:stCondLst>
                                    <p:cond delay="0"/>
                                  </p:stCondLst>
                                  <p:childTnLst>
                                    <p:set>
                                      <p:cBhvr>
                                        <p:cTn id="35" dur="1" fill="hold">
                                          <p:stCondLst>
                                            <p:cond delay="0"/>
                                          </p:stCondLst>
                                        </p:cTn>
                                        <p:tgtEl>
                                          <p:spTgt spid="2082"/>
                                        </p:tgtEl>
                                        <p:attrNameLst>
                                          <p:attrName>style.visibility</p:attrName>
                                        </p:attrNameLst>
                                      </p:cBhvr>
                                      <p:to>
                                        <p:strVal val="visible"/>
                                      </p:to>
                                    </p:set>
                                    <p:animEffect transition="in" filter="wipe(down)">
                                      <p:cBhvr>
                                        <p:cTn id="36" dur="500"/>
                                        <p:tgtEl>
                                          <p:spTgt spid="2082"/>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2069"/>
                                        </p:tgtEl>
                                        <p:attrNameLst>
                                          <p:attrName>style.visibility</p:attrName>
                                        </p:attrNameLst>
                                      </p:cBhvr>
                                      <p:to>
                                        <p:strVal val="visible"/>
                                      </p:to>
                                    </p:set>
                                    <p:animEffect transition="in" filter="wipe(down)">
                                      <p:cBhvr>
                                        <p:cTn id="39" dur="500"/>
                                        <p:tgtEl>
                                          <p:spTgt spid="2069"/>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2071"/>
                                        </p:tgtEl>
                                        <p:attrNameLst>
                                          <p:attrName>style.visibility</p:attrName>
                                        </p:attrNameLst>
                                      </p:cBhvr>
                                      <p:to>
                                        <p:strVal val="visible"/>
                                      </p:to>
                                    </p:set>
                                    <p:animEffect transition="in" filter="wipe(down)">
                                      <p:cBhvr>
                                        <p:cTn id="42" dur="500"/>
                                        <p:tgtEl>
                                          <p:spTgt spid="207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down)">
                                      <p:cBhvr>
                                        <p:cTn id="47" dur="500"/>
                                        <p:tgtEl>
                                          <p:spTgt spid="3"/>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wipe(down)">
                                      <p:cBhvr>
                                        <p:cTn id="50" dur="500"/>
                                        <p:tgtEl>
                                          <p:spTgt spid="10"/>
                                        </p:tgtEl>
                                      </p:cBhvr>
                                    </p:animEffect>
                                  </p:childTnLst>
                                </p:cTn>
                              </p:par>
                              <p:par>
                                <p:cTn id="51" presetID="22" presetClass="entr" presetSubtype="4" fill="hold" nodeType="withEffect">
                                  <p:stCondLst>
                                    <p:cond delay="0"/>
                                  </p:stCondLst>
                                  <p:childTnLst>
                                    <p:set>
                                      <p:cBhvr>
                                        <p:cTn id="52" dur="1" fill="hold">
                                          <p:stCondLst>
                                            <p:cond delay="0"/>
                                          </p:stCondLst>
                                        </p:cTn>
                                        <p:tgtEl>
                                          <p:spTgt spid="2062"/>
                                        </p:tgtEl>
                                        <p:attrNameLst>
                                          <p:attrName>style.visibility</p:attrName>
                                        </p:attrNameLst>
                                      </p:cBhvr>
                                      <p:to>
                                        <p:strVal val="visible"/>
                                      </p:to>
                                    </p:set>
                                    <p:animEffect transition="in" filter="wipe(down)">
                                      <p:cBhvr>
                                        <p:cTn id="53" dur="500"/>
                                        <p:tgtEl>
                                          <p:spTgt spid="2062"/>
                                        </p:tgtEl>
                                      </p:cBhvr>
                                    </p:animEffect>
                                  </p:childTnLst>
                                </p:cTn>
                              </p:par>
                              <p:par>
                                <p:cTn id="54" presetID="22" presetClass="entr" presetSubtype="4" fill="hold" nodeType="withEffect">
                                  <p:stCondLst>
                                    <p:cond delay="0"/>
                                  </p:stCondLst>
                                  <p:childTnLst>
                                    <p:set>
                                      <p:cBhvr>
                                        <p:cTn id="55" dur="1" fill="hold">
                                          <p:stCondLst>
                                            <p:cond delay="0"/>
                                          </p:stCondLst>
                                        </p:cTn>
                                        <p:tgtEl>
                                          <p:spTgt spid="2060"/>
                                        </p:tgtEl>
                                        <p:attrNameLst>
                                          <p:attrName>style.visibility</p:attrName>
                                        </p:attrNameLst>
                                      </p:cBhvr>
                                      <p:to>
                                        <p:strVal val="visible"/>
                                      </p:to>
                                    </p:set>
                                    <p:animEffect transition="in" filter="wipe(down)">
                                      <p:cBhvr>
                                        <p:cTn id="56" dur="500"/>
                                        <p:tgtEl>
                                          <p:spTgt spid="2060"/>
                                        </p:tgtEl>
                                      </p:cBhvr>
                                    </p:animEffect>
                                  </p:childTnLst>
                                </p:cTn>
                              </p:par>
                              <p:par>
                                <p:cTn id="57" presetID="22" presetClass="entr" presetSubtype="4" fill="hold" grpId="0" nodeType="withEffect">
                                  <p:stCondLst>
                                    <p:cond delay="0"/>
                                  </p:stCondLst>
                                  <p:childTnLst>
                                    <p:set>
                                      <p:cBhvr>
                                        <p:cTn id="58" dur="1" fill="hold">
                                          <p:stCondLst>
                                            <p:cond delay="0"/>
                                          </p:stCondLst>
                                        </p:cTn>
                                        <p:tgtEl>
                                          <p:spTgt spid="2055"/>
                                        </p:tgtEl>
                                        <p:attrNameLst>
                                          <p:attrName>style.visibility</p:attrName>
                                        </p:attrNameLst>
                                      </p:cBhvr>
                                      <p:to>
                                        <p:strVal val="visible"/>
                                      </p:to>
                                    </p:set>
                                    <p:animEffect transition="in" filter="wipe(down)">
                                      <p:cBhvr>
                                        <p:cTn id="59" dur="500"/>
                                        <p:tgtEl>
                                          <p:spTgt spid="2055"/>
                                        </p:tgtEl>
                                      </p:cBhvr>
                                    </p:animEffect>
                                  </p:childTnLst>
                                </p:cTn>
                              </p:par>
                              <p:par>
                                <p:cTn id="60" presetID="22" presetClass="entr" presetSubtype="4" fill="hold" grpId="0" nodeType="withEffect">
                                  <p:stCondLst>
                                    <p:cond delay="0"/>
                                  </p:stCondLst>
                                  <p:childTnLst>
                                    <p:set>
                                      <p:cBhvr>
                                        <p:cTn id="61" dur="1" fill="hold">
                                          <p:stCondLst>
                                            <p:cond delay="0"/>
                                          </p:stCondLst>
                                        </p:cTn>
                                        <p:tgtEl>
                                          <p:spTgt spid="2056"/>
                                        </p:tgtEl>
                                        <p:attrNameLst>
                                          <p:attrName>style.visibility</p:attrName>
                                        </p:attrNameLst>
                                      </p:cBhvr>
                                      <p:to>
                                        <p:strVal val="visible"/>
                                      </p:to>
                                    </p:set>
                                    <p:animEffect transition="in" filter="wipe(down)">
                                      <p:cBhvr>
                                        <p:cTn id="62" dur="500"/>
                                        <p:tgtEl>
                                          <p:spTgt spid="205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2090"/>
                                        </p:tgtEl>
                                        <p:attrNameLst>
                                          <p:attrName>style.visibility</p:attrName>
                                        </p:attrNameLst>
                                      </p:cBhvr>
                                      <p:to>
                                        <p:strVal val="visible"/>
                                      </p:to>
                                    </p:set>
                                    <p:animEffect transition="in" filter="wipe(down)">
                                      <p:cBhvr>
                                        <p:cTn id="67" dur="500"/>
                                        <p:tgtEl>
                                          <p:spTgt spid="2090"/>
                                        </p:tgtEl>
                                      </p:cBhvr>
                                    </p:animEffect>
                                  </p:childTnLst>
                                </p:cTn>
                              </p:par>
                              <p:par>
                                <p:cTn id="68" presetID="22" presetClass="entr" presetSubtype="4" fill="hold" nodeType="withEffect">
                                  <p:stCondLst>
                                    <p:cond delay="0"/>
                                  </p:stCondLst>
                                  <p:childTnLst>
                                    <p:set>
                                      <p:cBhvr>
                                        <p:cTn id="69" dur="1" fill="hold">
                                          <p:stCondLst>
                                            <p:cond delay="0"/>
                                          </p:stCondLst>
                                        </p:cTn>
                                        <p:tgtEl>
                                          <p:spTgt spid="2092"/>
                                        </p:tgtEl>
                                        <p:attrNameLst>
                                          <p:attrName>style.visibility</p:attrName>
                                        </p:attrNameLst>
                                      </p:cBhvr>
                                      <p:to>
                                        <p:strVal val="visible"/>
                                      </p:to>
                                    </p:set>
                                    <p:animEffect transition="in" filter="wipe(down)">
                                      <p:cBhvr>
                                        <p:cTn id="70" dur="500"/>
                                        <p:tgtEl>
                                          <p:spTgt spid="2092"/>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11"/>
                                        </p:tgtEl>
                                        <p:attrNameLst>
                                          <p:attrName>style.visibility</p:attrName>
                                        </p:attrNameLst>
                                      </p:cBhvr>
                                      <p:to>
                                        <p:strVal val="visible"/>
                                      </p:to>
                                    </p:set>
                                    <p:animEffect transition="in" filter="wipe(down)">
                                      <p:cBhvr>
                                        <p:cTn id="73" dur="500"/>
                                        <p:tgtEl>
                                          <p:spTgt spid="11"/>
                                        </p:tgtEl>
                                      </p:cBhvr>
                                    </p:animEffect>
                                  </p:childTnLst>
                                </p:cTn>
                              </p:par>
                              <p:par>
                                <p:cTn id="74" presetID="22" presetClass="entr" presetSubtype="4" fill="hold" grpId="0" nodeType="withEffect">
                                  <p:stCondLst>
                                    <p:cond delay="0"/>
                                  </p:stCondLst>
                                  <p:childTnLst>
                                    <p:set>
                                      <p:cBhvr>
                                        <p:cTn id="75" dur="1" fill="hold">
                                          <p:stCondLst>
                                            <p:cond delay="0"/>
                                          </p:stCondLst>
                                        </p:cTn>
                                        <p:tgtEl>
                                          <p:spTgt spid="2"/>
                                        </p:tgtEl>
                                        <p:attrNameLst>
                                          <p:attrName>style.visibility</p:attrName>
                                        </p:attrNameLst>
                                      </p:cBhvr>
                                      <p:to>
                                        <p:strVal val="visible"/>
                                      </p:to>
                                    </p:set>
                                    <p:animEffect transition="in" filter="wipe(down)">
                                      <p:cBhvr>
                                        <p:cTn id="76" dur="500"/>
                                        <p:tgtEl>
                                          <p:spTgt spid="2"/>
                                        </p:tgtEl>
                                      </p:cBhvr>
                                    </p:animEffect>
                                  </p:childTnLst>
                                </p:cTn>
                              </p:par>
                              <p:par>
                                <p:cTn id="77" presetID="22" presetClass="entr" presetSubtype="4" fill="hold" grpId="0" nodeType="withEffect">
                                  <p:stCondLst>
                                    <p:cond delay="0"/>
                                  </p:stCondLst>
                                  <p:childTnLst>
                                    <p:set>
                                      <p:cBhvr>
                                        <p:cTn id="78" dur="1" fill="hold">
                                          <p:stCondLst>
                                            <p:cond delay="0"/>
                                          </p:stCondLst>
                                        </p:cTn>
                                        <p:tgtEl>
                                          <p:spTgt spid="2078"/>
                                        </p:tgtEl>
                                        <p:attrNameLst>
                                          <p:attrName>style.visibility</p:attrName>
                                        </p:attrNameLst>
                                      </p:cBhvr>
                                      <p:to>
                                        <p:strVal val="visible"/>
                                      </p:to>
                                    </p:set>
                                    <p:animEffect transition="in" filter="wipe(down)">
                                      <p:cBhvr>
                                        <p:cTn id="79" dur="500"/>
                                        <p:tgtEl>
                                          <p:spTgt spid="2078"/>
                                        </p:tgtEl>
                                      </p:cBhvr>
                                    </p:animEffect>
                                  </p:childTnLst>
                                </p:cTn>
                              </p:par>
                              <p:par>
                                <p:cTn id="80" presetID="22" presetClass="entr" presetSubtype="4" fill="hold" grpId="0" nodeType="withEffect">
                                  <p:stCondLst>
                                    <p:cond delay="0"/>
                                  </p:stCondLst>
                                  <p:childTnLst>
                                    <p:set>
                                      <p:cBhvr>
                                        <p:cTn id="81" dur="1" fill="hold">
                                          <p:stCondLst>
                                            <p:cond delay="0"/>
                                          </p:stCondLst>
                                        </p:cTn>
                                        <p:tgtEl>
                                          <p:spTgt spid="2077"/>
                                        </p:tgtEl>
                                        <p:attrNameLst>
                                          <p:attrName>style.visibility</p:attrName>
                                        </p:attrNameLst>
                                      </p:cBhvr>
                                      <p:to>
                                        <p:strVal val="visible"/>
                                      </p:to>
                                    </p:set>
                                    <p:animEffect transition="in" filter="wipe(down)">
                                      <p:cBhvr>
                                        <p:cTn id="82" dur="500"/>
                                        <p:tgtEl>
                                          <p:spTgt spid="20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7" grpId="0"/>
      <p:bldP spid="8" grpId="0"/>
      <p:bldP spid="10" grpId="0"/>
      <p:bldP spid="11" grpId="0"/>
      <p:bldP spid="31" grpId="0" animBg="1"/>
      <p:bldP spid="2048" grpId="0" animBg="1"/>
      <p:bldP spid="2055" grpId="0" animBg="1"/>
      <p:bldP spid="2056" grpId="0" animBg="1"/>
      <p:bldP spid="2069" grpId="0" animBg="1"/>
      <p:bldP spid="2071" grpId="0" animBg="1"/>
      <p:bldP spid="2077" grpId="0" animBg="1"/>
      <p:bldP spid="207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4D5CF6-A99B-47FF-A447-1036B1BC2ABF}"/>
              </a:ext>
            </a:extLst>
          </p:cNvPr>
          <p:cNvSpPr/>
          <p:nvPr/>
        </p:nvSpPr>
        <p:spPr>
          <a:xfrm>
            <a:off x="7353119" y="4624932"/>
            <a:ext cx="7144683" cy="3582046"/>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Rectangle 2">
            <a:extLst>
              <a:ext uri="{FF2B5EF4-FFF2-40B4-BE49-F238E27FC236}">
                <a16:creationId xmlns:a16="http://schemas.microsoft.com/office/drawing/2014/main" id="{DE48F6F1-074A-4415-B481-9E38456FE8C3}"/>
              </a:ext>
            </a:extLst>
          </p:cNvPr>
          <p:cNvSpPr/>
          <p:nvPr/>
        </p:nvSpPr>
        <p:spPr>
          <a:xfrm>
            <a:off x="86959" y="4624932"/>
            <a:ext cx="7128546" cy="3582046"/>
          </a:xfrm>
          <a:prstGeom prst="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Rectangle 3">
            <a:extLst>
              <a:ext uri="{FF2B5EF4-FFF2-40B4-BE49-F238E27FC236}">
                <a16:creationId xmlns:a16="http://schemas.microsoft.com/office/drawing/2014/main" id="{0EC618E1-85FF-42EE-BB4C-0607D3865CFF}"/>
              </a:ext>
            </a:extLst>
          </p:cNvPr>
          <p:cNvSpPr/>
          <p:nvPr/>
        </p:nvSpPr>
        <p:spPr>
          <a:xfrm>
            <a:off x="7353119" y="449850"/>
            <a:ext cx="7160821" cy="3653000"/>
          </a:xfrm>
          <a:prstGeom prst="rect">
            <a:avLst/>
          </a:prstGeom>
          <a:solidFill>
            <a:schemeClr val="tx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4">
            <a:extLst>
              <a:ext uri="{FF2B5EF4-FFF2-40B4-BE49-F238E27FC236}">
                <a16:creationId xmlns:a16="http://schemas.microsoft.com/office/drawing/2014/main" id="{925149B4-F706-407B-8A02-ECE5C94E04E1}"/>
              </a:ext>
            </a:extLst>
          </p:cNvPr>
          <p:cNvSpPr/>
          <p:nvPr/>
        </p:nvSpPr>
        <p:spPr>
          <a:xfrm>
            <a:off x="132595" y="461984"/>
            <a:ext cx="7047732" cy="3624736"/>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D1F9BFEF-3142-44C6-BFBE-87A57E7388C2}"/>
              </a:ext>
            </a:extLst>
          </p:cNvPr>
          <p:cNvSpPr txBox="1"/>
          <p:nvPr/>
        </p:nvSpPr>
        <p:spPr>
          <a:xfrm>
            <a:off x="4081181" y="-49469"/>
            <a:ext cx="6543876" cy="523220"/>
          </a:xfrm>
          <a:prstGeom prst="rect">
            <a:avLst/>
          </a:prstGeom>
          <a:noFill/>
        </p:spPr>
        <p:txBody>
          <a:bodyPr wrap="square" rtlCol="0">
            <a:spAutoFit/>
          </a:bodyPr>
          <a:lstStyle/>
          <a:p>
            <a:r>
              <a:rPr lang="en-US" sz="2800" b="1" u="sng" dirty="0">
                <a:latin typeface="Times New Roman" panose="02020603050405020304" pitchFamily="18" charset="0"/>
                <a:cs typeface="Times New Roman" panose="02020603050405020304" pitchFamily="18" charset="0"/>
              </a:rPr>
              <a:t>SHUNT POSITIVE CLIPPER CIRCUIT</a:t>
            </a:r>
            <a:endParaRPr lang="en-IN" sz="2800" b="1" u="sng"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C0BCD53-C303-40A4-A1DB-5BC608DFD1F7}"/>
              </a:ext>
            </a:extLst>
          </p:cNvPr>
          <p:cNvSpPr txBox="1"/>
          <p:nvPr/>
        </p:nvSpPr>
        <p:spPr>
          <a:xfrm>
            <a:off x="2108063" y="449958"/>
            <a:ext cx="2571750" cy="400110"/>
          </a:xfrm>
          <a:prstGeom prst="rect">
            <a:avLst/>
          </a:prstGeom>
          <a:noFill/>
        </p:spPr>
        <p:txBody>
          <a:bodyPr wrap="square" rtlCol="0">
            <a:spAutoFit/>
          </a:bodyPr>
          <a:lstStyle/>
          <a:p>
            <a:r>
              <a:rPr lang="en-US" sz="2000" u="sng" dirty="0"/>
              <a:t>UNBIASED CONDITION</a:t>
            </a:r>
            <a:endParaRPr lang="en-IN" sz="2000" u="sng" dirty="0"/>
          </a:p>
        </p:txBody>
      </p:sp>
      <p:sp>
        <p:nvSpPr>
          <p:cNvPr id="8" name="Rectangle 7">
            <a:extLst>
              <a:ext uri="{FF2B5EF4-FFF2-40B4-BE49-F238E27FC236}">
                <a16:creationId xmlns:a16="http://schemas.microsoft.com/office/drawing/2014/main" id="{2B05E962-479A-4D60-8489-E6C730A6920C}"/>
              </a:ext>
            </a:extLst>
          </p:cNvPr>
          <p:cNvSpPr/>
          <p:nvPr/>
        </p:nvSpPr>
        <p:spPr>
          <a:xfrm>
            <a:off x="9988670" y="501061"/>
            <a:ext cx="2210220" cy="400110"/>
          </a:xfrm>
          <a:prstGeom prst="rect">
            <a:avLst/>
          </a:prstGeom>
        </p:spPr>
        <p:txBody>
          <a:bodyPr wrap="none">
            <a:spAutoFit/>
          </a:bodyPr>
          <a:lstStyle/>
          <a:p>
            <a:r>
              <a:rPr lang="en-US" sz="2000" u="sng" dirty="0"/>
              <a:t>BIASED CONDITION</a:t>
            </a:r>
            <a:endParaRPr lang="en-IN" sz="2000" u="sng" dirty="0"/>
          </a:p>
        </p:txBody>
      </p:sp>
      <p:sp>
        <p:nvSpPr>
          <p:cNvPr id="9" name="TextBox 8">
            <a:extLst>
              <a:ext uri="{FF2B5EF4-FFF2-40B4-BE49-F238E27FC236}">
                <a16:creationId xmlns:a16="http://schemas.microsoft.com/office/drawing/2014/main" id="{810E663B-6F97-4679-8A77-9DCF2025AF4C}"/>
              </a:ext>
            </a:extLst>
          </p:cNvPr>
          <p:cNvSpPr txBox="1"/>
          <p:nvPr/>
        </p:nvSpPr>
        <p:spPr>
          <a:xfrm>
            <a:off x="3884582" y="4128299"/>
            <a:ext cx="6748147" cy="523220"/>
          </a:xfrm>
          <a:prstGeom prst="rect">
            <a:avLst/>
          </a:prstGeom>
          <a:noFill/>
        </p:spPr>
        <p:txBody>
          <a:bodyPr wrap="square" rtlCol="0">
            <a:spAutoFit/>
          </a:bodyPr>
          <a:lstStyle/>
          <a:p>
            <a:r>
              <a:rPr lang="en-US" sz="2800" b="1" u="sng" dirty="0">
                <a:latin typeface="Times New Roman" panose="02020603050405020304" pitchFamily="18" charset="0"/>
                <a:cs typeface="Times New Roman" panose="02020603050405020304" pitchFamily="18" charset="0"/>
              </a:rPr>
              <a:t>SHUNT NEGATIVE CLIPPER CIRCUIT</a:t>
            </a:r>
            <a:endParaRPr lang="en-IN" sz="2800" b="1" u="sng"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9D1AB0E-87E5-4FE0-868B-9A3A9F0388A5}"/>
              </a:ext>
            </a:extLst>
          </p:cNvPr>
          <p:cNvSpPr txBox="1"/>
          <p:nvPr/>
        </p:nvSpPr>
        <p:spPr>
          <a:xfrm>
            <a:off x="1889734" y="4670666"/>
            <a:ext cx="2571750" cy="400110"/>
          </a:xfrm>
          <a:prstGeom prst="rect">
            <a:avLst/>
          </a:prstGeom>
          <a:noFill/>
        </p:spPr>
        <p:txBody>
          <a:bodyPr wrap="square" rtlCol="0">
            <a:spAutoFit/>
          </a:bodyPr>
          <a:lstStyle/>
          <a:p>
            <a:r>
              <a:rPr lang="en-US" sz="2000" u="sng" dirty="0"/>
              <a:t>UNBIASED CONDITION</a:t>
            </a:r>
            <a:endParaRPr lang="en-IN" sz="2000" u="sng" dirty="0"/>
          </a:p>
        </p:txBody>
      </p:sp>
      <p:sp>
        <p:nvSpPr>
          <p:cNvPr id="11" name="Rectangle 10">
            <a:extLst>
              <a:ext uri="{FF2B5EF4-FFF2-40B4-BE49-F238E27FC236}">
                <a16:creationId xmlns:a16="http://schemas.microsoft.com/office/drawing/2014/main" id="{8795BBB3-ADB4-4AAA-90A9-7C0F5A79C89D}"/>
              </a:ext>
            </a:extLst>
          </p:cNvPr>
          <p:cNvSpPr/>
          <p:nvPr/>
        </p:nvSpPr>
        <p:spPr>
          <a:xfrm>
            <a:off x="9836784" y="4649080"/>
            <a:ext cx="2085379" cy="400110"/>
          </a:xfrm>
          <a:prstGeom prst="rect">
            <a:avLst/>
          </a:prstGeom>
        </p:spPr>
        <p:txBody>
          <a:bodyPr wrap="none">
            <a:spAutoFit/>
          </a:bodyPr>
          <a:lstStyle/>
          <a:p>
            <a:r>
              <a:rPr lang="en-US" sz="2000" u="sng" dirty="0"/>
              <a:t>BIASED</a:t>
            </a:r>
            <a:r>
              <a:rPr lang="en-US" u="sng" dirty="0"/>
              <a:t> CONDITION</a:t>
            </a:r>
            <a:endParaRPr lang="en-IN" u="sng" dirty="0"/>
          </a:p>
        </p:txBody>
      </p:sp>
      <p:sp>
        <p:nvSpPr>
          <p:cNvPr id="29" name="Rectangle 6">
            <a:extLst>
              <a:ext uri="{FF2B5EF4-FFF2-40B4-BE49-F238E27FC236}">
                <a16:creationId xmlns:a16="http://schemas.microsoft.com/office/drawing/2014/main" id="{9D53BF50-A54B-4CD3-8922-4A6FB82EA138}"/>
              </a:ext>
            </a:extLst>
          </p:cNvPr>
          <p:cNvSpPr>
            <a:spLocks noChangeArrowheads="1"/>
          </p:cNvSpPr>
          <p:nvPr/>
        </p:nvSpPr>
        <p:spPr bwMode="auto">
          <a:xfrm>
            <a:off x="15196900" y="5558698"/>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sp>
        <p:nvSpPr>
          <p:cNvPr id="30" name="Rectangle 8">
            <a:extLst>
              <a:ext uri="{FF2B5EF4-FFF2-40B4-BE49-F238E27FC236}">
                <a16:creationId xmlns:a16="http://schemas.microsoft.com/office/drawing/2014/main" id="{6414CED6-7F66-43A5-BD2A-0277797B5668}"/>
              </a:ext>
            </a:extLst>
          </p:cNvPr>
          <p:cNvSpPr>
            <a:spLocks noChangeArrowheads="1"/>
          </p:cNvSpPr>
          <p:nvPr/>
        </p:nvSpPr>
        <p:spPr bwMode="auto">
          <a:xfrm>
            <a:off x="15196900" y="6898548"/>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pic>
        <p:nvPicPr>
          <p:cNvPr id="3086" name="Picture 45">
            <a:extLst>
              <a:ext uri="{FF2B5EF4-FFF2-40B4-BE49-F238E27FC236}">
                <a16:creationId xmlns:a16="http://schemas.microsoft.com/office/drawing/2014/main" id="{06515C1D-6F39-427C-BE21-2E1903C91A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0126" t="31419" r="21265" b="7060"/>
          <a:stretch>
            <a:fillRect/>
          </a:stretch>
        </p:blipFill>
        <p:spPr bwMode="auto">
          <a:xfrm>
            <a:off x="2576078" y="850068"/>
            <a:ext cx="4521496" cy="2651619"/>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47">
            <a:extLst>
              <a:ext uri="{FF2B5EF4-FFF2-40B4-BE49-F238E27FC236}">
                <a16:creationId xmlns:a16="http://schemas.microsoft.com/office/drawing/2014/main" id="{56D93637-EC2B-4916-A43C-7F635C8C34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902" t="2812" r="3716" b="17374"/>
          <a:stretch>
            <a:fillRect/>
          </a:stretch>
        </p:blipFill>
        <p:spPr bwMode="auto">
          <a:xfrm>
            <a:off x="196713" y="850068"/>
            <a:ext cx="2237638" cy="2651619"/>
          </a:xfrm>
          <a:prstGeom prst="rect">
            <a:avLst/>
          </a:prstGeom>
          <a:noFill/>
          <a:extLst>
            <a:ext uri="{909E8E84-426E-40DD-AFC4-6F175D3DCCD1}">
              <a14:hiddenFill xmlns:a14="http://schemas.microsoft.com/office/drawing/2010/main">
                <a:solidFill>
                  <a:srgbClr val="FFFFFF"/>
                </a:solidFill>
              </a14:hiddenFill>
            </a:ext>
          </a:extLst>
        </p:spPr>
      </p:pic>
      <p:sp>
        <p:nvSpPr>
          <p:cNvPr id="3079" name="Text Box 2">
            <a:extLst>
              <a:ext uri="{FF2B5EF4-FFF2-40B4-BE49-F238E27FC236}">
                <a16:creationId xmlns:a16="http://schemas.microsoft.com/office/drawing/2014/main" id="{8045EC10-8EB6-4942-839C-EAAA9D472866}"/>
              </a:ext>
            </a:extLst>
          </p:cNvPr>
          <p:cNvSpPr txBox="1">
            <a:spLocks noChangeArrowheads="1"/>
          </p:cNvSpPr>
          <p:nvPr/>
        </p:nvSpPr>
        <p:spPr bwMode="auto">
          <a:xfrm>
            <a:off x="184731" y="3597834"/>
            <a:ext cx="2219325" cy="341121"/>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1" u="sng"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Fig.5.1: Circuit Diagram</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080" name="Text Box 43">
            <a:extLst>
              <a:ext uri="{FF2B5EF4-FFF2-40B4-BE49-F238E27FC236}">
                <a16:creationId xmlns:a16="http://schemas.microsoft.com/office/drawing/2014/main" id="{689C198C-D163-425D-9679-7E66F73586F8}"/>
              </a:ext>
            </a:extLst>
          </p:cNvPr>
          <p:cNvSpPr txBox="1">
            <a:spLocks noChangeArrowheads="1"/>
          </p:cNvSpPr>
          <p:nvPr/>
        </p:nvSpPr>
        <p:spPr bwMode="auto">
          <a:xfrm>
            <a:off x="2551826" y="3585938"/>
            <a:ext cx="4545748" cy="390013"/>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1" u="sng"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Fig.5.2: Corresponding Input and Output Waveform</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081" name="Rectangle 15">
            <a:extLst>
              <a:ext uri="{FF2B5EF4-FFF2-40B4-BE49-F238E27FC236}">
                <a16:creationId xmlns:a16="http://schemas.microsoft.com/office/drawing/2014/main" id="{ED5C8F16-AECF-43F1-B15A-A03750433874}"/>
              </a:ext>
            </a:extLst>
          </p:cNvPr>
          <p:cNvSpPr>
            <a:spLocks noChangeArrowheads="1"/>
          </p:cNvSpPr>
          <p:nvPr/>
        </p:nvSpPr>
        <p:spPr bwMode="auto">
          <a:xfrm>
            <a:off x="0" y="0"/>
            <a:ext cx="1463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082" name="Rectangle 16">
            <a:extLst>
              <a:ext uri="{FF2B5EF4-FFF2-40B4-BE49-F238E27FC236}">
                <a16:creationId xmlns:a16="http://schemas.microsoft.com/office/drawing/2014/main" id="{35A5ACFE-DAC5-4B3C-B595-27764597867A}"/>
              </a:ext>
            </a:extLst>
          </p:cNvPr>
          <p:cNvSpPr>
            <a:spLocks noChangeArrowheads="1"/>
          </p:cNvSpPr>
          <p:nvPr/>
        </p:nvSpPr>
        <p:spPr bwMode="auto">
          <a:xfrm>
            <a:off x="0" y="457200"/>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sp>
        <p:nvSpPr>
          <p:cNvPr id="3083" name="Rectangle 18">
            <a:extLst>
              <a:ext uri="{FF2B5EF4-FFF2-40B4-BE49-F238E27FC236}">
                <a16:creationId xmlns:a16="http://schemas.microsoft.com/office/drawing/2014/main" id="{BED4B41F-1FD8-4A87-8DF6-303BA937D3F9}"/>
              </a:ext>
            </a:extLst>
          </p:cNvPr>
          <p:cNvSpPr>
            <a:spLocks noChangeArrowheads="1"/>
          </p:cNvSpPr>
          <p:nvPr/>
        </p:nvSpPr>
        <p:spPr bwMode="auto">
          <a:xfrm>
            <a:off x="0" y="1803400"/>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sp>
        <p:nvSpPr>
          <p:cNvPr id="3085" name="Rectangle 20">
            <a:extLst>
              <a:ext uri="{FF2B5EF4-FFF2-40B4-BE49-F238E27FC236}">
                <a16:creationId xmlns:a16="http://schemas.microsoft.com/office/drawing/2014/main" id="{8804E5BA-CB8B-4BD9-8855-1BC951A390DD}"/>
              </a:ext>
            </a:extLst>
          </p:cNvPr>
          <p:cNvSpPr>
            <a:spLocks noChangeArrowheads="1"/>
          </p:cNvSpPr>
          <p:nvPr/>
        </p:nvSpPr>
        <p:spPr bwMode="auto">
          <a:xfrm>
            <a:off x="0" y="2891652"/>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096" name="Picture 55">
            <a:extLst>
              <a:ext uri="{FF2B5EF4-FFF2-40B4-BE49-F238E27FC236}">
                <a16:creationId xmlns:a16="http://schemas.microsoft.com/office/drawing/2014/main" id="{34B2F659-D503-4C1A-8A38-3C4C2B347D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43" t="31735" r="20901" b="7175"/>
          <a:stretch>
            <a:fillRect/>
          </a:stretch>
        </p:blipFill>
        <p:spPr bwMode="auto">
          <a:xfrm>
            <a:off x="2459399" y="5085966"/>
            <a:ext cx="4662759" cy="2626376"/>
          </a:xfrm>
          <a:prstGeom prst="rect">
            <a:avLst/>
          </a:prstGeom>
          <a:noFill/>
          <a:extLst>
            <a:ext uri="{909E8E84-426E-40DD-AFC4-6F175D3DCCD1}">
              <a14:hiddenFill xmlns:a14="http://schemas.microsoft.com/office/drawing/2010/main">
                <a:solidFill>
                  <a:srgbClr val="FFFFFF"/>
                </a:solidFill>
              </a14:hiddenFill>
            </a:ext>
          </a:extLst>
        </p:spPr>
      </p:pic>
      <p:pic>
        <p:nvPicPr>
          <p:cNvPr id="3094" name="Picture 54">
            <a:extLst>
              <a:ext uri="{FF2B5EF4-FFF2-40B4-BE49-F238E27FC236}">
                <a16:creationId xmlns:a16="http://schemas.microsoft.com/office/drawing/2014/main" id="{BA495401-303D-4BE8-ADA7-0CCBFD43E9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7851" t="6596" r="15161" b="15730"/>
          <a:stretch>
            <a:fillRect/>
          </a:stretch>
        </p:blipFill>
        <p:spPr bwMode="auto">
          <a:xfrm>
            <a:off x="197582" y="5070776"/>
            <a:ext cx="2122420" cy="2633172"/>
          </a:xfrm>
          <a:prstGeom prst="rect">
            <a:avLst/>
          </a:prstGeom>
          <a:noFill/>
          <a:extLst>
            <a:ext uri="{909E8E84-426E-40DD-AFC4-6F175D3DCCD1}">
              <a14:hiddenFill xmlns:a14="http://schemas.microsoft.com/office/drawing/2010/main">
                <a:solidFill>
                  <a:srgbClr val="FFFFFF"/>
                </a:solidFill>
              </a14:hiddenFill>
            </a:ext>
          </a:extLst>
        </p:spPr>
      </p:pic>
      <p:sp>
        <p:nvSpPr>
          <p:cNvPr id="3087" name="Text Box 52">
            <a:extLst>
              <a:ext uri="{FF2B5EF4-FFF2-40B4-BE49-F238E27FC236}">
                <a16:creationId xmlns:a16="http://schemas.microsoft.com/office/drawing/2014/main" id="{3D245D1A-8BDD-4446-9B91-36E3E8713171}"/>
              </a:ext>
            </a:extLst>
          </p:cNvPr>
          <p:cNvSpPr txBox="1">
            <a:spLocks noChangeArrowheads="1"/>
          </p:cNvSpPr>
          <p:nvPr/>
        </p:nvSpPr>
        <p:spPr bwMode="auto">
          <a:xfrm>
            <a:off x="204594" y="7779642"/>
            <a:ext cx="2137785" cy="365560"/>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1"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Fig.7.1: Circuit Diagram</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088" name="Text Box 53">
            <a:extLst>
              <a:ext uri="{FF2B5EF4-FFF2-40B4-BE49-F238E27FC236}">
                <a16:creationId xmlns:a16="http://schemas.microsoft.com/office/drawing/2014/main" id="{875F1A65-FC93-43D7-BA22-946E47452C57}"/>
              </a:ext>
            </a:extLst>
          </p:cNvPr>
          <p:cNvSpPr txBox="1">
            <a:spLocks noChangeArrowheads="1"/>
          </p:cNvSpPr>
          <p:nvPr/>
        </p:nvSpPr>
        <p:spPr bwMode="auto">
          <a:xfrm>
            <a:off x="2454785" y="7791864"/>
            <a:ext cx="4667374" cy="31243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1"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Fig.7.2: Corresponding Input and Output Waveform</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089" name="Rectangle 25">
            <a:extLst>
              <a:ext uri="{FF2B5EF4-FFF2-40B4-BE49-F238E27FC236}">
                <a16:creationId xmlns:a16="http://schemas.microsoft.com/office/drawing/2014/main" id="{C33A9577-B122-4CC1-A8E4-F4CB1DF58C63}"/>
              </a:ext>
            </a:extLst>
          </p:cNvPr>
          <p:cNvSpPr>
            <a:spLocks noChangeArrowheads="1"/>
          </p:cNvSpPr>
          <p:nvPr/>
        </p:nvSpPr>
        <p:spPr bwMode="auto">
          <a:xfrm>
            <a:off x="192904" y="4693098"/>
            <a:ext cx="1463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090" name="Rectangle 26">
            <a:extLst>
              <a:ext uri="{FF2B5EF4-FFF2-40B4-BE49-F238E27FC236}">
                <a16:creationId xmlns:a16="http://schemas.microsoft.com/office/drawing/2014/main" id="{1A65BF67-5A94-4BF6-98C9-72901B387974}"/>
              </a:ext>
            </a:extLst>
          </p:cNvPr>
          <p:cNvSpPr>
            <a:spLocks noChangeArrowheads="1"/>
          </p:cNvSpPr>
          <p:nvPr/>
        </p:nvSpPr>
        <p:spPr bwMode="auto">
          <a:xfrm>
            <a:off x="192904" y="5150298"/>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sp>
        <p:nvSpPr>
          <p:cNvPr id="3091" name="Rectangle 28">
            <a:extLst>
              <a:ext uri="{FF2B5EF4-FFF2-40B4-BE49-F238E27FC236}">
                <a16:creationId xmlns:a16="http://schemas.microsoft.com/office/drawing/2014/main" id="{793E56E8-C7D1-4B56-AE89-504E0A2E669D}"/>
              </a:ext>
            </a:extLst>
          </p:cNvPr>
          <p:cNvSpPr>
            <a:spLocks noChangeArrowheads="1"/>
          </p:cNvSpPr>
          <p:nvPr/>
        </p:nvSpPr>
        <p:spPr bwMode="auto">
          <a:xfrm>
            <a:off x="192904" y="6477448"/>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pic>
        <p:nvPicPr>
          <p:cNvPr id="2052" name="Picture 58">
            <a:extLst>
              <a:ext uri="{FF2B5EF4-FFF2-40B4-BE49-F238E27FC236}">
                <a16:creationId xmlns:a16="http://schemas.microsoft.com/office/drawing/2014/main" id="{4989431C-72D0-4AEC-94AA-A30B0359B97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174" t="31104" r="21080" b="6935"/>
          <a:stretch>
            <a:fillRect/>
          </a:stretch>
        </p:blipFill>
        <p:spPr bwMode="auto">
          <a:xfrm>
            <a:off x="9933613" y="995833"/>
            <a:ext cx="4479878" cy="241348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59">
            <a:extLst>
              <a:ext uri="{FF2B5EF4-FFF2-40B4-BE49-F238E27FC236}">
                <a16:creationId xmlns:a16="http://schemas.microsoft.com/office/drawing/2014/main" id="{DCE1DF3B-C802-42D7-BB7F-530508DCE8C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r="10226" b="7416"/>
          <a:stretch>
            <a:fillRect/>
          </a:stretch>
        </p:blipFill>
        <p:spPr bwMode="auto">
          <a:xfrm>
            <a:off x="7428429" y="991510"/>
            <a:ext cx="2332392" cy="2413486"/>
          </a:xfrm>
          <a:prstGeom prst="rect">
            <a:avLst/>
          </a:prstGeom>
          <a:noFill/>
          <a:extLst>
            <a:ext uri="{909E8E84-426E-40DD-AFC4-6F175D3DCCD1}">
              <a14:hiddenFill xmlns:a14="http://schemas.microsoft.com/office/drawing/2010/main">
                <a:solidFill>
                  <a:srgbClr val="FFFFFF"/>
                </a:solidFill>
              </a14:hiddenFill>
            </a:ext>
          </a:extLst>
        </p:spPr>
      </p:pic>
      <p:sp>
        <p:nvSpPr>
          <p:cNvPr id="12" name="Text Box 56">
            <a:extLst>
              <a:ext uri="{FF2B5EF4-FFF2-40B4-BE49-F238E27FC236}">
                <a16:creationId xmlns:a16="http://schemas.microsoft.com/office/drawing/2014/main" id="{E3FDC770-2F1D-4C54-9216-AEEA4625274D}"/>
              </a:ext>
            </a:extLst>
          </p:cNvPr>
          <p:cNvSpPr txBox="1">
            <a:spLocks noChangeArrowheads="1"/>
          </p:cNvSpPr>
          <p:nvPr/>
        </p:nvSpPr>
        <p:spPr bwMode="auto">
          <a:xfrm>
            <a:off x="7424195" y="3651638"/>
            <a:ext cx="2336627" cy="37770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1"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Fig.6.1: Circuit Diagram</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3" name="Text Box 57">
            <a:extLst>
              <a:ext uri="{FF2B5EF4-FFF2-40B4-BE49-F238E27FC236}">
                <a16:creationId xmlns:a16="http://schemas.microsoft.com/office/drawing/2014/main" id="{ECC205CB-53AA-4968-A1C2-642C41A9A7B7}"/>
              </a:ext>
            </a:extLst>
          </p:cNvPr>
          <p:cNvSpPr txBox="1">
            <a:spLocks noChangeArrowheads="1"/>
          </p:cNvSpPr>
          <p:nvPr/>
        </p:nvSpPr>
        <p:spPr bwMode="auto">
          <a:xfrm>
            <a:off x="9922488" y="3651638"/>
            <a:ext cx="4491003" cy="37770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1"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Fig.6.2: Corresponding Input and Output Waveform</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4" name="Rectangle 5">
            <a:extLst>
              <a:ext uri="{FF2B5EF4-FFF2-40B4-BE49-F238E27FC236}">
                <a16:creationId xmlns:a16="http://schemas.microsoft.com/office/drawing/2014/main" id="{C175C8CD-6C92-48EB-8115-AA139F9F90D2}"/>
              </a:ext>
            </a:extLst>
          </p:cNvPr>
          <p:cNvSpPr>
            <a:spLocks noChangeArrowheads="1"/>
          </p:cNvSpPr>
          <p:nvPr/>
        </p:nvSpPr>
        <p:spPr bwMode="auto">
          <a:xfrm>
            <a:off x="8156022" y="916251"/>
            <a:ext cx="547835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16" name="Rectangle 8">
            <a:extLst>
              <a:ext uri="{FF2B5EF4-FFF2-40B4-BE49-F238E27FC236}">
                <a16:creationId xmlns:a16="http://schemas.microsoft.com/office/drawing/2014/main" id="{2013D07A-7170-421D-AC45-4E41D4F6AFC2}"/>
              </a:ext>
            </a:extLst>
          </p:cNvPr>
          <p:cNvSpPr>
            <a:spLocks noChangeArrowheads="1"/>
          </p:cNvSpPr>
          <p:nvPr/>
        </p:nvSpPr>
        <p:spPr bwMode="auto">
          <a:xfrm>
            <a:off x="8156022" y="2713300"/>
            <a:ext cx="547835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2074" name="Picture 62">
            <a:extLst>
              <a:ext uri="{FF2B5EF4-FFF2-40B4-BE49-F238E27FC236}">
                <a16:creationId xmlns:a16="http://schemas.microsoft.com/office/drawing/2014/main" id="{75331949-F140-4F7C-B0DE-80BCDCCC6DD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l="163" t="31284" r="21201" b="7484"/>
          <a:stretch>
            <a:fillRect/>
          </a:stretch>
        </p:blipFill>
        <p:spPr bwMode="auto">
          <a:xfrm>
            <a:off x="9944653" y="5070776"/>
            <a:ext cx="4459359" cy="2628096"/>
          </a:xfrm>
          <a:prstGeom prst="rect">
            <a:avLst/>
          </a:prstGeom>
          <a:noFill/>
          <a:extLst>
            <a:ext uri="{909E8E84-426E-40DD-AFC4-6F175D3DCCD1}">
              <a14:hiddenFill xmlns:a14="http://schemas.microsoft.com/office/drawing/2010/main">
                <a:solidFill>
                  <a:srgbClr val="FFFFFF"/>
                </a:solidFill>
              </a14:hiddenFill>
            </a:ext>
          </a:extLst>
        </p:spPr>
      </p:pic>
      <p:pic>
        <p:nvPicPr>
          <p:cNvPr id="2072" name="Picture 64">
            <a:extLst>
              <a:ext uri="{FF2B5EF4-FFF2-40B4-BE49-F238E27FC236}">
                <a16:creationId xmlns:a16="http://schemas.microsoft.com/office/drawing/2014/main" id="{82C72D01-F78D-4D1E-BF79-EEB4753F5F5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l="4819" t="3806" r="8095" b="8041"/>
          <a:stretch>
            <a:fillRect/>
          </a:stretch>
        </p:blipFill>
        <p:spPr bwMode="auto">
          <a:xfrm>
            <a:off x="7489576" y="5049190"/>
            <a:ext cx="2306421" cy="2654758"/>
          </a:xfrm>
          <a:prstGeom prst="rect">
            <a:avLst/>
          </a:prstGeom>
          <a:noFill/>
          <a:extLst>
            <a:ext uri="{909E8E84-426E-40DD-AFC4-6F175D3DCCD1}">
              <a14:hiddenFill xmlns:a14="http://schemas.microsoft.com/office/drawing/2010/main">
                <a:solidFill>
                  <a:srgbClr val="FFFFFF"/>
                </a:solidFill>
              </a14:hiddenFill>
            </a:ext>
          </a:extLst>
        </p:spPr>
      </p:pic>
      <p:sp>
        <p:nvSpPr>
          <p:cNvPr id="2054" name="Text Box 60">
            <a:extLst>
              <a:ext uri="{FF2B5EF4-FFF2-40B4-BE49-F238E27FC236}">
                <a16:creationId xmlns:a16="http://schemas.microsoft.com/office/drawing/2014/main" id="{BB3AB3A0-7E3E-4B28-85D3-2A0FB82DBE70}"/>
              </a:ext>
            </a:extLst>
          </p:cNvPr>
          <p:cNvSpPr txBox="1">
            <a:spLocks noChangeArrowheads="1"/>
          </p:cNvSpPr>
          <p:nvPr/>
        </p:nvSpPr>
        <p:spPr bwMode="auto">
          <a:xfrm>
            <a:off x="9933613" y="7808569"/>
            <a:ext cx="4470400" cy="34732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1"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Fig.8.2: Corresponding Input and Output Waveform</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055" name="Text Box 63">
            <a:extLst>
              <a:ext uri="{FF2B5EF4-FFF2-40B4-BE49-F238E27FC236}">
                <a16:creationId xmlns:a16="http://schemas.microsoft.com/office/drawing/2014/main" id="{8293E707-45A4-44BE-83E1-34A99B3DE0C1}"/>
              </a:ext>
            </a:extLst>
          </p:cNvPr>
          <p:cNvSpPr txBox="1">
            <a:spLocks noChangeArrowheads="1"/>
          </p:cNvSpPr>
          <p:nvPr/>
        </p:nvSpPr>
        <p:spPr bwMode="auto">
          <a:xfrm>
            <a:off x="7489577" y="7808569"/>
            <a:ext cx="2306422" cy="351654"/>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1"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Fig.8.1: Circuit Diagram</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056" name="Rectangle 27">
            <a:extLst>
              <a:ext uri="{FF2B5EF4-FFF2-40B4-BE49-F238E27FC236}">
                <a16:creationId xmlns:a16="http://schemas.microsoft.com/office/drawing/2014/main" id="{C7A7A395-EC72-412E-B494-17FF65AF6367}"/>
              </a:ext>
            </a:extLst>
          </p:cNvPr>
          <p:cNvSpPr>
            <a:spLocks noChangeArrowheads="1"/>
          </p:cNvSpPr>
          <p:nvPr/>
        </p:nvSpPr>
        <p:spPr bwMode="auto">
          <a:xfrm>
            <a:off x="7691475" y="4323440"/>
            <a:ext cx="1463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057" name="Rectangle 28">
            <a:extLst>
              <a:ext uri="{FF2B5EF4-FFF2-40B4-BE49-F238E27FC236}">
                <a16:creationId xmlns:a16="http://schemas.microsoft.com/office/drawing/2014/main" id="{9378FE29-9015-4E89-BD37-3FA61AD38CDC}"/>
              </a:ext>
            </a:extLst>
          </p:cNvPr>
          <p:cNvSpPr>
            <a:spLocks noChangeArrowheads="1"/>
          </p:cNvSpPr>
          <p:nvPr/>
        </p:nvSpPr>
        <p:spPr bwMode="auto">
          <a:xfrm>
            <a:off x="7691475" y="4780640"/>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sp>
        <p:nvSpPr>
          <p:cNvPr id="2058" name="Rectangle 30">
            <a:extLst>
              <a:ext uri="{FF2B5EF4-FFF2-40B4-BE49-F238E27FC236}">
                <a16:creationId xmlns:a16="http://schemas.microsoft.com/office/drawing/2014/main" id="{5765E7EB-C7FE-444C-9B6C-A961A8EF3C47}"/>
              </a:ext>
            </a:extLst>
          </p:cNvPr>
          <p:cNvSpPr>
            <a:spLocks noChangeArrowheads="1"/>
          </p:cNvSpPr>
          <p:nvPr/>
        </p:nvSpPr>
        <p:spPr bwMode="auto">
          <a:xfrm>
            <a:off x="7691475" y="6139540"/>
            <a:ext cx="14630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059" name="Rectangle 31">
            <a:extLst>
              <a:ext uri="{FF2B5EF4-FFF2-40B4-BE49-F238E27FC236}">
                <a16:creationId xmlns:a16="http://schemas.microsoft.com/office/drawing/2014/main" id="{93073A42-144B-41AC-8382-AE1CB8D4DC88}"/>
              </a:ext>
            </a:extLst>
          </p:cNvPr>
          <p:cNvSpPr>
            <a:spLocks noChangeArrowheads="1"/>
          </p:cNvSpPr>
          <p:nvPr/>
        </p:nvSpPr>
        <p:spPr bwMode="auto">
          <a:xfrm>
            <a:off x="7691475" y="6139540"/>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436244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084"/>
                                        </p:tgtEl>
                                        <p:attrNameLst>
                                          <p:attrName>style.visibility</p:attrName>
                                        </p:attrNameLst>
                                      </p:cBhvr>
                                      <p:to>
                                        <p:strVal val="visible"/>
                                      </p:to>
                                    </p:set>
                                    <p:animEffect transition="in" filter="wipe(down)">
                                      <p:cBhvr>
                                        <p:cTn id="7" dur="500"/>
                                        <p:tgtEl>
                                          <p:spTgt spid="3084"/>
                                        </p:tgtEl>
                                      </p:cBhvr>
                                    </p:animEffect>
                                  </p:childTnLst>
                                </p:cTn>
                              </p:par>
                              <p:par>
                                <p:cTn id="8" presetID="22" presetClass="entr" presetSubtype="4" fill="hold" nodeType="withEffect">
                                  <p:stCondLst>
                                    <p:cond delay="0"/>
                                  </p:stCondLst>
                                  <p:childTnLst>
                                    <p:set>
                                      <p:cBhvr>
                                        <p:cTn id="9" dur="1" fill="hold">
                                          <p:stCondLst>
                                            <p:cond delay="0"/>
                                          </p:stCondLst>
                                        </p:cTn>
                                        <p:tgtEl>
                                          <p:spTgt spid="3086"/>
                                        </p:tgtEl>
                                        <p:attrNameLst>
                                          <p:attrName>style.visibility</p:attrName>
                                        </p:attrNameLst>
                                      </p:cBhvr>
                                      <p:to>
                                        <p:strVal val="visible"/>
                                      </p:to>
                                    </p:set>
                                    <p:animEffect transition="in" filter="wipe(down)">
                                      <p:cBhvr>
                                        <p:cTn id="10" dur="500"/>
                                        <p:tgtEl>
                                          <p:spTgt spid="3086"/>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down)">
                                      <p:cBhvr>
                                        <p:cTn id="16" dur="500"/>
                                        <p:tgtEl>
                                          <p:spTgt spid="7"/>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080"/>
                                        </p:tgtEl>
                                        <p:attrNameLst>
                                          <p:attrName>style.visibility</p:attrName>
                                        </p:attrNameLst>
                                      </p:cBhvr>
                                      <p:to>
                                        <p:strVal val="visible"/>
                                      </p:to>
                                    </p:set>
                                    <p:animEffect transition="in" filter="wipe(down)">
                                      <p:cBhvr>
                                        <p:cTn id="19" dur="500"/>
                                        <p:tgtEl>
                                          <p:spTgt spid="3080"/>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3079"/>
                                        </p:tgtEl>
                                        <p:attrNameLst>
                                          <p:attrName>style.visibility</p:attrName>
                                        </p:attrNameLst>
                                      </p:cBhvr>
                                      <p:to>
                                        <p:strVal val="visible"/>
                                      </p:to>
                                    </p:set>
                                    <p:animEffect transition="in" filter="wipe(down)">
                                      <p:cBhvr>
                                        <p:cTn id="22" dur="500"/>
                                        <p:tgtEl>
                                          <p:spTgt spid="307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down)">
                                      <p:cBhvr>
                                        <p:cTn id="27" dur="500"/>
                                        <p:tgtEl>
                                          <p:spTgt spid="4"/>
                                        </p:tgtEl>
                                      </p:cBhvr>
                                    </p:animEffect>
                                  </p:childTnLst>
                                </p:cTn>
                              </p:par>
                              <p:par>
                                <p:cTn id="28" presetID="22" presetClass="entr" presetSubtype="4" fill="hold" nodeType="withEffect">
                                  <p:stCondLst>
                                    <p:cond delay="0"/>
                                  </p:stCondLst>
                                  <p:childTnLst>
                                    <p:set>
                                      <p:cBhvr>
                                        <p:cTn id="29" dur="1" fill="hold">
                                          <p:stCondLst>
                                            <p:cond delay="0"/>
                                          </p:stCondLst>
                                        </p:cTn>
                                        <p:tgtEl>
                                          <p:spTgt spid="2050"/>
                                        </p:tgtEl>
                                        <p:attrNameLst>
                                          <p:attrName>style.visibility</p:attrName>
                                        </p:attrNameLst>
                                      </p:cBhvr>
                                      <p:to>
                                        <p:strVal val="visible"/>
                                      </p:to>
                                    </p:set>
                                    <p:animEffect transition="in" filter="wipe(down)">
                                      <p:cBhvr>
                                        <p:cTn id="30" dur="500"/>
                                        <p:tgtEl>
                                          <p:spTgt spid="2050"/>
                                        </p:tgtEl>
                                      </p:cBhvr>
                                    </p:animEffect>
                                  </p:childTnLst>
                                </p:cTn>
                              </p:par>
                              <p:par>
                                <p:cTn id="31" presetID="22" presetClass="entr" presetSubtype="4" fill="hold" nodeType="withEffect">
                                  <p:stCondLst>
                                    <p:cond delay="0"/>
                                  </p:stCondLst>
                                  <p:childTnLst>
                                    <p:set>
                                      <p:cBhvr>
                                        <p:cTn id="32" dur="1" fill="hold">
                                          <p:stCondLst>
                                            <p:cond delay="0"/>
                                          </p:stCondLst>
                                        </p:cTn>
                                        <p:tgtEl>
                                          <p:spTgt spid="2052"/>
                                        </p:tgtEl>
                                        <p:attrNameLst>
                                          <p:attrName>style.visibility</p:attrName>
                                        </p:attrNameLst>
                                      </p:cBhvr>
                                      <p:to>
                                        <p:strVal val="visible"/>
                                      </p:to>
                                    </p:set>
                                    <p:animEffect transition="in" filter="wipe(down)">
                                      <p:cBhvr>
                                        <p:cTn id="33" dur="500"/>
                                        <p:tgtEl>
                                          <p:spTgt spid="2052"/>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wipe(down)">
                                      <p:cBhvr>
                                        <p:cTn id="36" dur="500"/>
                                        <p:tgtEl>
                                          <p:spTgt spid="8"/>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down)">
                                      <p:cBhvr>
                                        <p:cTn id="39" dur="500"/>
                                        <p:tgtEl>
                                          <p:spTgt spid="12"/>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down)">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down)">
                                      <p:cBhvr>
                                        <p:cTn id="47" dur="500"/>
                                        <p:tgtEl>
                                          <p:spTgt spid="3"/>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wipe(down)">
                                      <p:cBhvr>
                                        <p:cTn id="50" dur="500"/>
                                        <p:tgtEl>
                                          <p:spTgt spid="10"/>
                                        </p:tgtEl>
                                      </p:cBhvr>
                                    </p:animEffect>
                                  </p:childTnLst>
                                </p:cTn>
                              </p:par>
                              <p:par>
                                <p:cTn id="51" presetID="22" presetClass="entr" presetSubtype="4" fill="hold" nodeType="withEffect">
                                  <p:stCondLst>
                                    <p:cond delay="0"/>
                                  </p:stCondLst>
                                  <p:childTnLst>
                                    <p:set>
                                      <p:cBhvr>
                                        <p:cTn id="52" dur="1" fill="hold">
                                          <p:stCondLst>
                                            <p:cond delay="0"/>
                                          </p:stCondLst>
                                        </p:cTn>
                                        <p:tgtEl>
                                          <p:spTgt spid="3094"/>
                                        </p:tgtEl>
                                        <p:attrNameLst>
                                          <p:attrName>style.visibility</p:attrName>
                                        </p:attrNameLst>
                                      </p:cBhvr>
                                      <p:to>
                                        <p:strVal val="visible"/>
                                      </p:to>
                                    </p:set>
                                    <p:animEffect transition="in" filter="wipe(down)">
                                      <p:cBhvr>
                                        <p:cTn id="53" dur="500"/>
                                        <p:tgtEl>
                                          <p:spTgt spid="3094"/>
                                        </p:tgtEl>
                                      </p:cBhvr>
                                    </p:animEffect>
                                  </p:childTnLst>
                                </p:cTn>
                              </p:par>
                              <p:par>
                                <p:cTn id="54" presetID="22" presetClass="entr" presetSubtype="4" fill="hold" nodeType="withEffect">
                                  <p:stCondLst>
                                    <p:cond delay="0"/>
                                  </p:stCondLst>
                                  <p:childTnLst>
                                    <p:set>
                                      <p:cBhvr>
                                        <p:cTn id="55" dur="1" fill="hold">
                                          <p:stCondLst>
                                            <p:cond delay="0"/>
                                          </p:stCondLst>
                                        </p:cTn>
                                        <p:tgtEl>
                                          <p:spTgt spid="3096"/>
                                        </p:tgtEl>
                                        <p:attrNameLst>
                                          <p:attrName>style.visibility</p:attrName>
                                        </p:attrNameLst>
                                      </p:cBhvr>
                                      <p:to>
                                        <p:strVal val="visible"/>
                                      </p:to>
                                    </p:set>
                                    <p:animEffect transition="in" filter="wipe(down)">
                                      <p:cBhvr>
                                        <p:cTn id="56" dur="500"/>
                                        <p:tgtEl>
                                          <p:spTgt spid="3096"/>
                                        </p:tgtEl>
                                      </p:cBhvr>
                                    </p:animEffect>
                                  </p:childTnLst>
                                </p:cTn>
                              </p:par>
                              <p:par>
                                <p:cTn id="57" presetID="22" presetClass="entr" presetSubtype="4" fill="hold" grpId="0" nodeType="withEffect">
                                  <p:stCondLst>
                                    <p:cond delay="0"/>
                                  </p:stCondLst>
                                  <p:childTnLst>
                                    <p:set>
                                      <p:cBhvr>
                                        <p:cTn id="58" dur="1" fill="hold">
                                          <p:stCondLst>
                                            <p:cond delay="0"/>
                                          </p:stCondLst>
                                        </p:cTn>
                                        <p:tgtEl>
                                          <p:spTgt spid="3087"/>
                                        </p:tgtEl>
                                        <p:attrNameLst>
                                          <p:attrName>style.visibility</p:attrName>
                                        </p:attrNameLst>
                                      </p:cBhvr>
                                      <p:to>
                                        <p:strVal val="visible"/>
                                      </p:to>
                                    </p:set>
                                    <p:animEffect transition="in" filter="wipe(down)">
                                      <p:cBhvr>
                                        <p:cTn id="59" dur="500"/>
                                        <p:tgtEl>
                                          <p:spTgt spid="3087"/>
                                        </p:tgtEl>
                                      </p:cBhvr>
                                    </p:animEffect>
                                  </p:childTnLst>
                                </p:cTn>
                              </p:par>
                              <p:par>
                                <p:cTn id="60" presetID="22" presetClass="entr" presetSubtype="4" fill="hold" grpId="0" nodeType="withEffect">
                                  <p:stCondLst>
                                    <p:cond delay="0"/>
                                  </p:stCondLst>
                                  <p:childTnLst>
                                    <p:set>
                                      <p:cBhvr>
                                        <p:cTn id="61" dur="1" fill="hold">
                                          <p:stCondLst>
                                            <p:cond delay="0"/>
                                          </p:stCondLst>
                                        </p:cTn>
                                        <p:tgtEl>
                                          <p:spTgt spid="3088"/>
                                        </p:tgtEl>
                                        <p:attrNameLst>
                                          <p:attrName>style.visibility</p:attrName>
                                        </p:attrNameLst>
                                      </p:cBhvr>
                                      <p:to>
                                        <p:strVal val="visible"/>
                                      </p:to>
                                    </p:set>
                                    <p:animEffect transition="in" filter="wipe(down)">
                                      <p:cBhvr>
                                        <p:cTn id="62" dur="500"/>
                                        <p:tgtEl>
                                          <p:spTgt spid="308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2"/>
                                        </p:tgtEl>
                                        <p:attrNameLst>
                                          <p:attrName>style.visibility</p:attrName>
                                        </p:attrNameLst>
                                      </p:cBhvr>
                                      <p:to>
                                        <p:strVal val="visible"/>
                                      </p:to>
                                    </p:set>
                                    <p:animEffect transition="in" filter="wipe(down)">
                                      <p:cBhvr>
                                        <p:cTn id="67" dur="500"/>
                                        <p:tgtEl>
                                          <p:spTgt spid="2"/>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11"/>
                                        </p:tgtEl>
                                        <p:attrNameLst>
                                          <p:attrName>style.visibility</p:attrName>
                                        </p:attrNameLst>
                                      </p:cBhvr>
                                      <p:to>
                                        <p:strVal val="visible"/>
                                      </p:to>
                                    </p:set>
                                    <p:animEffect transition="in" filter="wipe(down)">
                                      <p:cBhvr>
                                        <p:cTn id="70" dur="500"/>
                                        <p:tgtEl>
                                          <p:spTgt spid="11"/>
                                        </p:tgtEl>
                                      </p:cBhvr>
                                    </p:animEffect>
                                  </p:childTnLst>
                                </p:cTn>
                              </p:par>
                              <p:par>
                                <p:cTn id="71" presetID="22" presetClass="entr" presetSubtype="4" fill="hold" nodeType="withEffect">
                                  <p:stCondLst>
                                    <p:cond delay="0"/>
                                  </p:stCondLst>
                                  <p:childTnLst>
                                    <p:set>
                                      <p:cBhvr>
                                        <p:cTn id="72" dur="1" fill="hold">
                                          <p:stCondLst>
                                            <p:cond delay="0"/>
                                          </p:stCondLst>
                                        </p:cTn>
                                        <p:tgtEl>
                                          <p:spTgt spid="2072"/>
                                        </p:tgtEl>
                                        <p:attrNameLst>
                                          <p:attrName>style.visibility</p:attrName>
                                        </p:attrNameLst>
                                      </p:cBhvr>
                                      <p:to>
                                        <p:strVal val="visible"/>
                                      </p:to>
                                    </p:set>
                                    <p:animEffect transition="in" filter="wipe(down)">
                                      <p:cBhvr>
                                        <p:cTn id="73" dur="500"/>
                                        <p:tgtEl>
                                          <p:spTgt spid="2072"/>
                                        </p:tgtEl>
                                      </p:cBhvr>
                                    </p:animEffect>
                                  </p:childTnLst>
                                </p:cTn>
                              </p:par>
                              <p:par>
                                <p:cTn id="74" presetID="22" presetClass="entr" presetSubtype="4" fill="hold" nodeType="withEffect">
                                  <p:stCondLst>
                                    <p:cond delay="0"/>
                                  </p:stCondLst>
                                  <p:childTnLst>
                                    <p:set>
                                      <p:cBhvr>
                                        <p:cTn id="75" dur="1" fill="hold">
                                          <p:stCondLst>
                                            <p:cond delay="0"/>
                                          </p:stCondLst>
                                        </p:cTn>
                                        <p:tgtEl>
                                          <p:spTgt spid="2074"/>
                                        </p:tgtEl>
                                        <p:attrNameLst>
                                          <p:attrName>style.visibility</p:attrName>
                                        </p:attrNameLst>
                                      </p:cBhvr>
                                      <p:to>
                                        <p:strVal val="visible"/>
                                      </p:to>
                                    </p:set>
                                    <p:animEffect transition="in" filter="wipe(down)">
                                      <p:cBhvr>
                                        <p:cTn id="76" dur="500"/>
                                        <p:tgtEl>
                                          <p:spTgt spid="2074"/>
                                        </p:tgtEl>
                                      </p:cBhvr>
                                    </p:animEffect>
                                  </p:childTnLst>
                                </p:cTn>
                              </p:par>
                              <p:par>
                                <p:cTn id="77" presetID="22" presetClass="entr" presetSubtype="4" fill="hold" grpId="0" nodeType="withEffect">
                                  <p:stCondLst>
                                    <p:cond delay="0"/>
                                  </p:stCondLst>
                                  <p:childTnLst>
                                    <p:set>
                                      <p:cBhvr>
                                        <p:cTn id="78" dur="1" fill="hold">
                                          <p:stCondLst>
                                            <p:cond delay="0"/>
                                          </p:stCondLst>
                                        </p:cTn>
                                        <p:tgtEl>
                                          <p:spTgt spid="2055"/>
                                        </p:tgtEl>
                                        <p:attrNameLst>
                                          <p:attrName>style.visibility</p:attrName>
                                        </p:attrNameLst>
                                      </p:cBhvr>
                                      <p:to>
                                        <p:strVal val="visible"/>
                                      </p:to>
                                    </p:set>
                                    <p:animEffect transition="in" filter="wipe(down)">
                                      <p:cBhvr>
                                        <p:cTn id="79" dur="500"/>
                                        <p:tgtEl>
                                          <p:spTgt spid="2055"/>
                                        </p:tgtEl>
                                      </p:cBhvr>
                                    </p:animEffect>
                                  </p:childTnLst>
                                </p:cTn>
                              </p:par>
                              <p:par>
                                <p:cTn id="80" presetID="22" presetClass="entr" presetSubtype="4" fill="hold" grpId="0" nodeType="withEffect">
                                  <p:stCondLst>
                                    <p:cond delay="0"/>
                                  </p:stCondLst>
                                  <p:childTnLst>
                                    <p:set>
                                      <p:cBhvr>
                                        <p:cTn id="81" dur="1" fill="hold">
                                          <p:stCondLst>
                                            <p:cond delay="0"/>
                                          </p:stCondLst>
                                        </p:cTn>
                                        <p:tgtEl>
                                          <p:spTgt spid="2054"/>
                                        </p:tgtEl>
                                        <p:attrNameLst>
                                          <p:attrName>style.visibility</p:attrName>
                                        </p:attrNameLst>
                                      </p:cBhvr>
                                      <p:to>
                                        <p:strVal val="visible"/>
                                      </p:to>
                                    </p:set>
                                    <p:animEffect transition="in" filter="wipe(down)">
                                      <p:cBhvr>
                                        <p:cTn id="82" dur="500"/>
                                        <p:tgtEl>
                                          <p:spTgt spid="2054"/>
                                        </p:tgtEl>
                                      </p:cBhvr>
                                    </p:animEffect>
                                  </p:childTnLst>
                                </p:cTn>
                              </p:par>
                              <p:par>
                                <p:cTn id="83" presetID="22" presetClass="entr" presetSubtype="4" fill="hold" grpId="0" nodeType="withEffect" nodePh="1">
                                  <p:stCondLst>
                                    <p:cond delay="0"/>
                                  </p:stCondLst>
                                  <p:endCondLst>
                                    <p:cond evt="begin" delay="0">
                                      <p:tn val="83"/>
                                    </p:cond>
                                  </p:endCondLst>
                                  <p:childTnLst>
                                    <p:set>
                                      <p:cBhvr>
                                        <p:cTn id="84" dur="1" fill="hold">
                                          <p:stCondLst>
                                            <p:cond delay="0"/>
                                          </p:stCondLst>
                                        </p:cTn>
                                        <p:tgtEl>
                                          <p:spTgt spid="3081"/>
                                        </p:tgtEl>
                                        <p:attrNameLst>
                                          <p:attrName>style.visibility</p:attrName>
                                        </p:attrNameLst>
                                      </p:cBhvr>
                                      <p:to>
                                        <p:strVal val="visible"/>
                                      </p:to>
                                    </p:set>
                                    <p:animEffect transition="in" filter="wipe(down)">
                                      <p:cBhvr>
                                        <p:cTn id="85" dur="500"/>
                                        <p:tgtEl>
                                          <p:spTgt spid="30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7" grpId="0"/>
      <p:bldP spid="8" grpId="0"/>
      <p:bldP spid="10" grpId="0"/>
      <p:bldP spid="11" grpId="0"/>
      <p:bldP spid="3079" grpId="0" animBg="1"/>
      <p:bldP spid="3080" grpId="0" animBg="1"/>
      <p:bldP spid="3081" grpId="0"/>
      <p:bldP spid="3087" grpId="0" animBg="1"/>
      <p:bldP spid="3088" grpId="0" animBg="1"/>
      <p:bldP spid="12" grpId="0" animBg="1"/>
      <p:bldP spid="13" grpId="0" animBg="1"/>
      <p:bldP spid="2054" grpId="0" animBg="1"/>
      <p:bldP spid="205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30851" y="23575"/>
            <a:ext cx="7927300" cy="1413543"/>
          </a:xfrm>
          <a:prstGeom prst="rect">
            <a:avLst/>
          </a:prstGeom>
          <a:noFill/>
          <a:ln/>
        </p:spPr>
        <p:txBody>
          <a:bodyPr wrap="none" lIns="0" tIns="0" rIns="0" bIns="0" rtlCol="0" anchor="t"/>
          <a:lstStyle/>
          <a:p>
            <a:pPr marL="0" indent="0" algn="l">
              <a:lnSpc>
                <a:spcPts val="5550"/>
              </a:lnSpc>
              <a:buNone/>
            </a:pPr>
            <a:r>
              <a:rPr lang="en-US" sz="4450" b="1" dirty="0">
                <a:latin typeface="Times New Roman" panose="02020603050405020304" pitchFamily="18" charset="0"/>
                <a:ea typeface="Tomorrow Semi Bold" pitchFamily="34" charset="-122"/>
                <a:cs typeface="Times New Roman" panose="02020603050405020304" pitchFamily="18" charset="0"/>
              </a:rPr>
              <a:t>Clamper Circuits: Theory &amp; Types</a:t>
            </a:r>
            <a:endParaRPr lang="en-US" sz="4450" b="1" dirty="0">
              <a:latin typeface="Times New Roman" panose="02020603050405020304" pitchFamily="18" charset="0"/>
              <a:cs typeface="Times New Roman" panose="02020603050405020304" pitchFamily="18" charset="0"/>
            </a:endParaRPr>
          </a:p>
        </p:txBody>
      </p:sp>
      <p:sp>
        <p:nvSpPr>
          <p:cNvPr id="3" name="Text 1"/>
          <p:cNvSpPr/>
          <p:nvPr/>
        </p:nvSpPr>
        <p:spPr>
          <a:xfrm>
            <a:off x="130851" y="726401"/>
            <a:ext cx="13185101" cy="2838484"/>
          </a:xfrm>
          <a:prstGeom prst="rect">
            <a:avLst/>
          </a:prstGeom>
          <a:noFill/>
          <a:ln/>
        </p:spPr>
        <p:txBody>
          <a:bodyPr wrap="square" lIns="0" tIns="0" rIns="0" bIns="0" rtlCol="0" anchor="t"/>
          <a:lstStyle/>
          <a:p>
            <a:r>
              <a:rPr lang="en-IN" sz="2800" dirty="0"/>
              <a:t>Clamping circuits are used for shifting the entire signal up or down without changing its shape.</a:t>
            </a:r>
          </a:p>
          <a:p>
            <a:pPr marL="342900" lvl="0" indent="-342900">
              <a:buFont typeface="Arial" panose="020B0604020202020204" pitchFamily="34" charset="0"/>
              <a:buChar char="•"/>
            </a:pPr>
            <a:r>
              <a:rPr lang="en-IN" sz="2800" dirty="0"/>
              <a:t>Uses diodes, capacitors, and sometimes biasing voltages.</a:t>
            </a:r>
          </a:p>
          <a:p>
            <a:pPr marL="342900" lvl="0" indent="-342900">
              <a:buFont typeface="Arial" panose="020B0604020202020204" pitchFamily="34" charset="0"/>
              <a:buChar char="•"/>
            </a:pPr>
            <a:r>
              <a:rPr lang="en-IN" sz="2800" dirty="0"/>
              <a:t>The peak value remains the same, but the DC level changes.</a:t>
            </a:r>
          </a:p>
          <a:p>
            <a:pPr marL="342900" lvl="0" indent="-342900">
              <a:buFont typeface="Arial" panose="020B0604020202020204" pitchFamily="34" charset="0"/>
              <a:buChar char="•"/>
            </a:pPr>
            <a:r>
              <a:rPr lang="en-IN" sz="2800" dirty="0"/>
              <a:t>It adds a DC offset to the signal.</a:t>
            </a:r>
          </a:p>
          <a:p>
            <a:pPr marL="342900" indent="-342900">
              <a:buFont typeface="Arial" panose="020B0604020202020204" pitchFamily="34" charset="0"/>
              <a:buChar char="•"/>
            </a:pPr>
            <a:r>
              <a:rPr lang="en-IN" sz="2800" dirty="0"/>
              <a:t>Clamping moves the entire waveform above or below the zero level</a:t>
            </a:r>
            <a:r>
              <a:rPr lang="en-IN" sz="2000" dirty="0"/>
              <a:t>.</a:t>
            </a:r>
            <a:endParaRPr lang="en-US" sz="2000" dirty="0"/>
          </a:p>
        </p:txBody>
      </p:sp>
      <p:grpSp>
        <p:nvGrpSpPr>
          <p:cNvPr id="14" name="Group 13">
            <a:extLst>
              <a:ext uri="{FF2B5EF4-FFF2-40B4-BE49-F238E27FC236}">
                <a16:creationId xmlns:a16="http://schemas.microsoft.com/office/drawing/2014/main" id="{7B3AE426-818F-48AF-A111-EFA24B8F9AC2}"/>
              </a:ext>
            </a:extLst>
          </p:cNvPr>
          <p:cNvGrpSpPr/>
          <p:nvPr/>
        </p:nvGrpSpPr>
        <p:grpSpPr>
          <a:xfrm>
            <a:off x="411480" y="3806192"/>
            <a:ext cx="13807440" cy="4126228"/>
            <a:chOff x="2948940" y="4377478"/>
            <a:chExt cx="8532495" cy="2028035"/>
          </a:xfrm>
        </p:grpSpPr>
        <p:sp>
          <p:nvSpPr>
            <p:cNvPr id="13" name="Rectangle 12">
              <a:extLst>
                <a:ext uri="{FF2B5EF4-FFF2-40B4-BE49-F238E27FC236}">
                  <a16:creationId xmlns:a16="http://schemas.microsoft.com/office/drawing/2014/main" id="{D9A92805-4FCA-48A7-B329-8261C30D791C}"/>
                </a:ext>
              </a:extLst>
            </p:cNvPr>
            <p:cNvSpPr/>
            <p:nvPr/>
          </p:nvSpPr>
          <p:spPr>
            <a:xfrm>
              <a:off x="2948940" y="4377478"/>
              <a:ext cx="8332470" cy="1909433"/>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7415BB1D-654A-4CA6-8120-432D84CEDAF0}"/>
                    </a:ext>
                  </a:extLst>
                </p:cNvPr>
                <p:cNvSpPr/>
                <p:nvPr/>
              </p:nvSpPr>
              <p:spPr>
                <a:xfrm>
                  <a:off x="3604614" y="4377479"/>
                  <a:ext cx="7876821" cy="2028034"/>
                </a:xfrm>
                <a:prstGeom prst="rect">
                  <a:avLst/>
                </a:prstGeom>
              </p:spPr>
              <p:txBody>
                <a:bodyPr wrap="square">
                  <a:spAutoFit/>
                </a:bodyPr>
                <a:lstStyle/>
                <a:p>
                  <a:pPr>
                    <a:lnSpc>
                      <a:spcPct val="107000"/>
                    </a:lnSpc>
                    <a:spcAft>
                      <a:spcPts val="800"/>
                    </a:spcAft>
                  </a:pPr>
                  <a:r>
                    <a:rPr lang="en-IN" sz="3200" dirty="0">
                      <a:latin typeface="Calibri" panose="020F0502020204030204" pitchFamily="34" charset="0"/>
                      <a:ea typeface="Times New Roman" panose="02020603050405020304" pitchFamily="18" charset="0"/>
                      <a:cs typeface="Calibri" panose="020F0502020204030204" pitchFamily="34" charset="0"/>
                    </a:rPr>
                    <a:t>We have considered, Input frequency= 1 kHz, Load resistor= 100 </a:t>
                  </a:r>
                  <a:r>
                    <a:rPr lang="en-IN" sz="3200" dirty="0" err="1">
                      <a:latin typeface="Calibri" panose="020F0502020204030204" pitchFamily="34" charset="0"/>
                      <a:ea typeface="Times New Roman" panose="02020603050405020304" pitchFamily="18" charset="0"/>
                      <a:cs typeface="Calibri" panose="020F0502020204030204" pitchFamily="34" charset="0"/>
                    </a:rPr>
                    <a:t>kΩ</a:t>
                  </a:r>
                  <a:br>
                    <a:rPr lang="en-IN" sz="3200" dirty="0">
                      <a:latin typeface="Calibri" panose="020F0502020204030204" pitchFamily="34" charset="0"/>
                      <a:ea typeface="Times New Roman" panose="02020603050405020304" pitchFamily="18" charset="0"/>
                      <a:cs typeface="Calibri" panose="020F0502020204030204" pitchFamily="34" charset="0"/>
                    </a:rPr>
                  </a:br>
                  <a14:m>
                    <m:oMathPara xmlns:m="http://schemas.openxmlformats.org/officeDocument/2006/math">
                      <m:oMathParaPr>
                        <m:jc m:val="centerGroup"/>
                      </m:oMathParaPr>
                      <m:oMath xmlns:m="http://schemas.openxmlformats.org/officeDocument/2006/math">
                        <m:r>
                          <m:rPr>
                            <m:sty m:val="p"/>
                          </m:rPr>
                          <a:rPr lang="en-IN" sz="3200">
                            <a:latin typeface="Cambria Math" panose="02040503050406030204" pitchFamily="18" charset="0"/>
                            <a:ea typeface="Times New Roman" panose="02020603050405020304" pitchFamily="18" charset="0"/>
                            <a:cs typeface="Calibri" panose="020F0502020204030204" pitchFamily="34" charset="0"/>
                          </a:rPr>
                          <m:t>T</m:t>
                        </m:r>
                        <m:r>
                          <a:rPr lang="en-IN" sz="3200">
                            <a:latin typeface="Cambria Math" panose="02040503050406030204" pitchFamily="18" charset="0"/>
                            <a:ea typeface="Times New Roman" panose="02020603050405020304" pitchFamily="18" charset="0"/>
                            <a:cs typeface="Calibri" panose="020F0502020204030204" pitchFamily="34" charset="0"/>
                          </a:rPr>
                          <m:t>=</m:t>
                        </m:r>
                        <m:f>
                          <m:fPr>
                            <m:ctrlPr>
                              <a:rPr lang="en-IN" sz="3200" i="1">
                                <a:latin typeface="Cambria Math" panose="02040503050406030204" pitchFamily="18" charset="0"/>
                                <a:ea typeface="Times New Roman" panose="02020603050405020304" pitchFamily="18" charset="0"/>
                                <a:cs typeface="Calibri" panose="020F0502020204030204" pitchFamily="34" charset="0"/>
                              </a:rPr>
                            </m:ctrlPr>
                          </m:fPr>
                          <m:num>
                            <m:r>
                              <a:rPr lang="en-IN" sz="3200">
                                <a:latin typeface="Cambria Math" panose="02040503050406030204" pitchFamily="18" charset="0"/>
                                <a:ea typeface="Times New Roman" panose="02020603050405020304" pitchFamily="18" charset="0"/>
                                <a:cs typeface="Calibri" panose="020F0502020204030204" pitchFamily="34" charset="0"/>
                              </a:rPr>
                              <m:t>1</m:t>
                            </m:r>
                          </m:num>
                          <m:den>
                            <m:r>
                              <a:rPr lang="en-IN" sz="3200">
                                <a:latin typeface="Cambria Math" panose="02040503050406030204" pitchFamily="18" charset="0"/>
                                <a:ea typeface="Times New Roman" panose="02020603050405020304" pitchFamily="18" charset="0"/>
                                <a:cs typeface="Calibri" panose="020F0502020204030204" pitchFamily="34" charset="0"/>
                              </a:rPr>
                              <m:t>1000</m:t>
                            </m:r>
                          </m:den>
                        </m:f>
                        <m:r>
                          <a:rPr lang="en-IN" sz="3200">
                            <a:latin typeface="Cambria Math" panose="02040503050406030204" pitchFamily="18" charset="0"/>
                            <a:ea typeface="Times New Roman" panose="02020603050405020304" pitchFamily="18" charset="0"/>
                            <a:cs typeface="Calibri" panose="020F0502020204030204" pitchFamily="34" charset="0"/>
                          </a:rPr>
                          <m:t>=1</m:t>
                        </m:r>
                        <m:r>
                          <m:rPr>
                            <m:sty m:val="p"/>
                          </m:rPr>
                          <a:rPr lang="en-IN" sz="3200">
                            <a:latin typeface="Cambria Math" panose="02040503050406030204" pitchFamily="18" charset="0"/>
                            <a:ea typeface="Times New Roman" panose="02020603050405020304" pitchFamily="18" charset="0"/>
                            <a:cs typeface="Calibri" panose="020F0502020204030204" pitchFamily="34" charset="0"/>
                          </a:rPr>
                          <m:t>ms</m:t>
                        </m:r>
                      </m:oMath>
                    </m:oMathPara>
                  </a14:m>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14:m>
                    <m:oMath xmlns:m="http://schemas.openxmlformats.org/officeDocument/2006/math">
                      <m:r>
                        <m:rPr>
                          <m:sty m:val="p"/>
                        </m:rPr>
                        <a:rPr lang="en-IN" sz="3200">
                          <a:latin typeface="Cambria Math" panose="02040503050406030204" pitchFamily="18" charset="0"/>
                          <a:ea typeface="Times New Roman" panose="02020603050405020304" pitchFamily="18" charset="0"/>
                          <a:cs typeface="Calibri" panose="020F0502020204030204" pitchFamily="34" charset="0"/>
                        </a:rPr>
                        <m:t>RC</m:t>
                      </m:r>
                      <m:r>
                        <a:rPr lang="en-IN" sz="3200">
                          <a:latin typeface="Cambria Math" panose="02040503050406030204" pitchFamily="18" charset="0"/>
                          <a:ea typeface="Times New Roman" panose="02020603050405020304" pitchFamily="18" charset="0"/>
                          <a:cs typeface="Calibri" panose="020F0502020204030204" pitchFamily="34" charset="0"/>
                        </a:rPr>
                        <m:t>=10</m:t>
                      </m:r>
                      <m:r>
                        <m:rPr>
                          <m:sty m:val="p"/>
                        </m:rPr>
                        <a:rPr lang="en-IN" sz="3200">
                          <a:latin typeface="Cambria Math" panose="02040503050406030204" pitchFamily="18" charset="0"/>
                          <a:ea typeface="Times New Roman" panose="02020603050405020304" pitchFamily="18" charset="0"/>
                          <a:cs typeface="Calibri" panose="020F0502020204030204" pitchFamily="34" charset="0"/>
                        </a:rPr>
                        <m:t>T</m:t>
                      </m:r>
                      <m:r>
                        <a:rPr lang="en-IN" sz="3200">
                          <a:latin typeface="Cambria Math" panose="02040503050406030204" pitchFamily="18" charset="0"/>
                          <a:ea typeface="Times New Roman" panose="02020603050405020304" pitchFamily="18" charset="0"/>
                          <a:cs typeface="Calibri" panose="020F0502020204030204" pitchFamily="34" charset="0"/>
                        </a:rPr>
                        <m:t>=10</m:t>
                      </m:r>
                      <m:r>
                        <m:rPr>
                          <m:sty m:val="p"/>
                        </m:rPr>
                        <a:rPr lang="en-IN" sz="3200">
                          <a:latin typeface="Cambria Math" panose="02040503050406030204" pitchFamily="18" charset="0"/>
                          <a:ea typeface="Times New Roman" panose="02020603050405020304" pitchFamily="18" charset="0"/>
                          <a:cs typeface="Calibri" panose="020F0502020204030204" pitchFamily="34" charset="0"/>
                        </a:rPr>
                        <m:t>x</m:t>
                      </m:r>
                      <m:r>
                        <a:rPr lang="en-IN" sz="3200">
                          <a:latin typeface="Cambria Math" panose="02040503050406030204" pitchFamily="18" charset="0"/>
                          <a:ea typeface="Times New Roman" panose="02020603050405020304" pitchFamily="18" charset="0"/>
                          <a:cs typeface="Calibri" panose="020F0502020204030204" pitchFamily="34" charset="0"/>
                        </a:rPr>
                        <m:t>1</m:t>
                      </m:r>
                      <m:r>
                        <m:rPr>
                          <m:sty m:val="p"/>
                        </m:rPr>
                        <a:rPr lang="en-IN" sz="3200">
                          <a:latin typeface="Cambria Math" panose="02040503050406030204" pitchFamily="18" charset="0"/>
                          <a:ea typeface="Times New Roman" panose="02020603050405020304" pitchFamily="18" charset="0"/>
                          <a:cs typeface="Calibri" panose="020F0502020204030204" pitchFamily="34" charset="0"/>
                        </a:rPr>
                        <m:t>ms</m:t>
                      </m:r>
                      <m:r>
                        <a:rPr lang="en-IN" sz="3200">
                          <a:latin typeface="Cambria Math" panose="02040503050406030204" pitchFamily="18" charset="0"/>
                          <a:ea typeface="Times New Roman" panose="02020603050405020304" pitchFamily="18" charset="0"/>
                          <a:cs typeface="Calibri" panose="020F0502020204030204" pitchFamily="34" charset="0"/>
                        </a:rPr>
                        <m:t>=10</m:t>
                      </m:r>
                      <m:r>
                        <m:rPr>
                          <m:sty m:val="p"/>
                        </m:rPr>
                        <a:rPr lang="en-IN" sz="3200">
                          <a:latin typeface="Cambria Math" panose="02040503050406030204" pitchFamily="18" charset="0"/>
                          <a:ea typeface="Times New Roman" panose="02020603050405020304" pitchFamily="18" charset="0"/>
                          <a:cs typeface="Calibri" panose="020F0502020204030204" pitchFamily="34" charset="0"/>
                        </a:rPr>
                        <m:t>ms</m:t>
                      </m:r>
                    </m:oMath>
                  </a14:m>
                  <a:r>
                    <a:rPr lang="en-IN" sz="3200" dirty="0">
                      <a:latin typeface="Calibri" panose="020F0502020204030204" pitchFamily="34" charset="0"/>
                      <a:ea typeface="Times New Roman" panose="02020603050405020304" pitchFamily="18" charset="0"/>
                      <a:cs typeface="Calibri" panose="020F0502020204030204" pitchFamily="34" charset="0"/>
                    </a:rPr>
                    <a:t>    </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14:m>
                    <m:oMath xmlns:m="http://schemas.openxmlformats.org/officeDocument/2006/math">
                      <m:r>
                        <m:rPr>
                          <m:sty m:val="p"/>
                        </m:rPr>
                        <a:rPr lang="en-IN" sz="3200">
                          <a:latin typeface="Cambria Math" panose="02040503050406030204" pitchFamily="18" charset="0"/>
                          <a:ea typeface="Calibri" panose="020F0502020204030204" pitchFamily="34" charset="0"/>
                          <a:cs typeface="Calibri" panose="020F0502020204030204" pitchFamily="34" charset="0"/>
                        </a:rPr>
                        <m:t>hence</m:t>
                      </m:r>
                      <m:r>
                        <a:rPr lang="en-IN" sz="3200">
                          <a:latin typeface="Cambria Math" panose="02040503050406030204" pitchFamily="18" charset="0"/>
                          <a:ea typeface="Calibri" panose="020F0502020204030204" pitchFamily="34" charset="0"/>
                          <a:cs typeface="Calibri" panose="020F0502020204030204" pitchFamily="34" charset="0"/>
                        </a:rPr>
                        <m:t>, </m:t>
                      </m:r>
                      <m:r>
                        <m:rPr>
                          <m:sty m:val="p"/>
                        </m:rPr>
                        <a:rPr lang="en-IN" sz="3200">
                          <a:latin typeface="Cambria Math" panose="02040503050406030204" pitchFamily="18" charset="0"/>
                          <a:ea typeface="Calibri" panose="020F0502020204030204" pitchFamily="34" charset="0"/>
                          <a:cs typeface="Calibri" panose="020F0502020204030204" pitchFamily="34" charset="0"/>
                        </a:rPr>
                        <m:t>C</m:t>
                      </m:r>
                      <m:r>
                        <a:rPr lang="en-IN" sz="3200">
                          <a:latin typeface="Cambria Math" panose="02040503050406030204" pitchFamily="18" charset="0"/>
                          <a:ea typeface="Calibri" panose="020F0502020204030204" pitchFamily="34" charset="0"/>
                          <a:cs typeface="Calibri" panose="020F0502020204030204" pitchFamily="34" charset="0"/>
                        </a:rPr>
                        <m:t>=</m:t>
                      </m:r>
                      <m:f>
                        <m:fPr>
                          <m:ctrlPr>
                            <a:rPr lang="en-IN" sz="3200" i="1">
                              <a:latin typeface="Cambria Math" panose="02040503050406030204" pitchFamily="18" charset="0"/>
                              <a:cs typeface="Calibri" panose="020F0502020204030204" pitchFamily="34" charset="0"/>
                            </a:rPr>
                          </m:ctrlPr>
                        </m:fPr>
                        <m:num>
                          <m:r>
                            <a:rPr lang="en-IN" sz="3200">
                              <a:latin typeface="Cambria Math" panose="02040503050406030204" pitchFamily="18" charset="0"/>
                              <a:ea typeface="Calibri" panose="020F0502020204030204" pitchFamily="34" charset="0"/>
                              <a:cs typeface="Calibri" panose="020F0502020204030204" pitchFamily="34" charset="0"/>
                            </a:rPr>
                            <m:t>10</m:t>
                          </m:r>
                        </m:num>
                        <m:den>
                          <m:r>
                            <a:rPr lang="en-IN" sz="3200">
                              <a:latin typeface="Cambria Math" panose="02040503050406030204" pitchFamily="18" charset="0"/>
                              <a:ea typeface="Calibri" panose="020F0502020204030204" pitchFamily="34" charset="0"/>
                              <a:cs typeface="Calibri" panose="020F0502020204030204" pitchFamily="34" charset="0"/>
                            </a:rPr>
                            <m:t>100000</m:t>
                          </m:r>
                        </m:den>
                      </m:f>
                      <m:r>
                        <a:rPr lang="en-IN" sz="3200">
                          <a:latin typeface="Cambria Math" panose="02040503050406030204" pitchFamily="18" charset="0"/>
                          <a:ea typeface="Calibri" panose="020F0502020204030204" pitchFamily="34" charset="0"/>
                          <a:cs typeface="Calibri" panose="020F0502020204030204" pitchFamily="34" charset="0"/>
                        </a:rPr>
                        <m:t>=0.1</m:t>
                      </m:r>
                      <m:r>
                        <m:rPr>
                          <m:sty m:val="p"/>
                        </m:rPr>
                        <a:rPr lang="en-IN" sz="3200">
                          <a:latin typeface="Cambria Math" panose="02040503050406030204" pitchFamily="18" charset="0"/>
                          <a:ea typeface="Calibri" panose="020F0502020204030204" pitchFamily="34" charset="0"/>
                          <a:cs typeface="Calibri" panose="020F0502020204030204" pitchFamily="34" charset="0"/>
                        </a:rPr>
                        <m:t>μF</m:t>
                      </m:r>
                    </m:oMath>
                  </a14:m>
                  <a:r>
                    <a:rPr lang="en-IN" sz="3200" dirty="0">
                      <a:latin typeface="Calibri" panose="020F0502020204030204" pitchFamily="34" charset="0"/>
                      <a:ea typeface="Calibri" panose="020F0502020204030204" pitchFamily="34" charset="0"/>
                    </a:rPr>
                    <a:t>       S</a:t>
                  </a:r>
                  <a:r>
                    <a:rPr lang="en-IN" sz="3200" dirty="0">
                      <a:latin typeface="Calibri" panose="020F0502020204030204" pitchFamily="34" charset="0"/>
                      <a:ea typeface="Calibri" panose="020F0502020204030204" pitchFamily="34" charset="0"/>
                      <a:cs typeface="Times New Roman" panose="02020603050405020304" pitchFamily="18" charset="0"/>
                    </a:rPr>
                    <a:t>o, </a:t>
                  </a:r>
                  <a:r>
                    <a:rPr lang="en-IN" sz="3200" b="1" dirty="0">
                      <a:latin typeface="Calibri" panose="020F0502020204030204" pitchFamily="34" charset="0"/>
                      <a:ea typeface="Calibri" panose="020F0502020204030204" pitchFamily="34" charset="0"/>
                      <a:cs typeface="Times New Roman" panose="02020603050405020304" pitchFamily="18" charset="0"/>
                    </a:rPr>
                    <a:t>C = 0.1 µF</a:t>
                  </a:r>
                  <a:r>
                    <a:rPr lang="en-IN" sz="3200" dirty="0">
                      <a:latin typeface="Calibri" panose="020F0502020204030204" pitchFamily="34" charset="0"/>
                      <a:ea typeface="Calibri" panose="020F0502020204030204" pitchFamily="34" charset="0"/>
                      <a:cs typeface="Times New Roman" panose="02020603050405020304" pitchFamily="18" charset="0"/>
                    </a:rPr>
                    <a:t> is good for 1 kHz with 100 </a:t>
                  </a:r>
                  <a:r>
                    <a:rPr lang="en-IN" sz="3200" dirty="0" err="1">
                      <a:latin typeface="Calibri" panose="020F0502020204030204" pitchFamily="34" charset="0"/>
                      <a:ea typeface="Calibri" panose="020F0502020204030204" pitchFamily="34" charset="0"/>
                      <a:cs typeface="Times New Roman" panose="02020603050405020304" pitchFamily="18" charset="0"/>
                    </a:rPr>
                    <a:t>kΩ</a:t>
                  </a:r>
                  <a:r>
                    <a:rPr lang="en-IN" sz="2400" dirty="0">
                      <a:latin typeface="Calibri" panose="020F0502020204030204" pitchFamily="34" charset="0"/>
                      <a:ea typeface="Calibri" panose="020F0502020204030204" pitchFamily="34" charset="0"/>
                      <a:cs typeface="Times New Roman" panose="02020603050405020304" pitchFamily="18" charset="0"/>
                    </a:rPr>
                    <a:t>.</a:t>
                  </a:r>
                  <a:endParaRPr lang="en-IN" sz="2400" dirty="0"/>
                </a:p>
              </p:txBody>
            </p:sp>
          </mc:Choice>
          <mc:Fallback xmlns="">
            <p:sp>
              <p:nvSpPr>
                <p:cNvPr id="12" name="Rectangle 11">
                  <a:extLst>
                    <a:ext uri="{FF2B5EF4-FFF2-40B4-BE49-F238E27FC236}">
                      <a16:creationId xmlns:a16="http://schemas.microsoft.com/office/drawing/2014/main" id="{7415BB1D-654A-4CA6-8120-432D84CEDAF0}"/>
                    </a:ext>
                  </a:extLst>
                </p:cNvPr>
                <p:cNvSpPr>
                  <a:spLocks noRot="1" noChangeAspect="1" noMove="1" noResize="1" noEditPoints="1" noAdjustHandles="1" noChangeArrowheads="1" noChangeShapeType="1" noTextEdit="1"/>
                </p:cNvSpPr>
                <p:nvPr/>
              </p:nvSpPr>
              <p:spPr>
                <a:xfrm>
                  <a:off x="3604614" y="4377479"/>
                  <a:ext cx="7876821" cy="2028034"/>
                </a:xfrm>
                <a:prstGeom prst="rect">
                  <a:avLst/>
                </a:prstGeom>
                <a:blipFill>
                  <a:blip r:embed="rId3"/>
                  <a:stretch>
                    <a:fillRect l="-1243" t="-1625"/>
                  </a:stretch>
                </a:blipFill>
              </p:spPr>
              <p:txBody>
                <a:bodyPr/>
                <a:lstStyle/>
                <a:p>
                  <a:r>
                    <a:rPr lang="en-IN">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0FB3FED1-0EC3-408D-942C-E05216921E59}"/>
              </a:ext>
            </a:extLst>
          </p:cNvPr>
          <p:cNvSpPr/>
          <p:nvPr/>
        </p:nvSpPr>
        <p:spPr>
          <a:xfrm>
            <a:off x="7353119" y="4624932"/>
            <a:ext cx="7144683" cy="3582046"/>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0" name="Rectangle 29">
            <a:extLst>
              <a:ext uri="{FF2B5EF4-FFF2-40B4-BE49-F238E27FC236}">
                <a16:creationId xmlns:a16="http://schemas.microsoft.com/office/drawing/2014/main" id="{EACCE281-8FAC-4B3F-9247-B03D51F3A4F1}"/>
              </a:ext>
            </a:extLst>
          </p:cNvPr>
          <p:cNvSpPr/>
          <p:nvPr/>
        </p:nvSpPr>
        <p:spPr>
          <a:xfrm>
            <a:off x="110692" y="4627985"/>
            <a:ext cx="7128546" cy="3582046"/>
          </a:xfrm>
          <a:prstGeom prst="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2" name="Rectangle 31">
            <a:extLst>
              <a:ext uri="{FF2B5EF4-FFF2-40B4-BE49-F238E27FC236}">
                <a16:creationId xmlns:a16="http://schemas.microsoft.com/office/drawing/2014/main" id="{033DAE61-34B7-43B9-AD04-E1F59A1A3D23}"/>
              </a:ext>
            </a:extLst>
          </p:cNvPr>
          <p:cNvSpPr/>
          <p:nvPr/>
        </p:nvSpPr>
        <p:spPr>
          <a:xfrm>
            <a:off x="7336983" y="449850"/>
            <a:ext cx="7160821" cy="3653000"/>
          </a:xfrm>
          <a:prstGeom prst="rect">
            <a:avLst/>
          </a:prstGeom>
          <a:solidFill>
            <a:schemeClr val="tx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Rectangle 30">
            <a:extLst>
              <a:ext uri="{FF2B5EF4-FFF2-40B4-BE49-F238E27FC236}">
                <a16:creationId xmlns:a16="http://schemas.microsoft.com/office/drawing/2014/main" id="{50756DB6-D9AB-4049-B5D1-B6381E06BDF1}"/>
              </a:ext>
            </a:extLst>
          </p:cNvPr>
          <p:cNvSpPr/>
          <p:nvPr/>
        </p:nvSpPr>
        <p:spPr>
          <a:xfrm>
            <a:off x="132595" y="461984"/>
            <a:ext cx="7047732" cy="3624736"/>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TextBox 9">
            <a:extLst>
              <a:ext uri="{FF2B5EF4-FFF2-40B4-BE49-F238E27FC236}">
                <a16:creationId xmlns:a16="http://schemas.microsoft.com/office/drawing/2014/main" id="{DF2B12BD-7674-44E9-9CB2-D12A2964914C}"/>
              </a:ext>
            </a:extLst>
          </p:cNvPr>
          <p:cNvSpPr txBox="1"/>
          <p:nvPr/>
        </p:nvSpPr>
        <p:spPr>
          <a:xfrm>
            <a:off x="4509135" y="-34290"/>
            <a:ext cx="5612130" cy="523220"/>
          </a:xfrm>
          <a:prstGeom prst="rect">
            <a:avLst/>
          </a:prstGeom>
          <a:noFill/>
        </p:spPr>
        <p:txBody>
          <a:bodyPr wrap="square" rtlCol="0">
            <a:spAutoFit/>
          </a:bodyPr>
          <a:lstStyle/>
          <a:p>
            <a:r>
              <a:rPr lang="en-US" sz="2800" b="1" u="sng" dirty="0">
                <a:latin typeface="Times New Roman" panose="02020603050405020304" pitchFamily="18" charset="0"/>
                <a:cs typeface="Times New Roman" panose="02020603050405020304" pitchFamily="18" charset="0"/>
              </a:rPr>
              <a:t>POSITIVE CLAMPER CIRCUIT</a:t>
            </a:r>
            <a:endParaRPr lang="en-IN" sz="2800" b="1" u="sng"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A81C1678-1151-4879-84F4-86B43030F50A}"/>
              </a:ext>
            </a:extLst>
          </p:cNvPr>
          <p:cNvSpPr txBox="1"/>
          <p:nvPr/>
        </p:nvSpPr>
        <p:spPr>
          <a:xfrm>
            <a:off x="2108063" y="449958"/>
            <a:ext cx="2571750" cy="400110"/>
          </a:xfrm>
          <a:prstGeom prst="rect">
            <a:avLst/>
          </a:prstGeom>
          <a:noFill/>
        </p:spPr>
        <p:txBody>
          <a:bodyPr wrap="square" rtlCol="0">
            <a:spAutoFit/>
          </a:bodyPr>
          <a:lstStyle/>
          <a:p>
            <a:r>
              <a:rPr lang="en-US" sz="2000" u="sng" dirty="0"/>
              <a:t>UNBIASED CONDITION</a:t>
            </a:r>
            <a:endParaRPr lang="en-IN" sz="2000" u="sng" dirty="0"/>
          </a:p>
        </p:txBody>
      </p:sp>
      <p:sp>
        <p:nvSpPr>
          <p:cNvPr id="12" name="Rectangle 11">
            <a:extLst>
              <a:ext uri="{FF2B5EF4-FFF2-40B4-BE49-F238E27FC236}">
                <a16:creationId xmlns:a16="http://schemas.microsoft.com/office/drawing/2014/main" id="{9EA19A87-4992-4430-B283-A39108322617}"/>
              </a:ext>
            </a:extLst>
          </p:cNvPr>
          <p:cNvSpPr/>
          <p:nvPr/>
        </p:nvSpPr>
        <p:spPr>
          <a:xfrm>
            <a:off x="9988670" y="501061"/>
            <a:ext cx="2210220" cy="400110"/>
          </a:xfrm>
          <a:prstGeom prst="rect">
            <a:avLst/>
          </a:prstGeom>
        </p:spPr>
        <p:txBody>
          <a:bodyPr wrap="none">
            <a:spAutoFit/>
          </a:bodyPr>
          <a:lstStyle/>
          <a:p>
            <a:r>
              <a:rPr lang="en-US" sz="2000" u="sng" dirty="0"/>
              <a:t>BIASED CONDITION</a:t>
            </a:r>
            <a:endParaRPr lang="en-IN" sz="2000" u="sng" dirty="0"/>
          </a:p>
        </p:txBody>
      </p:sp>
      <p:sp>
        <p:nvSpPr>
          <p:cNvPr id="13" name="TextBox 12">
            <a:extLst>
              <a:ext uri="{FF2B5EF4-FFF2-40B4-BE49-F238E27FC236}">
                <a16:creationId xmlns:a16="http://schemas.microsoft.com/office/drawing/2014/main" id="{3D0F565A-1ED3-4B2E-910C-CD60C398C872}"/>
              </a:ext>
            </a:extLst>
          </p:cNvPr>
          <p:cNvSpPr txBox="1"/>
          <p:nvPr/>
        </p:nvSpPr>
        <p:spPr>
          <a:xfrm>
            <a:off x="4224654" y="4128299"/>
            <a:ext cx="5612130" cy="523220"/>
          </a:xfrm>
          <a:prstGeom prst="rect">
            <a:avLst/>
          </a:prstGeom>
          <a:noFill/>
        </p:spPr>
        <p:txBody>
          <a:bodyPr wrap="square" rtlCol="0">
            <a:spAutoFit/>
          </a:bodyPr>
          <a:lstStyle/>
          <a:p>
            <a:r>
              <a:rPr lang="en-US" sz="2800" b="1" u="sng" dirty="0">
                <a:latin typeface="Times New Roman" panose="02020603050405020304" pitchFamily="18" charset="0"/>
                <a:cs typeface="Times New Roman" panose="02020603050405020304" pitchFamily="18" charset="0"/>
              </a:rPr>
              <a:t>NEGATIVE CLAMPER CIRCUIT</a:t>
            </a:r>
            <a:endParaRPr lang="en-IN" sz="2800" b="1" u="sng"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51DC2787-A79F-48A3-9C57-A524D5601EF5}"/>
              </a:ext>
            </a:extLst>
          </p:cNvPr>
          <p:cNvSpPr txBox="1"/>
          <p:nvPr/>
        </p:nvSpPr>
        <p:spPr>
          <a:xfrm>
            <a:off x="1889734" y="4670666"/>
            <a:ext cx="2571750" cy="400110"/>
          </a:xfrm>
          <a:prstGeom prst="rect">
            <a:avLst/>
          </a:prstGeom>
          <a:noFill/>
        </p:spPr>
        <p:txBody>
          <a:bodyPr wrap="square" rtlCol="0">
            <a:spAutoFit/>
          </a:bodyPr>
          <a:lstStyle/>
          <a:p>
            <a:r>
              <a:rPr lang="en-US" sz="2000" u="sng" dirty="0"/>
              <a:t>UNBIASED CONDITION</a:t>
            </a:r>
            <a:endParaRPr lang="en-IN" sz="2000" u="sng" dirty="0"/>
          </a:p>
        </p:txBody>
      </p:sp>
      <p:sp>
        <p:nvSpPr>
          <p:cNvPr id="15" name="Rectangle 14">
            <a:extLst>
              <a:ext uri="{FF2B5EF4-FFF2-40B4-BE49-F238E27FC236}">
                <a16:creationId xmlns:a16="http://schemas.microsoft.com/office/drawing/2014/main" id="{3AC5C663-51D7-4F1B-B4C5-13CEF7A5081C}"/>
              </a:ext>
            </a:extLst>
          </p:cNvPr>
          <p:cNvSpPr/>
          <p:nvPr/>
        </p:nvSpPr>
        <p:spPr>
          <a:xfrm>
            <a:off x="9836784" y="4649080"/>
            <a:ext cx="2085379" cy="400110"/>
          </a:xfrm>
          <a:prstGeom prst="rect">
            <a:avLst/>
          </a:prstGeom>
        </p:spPr>
        <p:txBody>
          <a:bodyPr wrap="none">
            <a:spAutoFit/>
          </a:bodyPr>
          <a:lstStyle/>
          <a:p>
            <a:r>
              <a:rPr lang="en-US" sz="2000" u="sng" dirty="0"/>
              <a:t>BIASED</a:t>
            </a:r>
            <a:r>
              <a:rPr lang="en-US" u="sng" dirty="0"/>
              <a:t> CONDITION</a:t>
            </a:r>
            <a:endParaRPr lang="en-IN" u="sng" dirty="0"/>
          </a:p>
        </p:txBody>
      </p:sp>
      <p:pic>
        <p:nvPicPr>
          <p:cNvPr id="16" name="Picture 15">
            <a:extLst>
              <a:ext uri="{FF2B5EF4-FFF2-40B4-BE49-F238E27FC236}">
                <a16:creationId xmlns:a16="http://schemas.microsoft.com/office/drawing/2014/main" id="{82D78FE8-5192-474D-ADAF-CED8138CCFB9}"/>
              </a:ext>
            </a:extLst>
          </p:cNvPr>
          <p:cNvPicPr/>
          <p:nvPr/>
        </p:nvPicPr>
        <p:blipFill rotWithShape="1">
          <a:blip r:embed="rId3">
            <a:extLst>
              <a:ext uri="{28A0092B-C50C-407E-A947-70E740481C1C}">
                <a14:useLocalDpi xmlns:a14="http://schemas.microsoft.com/office/drawing/2010/main" val="0"/>
              </a:ext>
            </a:extLst>
          </a:blip>
          <a:srcRect l="7507" t="19942" r="11933" b="22707"/>
          <a:stretch/>
        </p:blipFill>
        <p:spPr bwMode="auto">
          <a:xfrm>
            <a:off x="186568" y="988761"/>
            <a:ext cx="2237963" cy="2406000"/>
          </a:xfrm>
          <a:prstGeom prst="rect">
            <a:avLst/>
          </a:prstGeom>
          <a:ln>
            <a:noFill/>
          </a:ln>
          <a:extLst>
            <a:ext uri="{53640926-AAD7-44D8-BBD7-CCE9431645EC}">
              <a14:shadowObscured xmlns:a14="http://schemas.microsoft.com/office/drawing/2010/main"/>
            </a:ext>
          </a:extLst>
        </p:spPr>
      </p:pic>
      <p:pic>
        <p:nvPicPr>
          <p:cNvPr id="17" name="Picture 16">
            <a:extLst>
              <a:ext uri="{FF2B5EF4-FFF2-40B4-BE49-F238E27FC236}">
                <a16:creationId xmlns:a16="http://schemas.microsoft.com/office/drawing/2014/main" id="{34E8C915-8B68-470E-A9E7-1D9EF5DDEE5E}"/>
              </a:ext>
            </a:extLst>
          </p:cNvPr>
          <p:cNvPicPr/>
          <p:nvPr/>
        </p:nvPicPr>
        <p:blipFill rotWithShape="1">
          <a:blip r:embed="rId4" cstate="print">
            <a:extLst>
              <a:ext uri="{28A0092B-C50C-407E-A947-70E740481C1C}">
                <a14:useLocalDpi xmlns:a14="http://schemas.microsoft.com/office/drawing/2010/main" val="0"/>
              </a:ext>
            </a:extLst>
          </a:blip>
          <a:srcRect l="-573" t="31086" r="21269" b="7763"/>
          <a:stretch/>
        </p:blipFill>
        <p:spPr bwMode="auto">
          <a:xfrm>
            <a:off x="2579158" y="1000555"/>
            <a:ext cx="4448758" cy="2448767"/>
          </a:xfrm>
          <a:prstGeom prst="rect">
            <a:avLst/>
          </a:prstGeom>
          <a:ln>
            <a:noFill/>
          </a:ln>
          <a:extLst>
            <a:ext uri="{53640926-AAD7-44D8-BBD7-CCE9431645EC}">
              <a14:shadowObscured xmlns:a14="http://schemas.microsoft.com/office/drawing/2010/main"/>
            </a:ext>
          </a:extLst>
        </p:spPr>
      </p:pic>
      <p:sp>
        <p:nvSpPr>
          <p:cNvPr id="18" name="Text Box 65">
            <a:extLst>
              <a:ext uri="{FF2B5EF4-FFF2-40B4-BE49-F238E27FC236}">
                <a16:creationId xmlns:a16="http://schemas.microsoft.com/office/drawing/2014/main" id="{A2881384-3AA5-4051-A7B5-AE810E345237}"/>
              </a:ext>
            </a:extLst>
          </p:cNvPr>
          <p:cNvSpPr txBox="1"/>
          <p:nvPr/>
        </p:nvSpPr>
        <p:spPr>
          <a:xfrm>
            <a:off x="186568" y="3574850"/>
            <a:ext cx="2237963" cy="384625"/>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600" i="1" u="sng" dirty="0">
                <a:effectLst/>
                <a:latin typeface="Calibri" panose="020F0502020204030204" pitchFamily="34" charset="0"/>
                <a:ea typeface="Calibri" panose="020F0502020204030204" pitchFamily="34" charset="0"/>
                <a:cs typeface="Times New Roman" panose="02020603050405020304" pitchFamily="18" charset="0"/>
              </a:rPr>
              <a:t>Fig.9.1: Circuit Diagram</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9" name="Text Box 66">
            <a:extLst>
              <a:ext uri="{FF2B5EF4-FFF2-40B4-BE49-F238E27FC236}">
                <a16:creationId xmlns:a16="http://schemas.microsoft.com/office/drawing/2014/main" id="{E9EE91D5-D81B-4F0F-AC4F-DDE5046E4B55}"/>
              </a:ext>
            </a:extLst>
          </p:cNvPr>
          <p:cNvSpPr txBox="1"/>
          <p:nvPr/>
        </p:nvSpPr>
        <p:spPr>
          <a:xfrm>
            <a:off x="2579158" y="3573984"/>
            <a:ext cx="4441825" cy="388074"/>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600" i="1" u="sng" dirty="0">
                <a:effectLst/>
                <a:latin typeface="Calibri" panose="020F0502020204030204" pitchFamily="34" charset="0"/>
                <a:ea typeface="Calibri" panose="020F0502020204030204" pitchFamily="34" charset="0"/>
                <a:cs typeface="Times New Roman" panose="02020603050405020304" pitchFamily="18" charset="0"/>
              </a:rPr>
              <a:t>Fig.9.2: Corresponding Input and Output Waveform</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0" name="Picture 19">
            <a:extLst>
              <a:ext uri="{FF2B5EF4-FFF2-40B4-BE49-F238E27FC236}">
                <a16:creationId xmlns:a16="http://schemas.microsoft.com/office/drawing/2014/main" id="{4FC47A5A-83BC-4265-9493-21BB3BD67CDB}"/>
              </a:ext>
            </a:extLst>
          </p:cNvPr>
          <p:cNvPicPr/>
          <p:nvPr/>
        </p:nvPicPr>
        <p:blipFill rotWithShape="1">
          <a:blip r:embed="rId5" cstate="print">
            <a:extLst>
              <a:ext uri="{28A0092B-C50C-407E-A947-70E740481C1C}">
                <a14:useLocalDpi xmlns:a14="http://schemas.microsoft.com/office/drawing/2010/main" val="0"/>
              </a:ext>
            </a:extLst>
          </a:blip>
          <a:srcRect l="7691" t="14102" r="14958" b="28775"/>
          <a:stretch/>
        </p:blipFill>
        <p:spPr bwMode="auto">
          <a:xfrm>
            <a:off x="183488" y="5112668"/>
            <a:ext cx="2227164" cy="2440212"/>
          </a:xfrm>
          <a:prstGeom prst="rect">
            <a:avLst/>
          </a:prstGeom>
          <a:ln>
            <a:noFill/>
          </a:ln>
          <a:extLst>
            <a:ext uri="{53640926-AAD7-44D8-BBD7-CCE9431645EC}">
              <a14:shadowObscured xmlns:a14="http://schemas.microsoft.com/office/drawing/2010/main"/>
            </a:ext>
          </a:extLst>
        </p:spPr>
      </p:pic>
      <p:pic>
        <p:nvPicPr>
          <p:cNvPr id="21" name="Picture 20">
            <a:extLst>
              <a:ext uri="{FF2B5EF4-FFF2-40B4-BE49-F238E27FC236}">
                <a16:creationId xmlns:a16="http://schemas.microsoft.com/office/drawing/2014/main" id="{F3BCFA51-0E9D-4C05-84FD-F7BDF13F05D0}"/>
              </a:ext>
            </a:extLst>
          </p:cNvPr>
          <p:cNvPicPr/>
          <p:nvPr/>
        </p:nvPicPr>
        <p:blipFill rotWithShape="1">
          <a:blip r:embed="rId6" cstate="print">
            <a:extLst>
              <a:ext uri="{28A0092B-C50C-407E-A947-70E740481C1C}">
                <a14:useLocalDpi xmlns:a14="http://schemas.microsoft.com/office/drawing/2010/main" val="0"/>
              </a:ext>
            </a:extLst>
          </a:blip>
          <a:srcRect l="96" t="30915" r="20982" b="7423"/>
          <a:stretch/>
        </p:blipFill>
        <p:spPr bwMode="auto">
          <a:xfrm>
            <a:off x="2576078" y="5090477"/>
            <a:ext cx="4448758" cy="2440212"/>
          </a:xfrm>
          <a:prstGeom prst="rect">
            <a:avLst/>
          </a:prstGeom>
          <a:ln>
            <a:noFill/>
          </a:ln>
          <a:extLst>
            <a:ext uri="{53640926-AAD7-44D8-BBD7-CCE9431645EC}">
              <a14:shadowObscured xmlns:a14="http://schemas.microsoft.com/office/drawing/2010/main"/>
            </a:ext>
          </a:extLst>
        </p:spPr>
      </p:pic>
      <p:sp>
        <p:nvSpPr>
          <p:cNvPr id="22" name="Text Box 67">
            <a:extLst>
              <a:ext uri="{FF2B5EF4-FFF2-40B4-BE49-F238E27FC236}">
                <a16:creationId xmlns:a16="http://schemas.microsoft.com/office/drawing/2014/main" id="{515BE3EC-120B-48EB-AFB7-06D07BC879FE}"/>
              </a:ext>
            </a:extLst>
          </p:cNvPr>
          <p:cNvSpPr txBox="1"/>
          <p:nvPr/>
        </p:nvSpPr>
        <p:spPr>
          <a:xfrm>
            <a:off x="159789" y="7630902"/>
            <a:ext cx="2274562" cy="361058"/>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600" i="1" u="sng" dirty="0">
                <a:effectLst/>
                <a:latin typeface="Calibri" panose="020F0502020204030204" pitchFamily="34" charset="0"/>
                <a:ea typeface="Calibri" panose="020F0502020204030204" pitchFamily="34" charset="0"/>
                <a:cs typeface="Times New Roman" panose="02020603050405020304" pitchFamily="18" charset="0"/>
              </a:rPr>
              <a:t>Fig.11.1: Circuit Diagram</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4" name="Text Box 68">
            <a:extLst>
              <a:ext uri="{FF2B5EF4-FFF2-40B4-BE49-F238E27FC236}">
                <a16:creationId xmlns:a16="http://schemas.microsoft.com/office/drawing/2014/main" id="{A900E2FE-BBFB-461F-AEF4-69202F7C8E47}"/>
              </a:ext>
            </a:extLst>
          </p:cNvPr>
          <p:cNvSpPr txBox="1"/>
          <p:nvPr/>
        </p:nvSpPr>
        <p:spPr>
          <a:xfrm>
            <a:off x="2496405" y="7630902"/>
            <a:ext cx="4601169" cy="361058"/>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600" i="1" u="sng" dirty="0">
                <a:effectLst/>
                <a:latin typeface="Calibri" panose="020F0502020204030204" pitchFamily="34" charset="0"/>
                <a:ea typeface="Calibri" panose="020F0502020204030204" pitchFamily="34" charset="0"/>
                <a:cs typeface="Times New Roman" panose="02020603050405020304" pitchFamily="18" charset="0"/>
              </a:rPr>
              <a:t>Fig.11.2: Corresponding Input and Output Waveform</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6" name="Picture 25">
            <a:extLst>
              <a:ext uri="{FF2B5EF4-FFF2-40B4-BE49-F238E27FC236}">
                <a16:creationId xmlns:a16="http://schemas.microsoft.com/office/drawing/2014/main" id="{B27879E7-F680-4D9C-AA69-2B6E74103098}"/>
              </a:ext>
            </a:extLst>
          </p:cNvPr>
          <p:cNvPicPr/>
          <p:nvPr/>
        </p:nvPicPr>
        <p:blipFill rotWithShape="1">
          <a:blip r:embed="rId7" cstate="print">
            <a:extLst>
              <a:ext uri="{28A0092B-C50C-407E-A947-70E740481C1C}">
                <a14:useLocalDpi xmlns:a14="http://schemas.microsoft.com/office/drawing/2010/main" val="0"/>
              </a:ext>
            </a:extLst>
          </a:blip>
          <a:srcRect l="4327" t="8908" r="4270" b="22413"/>
          <a:stretch/>
        </p:blipFill>
        <p:spPr bwMode="auto">
          <a:xfrm>
            <a:off x="7484753" y="1085580"/>
            <a:ext cx="2276068" cy="2448767"/>
          </a:xfrm>
          <a:prstGeom prst="rect">
            <a:avLst/>
          </a:prstGeom>
          <a:ln>
            <a:noFill/>
          </a:ln>
          <a:extLst>
            <a:ext uri="{53640926-AAD7-44D8-BBD7-CCE9431645EC}">
              <a14:shadowObscured xmlns:a14="http://schemas.microsoft.com/office/drawing/2010/main"/>
            </a:ext>
          </a:extLst>
        </p:spPr>
      </p:pic>
      <p:pic>
        <p:nvPicPr>
          <p:cNvPr id="27" name="Picture 26">
            <a:extLst>
              <a:ext uri="{FF2B5EF4-FFF2-40B4-BE49-F238E27FC236}">
                <a16:creationId xmlns:a16="http://schemas.microsoft.com/office/drawing/2014/main" id="{A6E703F0-FFFB-4FED-92D7-B752FBC0448E}"/>
              </a:ext>
            </a:extLst>
          </p:cNvPr>
          <p:cNvPicPr/>
          <p:nvPr/>
        </p:nvPicPr>
        <p:blipFill rotWithShape="1">
          <a:blip r:embed="rId8" cstate="print">
            <a:extLst>
              <a:ext uri="{28A0092B-C50C-407E-A947-70E740481C1C}">
                <a14:useLocalDpi xmlns:a14="http://schemas.microsoft.com/office/drawing/2010/main" val="0"/>
              </a:ext>
            </a:extLst>
          </a:blip>
          <a:srcRect t="30915" r="20886" b="7763"/>
          <a:stretch/>
        </p:blipFill>
        <p:spPr bwMode="auto">
          <a:xfrm>
            <a:off x="9927390" y="1069710"/>
            <a:ext cx="4525767" cy="2464637"/>
          </a:xfrm>
          <a:prstGeom prst="rect">
            <a:avLst/>
          </a:prstGeom>
          <a:ln>
            <a:noFill/>
          </a:ln>
          <a:extLst>
            <a:ext uri="{53640926-AAD7-44D8-BBD7-CCE9431645EC}">
              <a14:shadowObscured xmlns:a14="http://schemas.microsoft.com/office/drawing/2010/main"/>
            </a:ext>
          </a:extLst>
        </p:spPr>
      </p:pic>
      <p:sp>
        <p:nvSpPr>
          <p:cNvPr id="28" name="Text Box 71">
            <a:extLst>
              <a:ext uri="{FF2B5EF4-FFF2-40B4-BE49-F238E27FC236}">
                <a16:creationId xmlns:a16="http://schemas.microsoft.com/office/drawing/2014/main" id="{FF877D42-0C65-47E2-9283-DFDCEF43D570}"/>
              </a:ext>
            </a:extLst>
          </p:cNvPr>
          <p:cNvSpPr txBox="1"/>
          <p:nvPr/>
        </p:nvSpPr>
        <p:spPr>
          <a:xfrm>
            <a:off x="7484753" y="3597834"/>
            <a:ext cx="2276068" cy="366222"/>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600" i="1" u="sng" dirty="0">
                <a:effectLst/>
                <a:latin typeface="Calibri" panose="020F0502020204030204" pitchFamily="34" charset="0"/>
                <a:ea typeface="Calibri" panose="020F0502020204030204" pitchFamily="34" charset="0"/>
                <a:cs typeface="Times New Roman" panose="02020603050405020304" pitchFamily="18" charset="0"/>
              </a:rPr>
              <a:t>Fig.10.1: Circuit Diagram</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9" name="Text Box 72">
            <a:extLst>
              <a:ext uri="{FF2B5EF4-FFF2-40B4-BE49-F238E27FC236}">
                <a16:creationId xmlns:a16="http://schemas.microsoft.com/office/drawing/2014/main" id="{CD0F66AA-23BC-467D-8A31-9EA9E5A6333A}"/>
              </a:ext>
            </a:extLst>
          </p:cNvPr>
          <p:cNvSpPr txBox="1"/>
          <p:nvPr/>
        </p:nvSpPr>
        <p:spPr>
          <a:xfrm>
            <a:off x="9882742" y="3604296"/>
            <a:ext cx="4570415" cy="355179"/>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600" i="1" u="sng" dirty="0">
                <a:effectLst/>
                <a:latin typeface="Calibri" panose="020F0502020204030204" pitchFamily="34" charset="0"/>
                <a:ea typeface="Calibri" panose="020F0502020204030204" pitchFamily="34" charset="0"/>
                <a:cs typeface="Times New Roman" panose="02020603050405020304" pitchFamily="18" charset="0"/>
              </a:rPr>
              <a:t>Fig. 10.2: Corresponding Input and Output Waveform</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052" name="Picture 15">
            <a:extLst>
              <a:ext uri="{FF2B5EF4-FFF2-40B4-BE49-F238E27FC236}">
                <a16:creationId xmlns:a16="http://schemas.microsoft.com/office/drawing/2014/main" id="{F197CC26-DCB2-49A3-8E73-DCB9BFB1C44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l="372" t="31023" r="21127" b="9372"/>
          <a:stretch>
            <a:fillRect/>
          </a:stretch>
        </p:blipFill>
        <p:spPr bwMode="auto">
          <a:xfrm>
            <a:off x="9955560" y="5095939"/>
            <a:ext cx="4481936" cy="24402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6">
            <a:extLst>
              <a:ext uri="{FF2B5EF4-FFF2-40B4-BE49-F238E27FC236}">
                <a16:creationId xmlns:a16="http://schemas.microsoft.com/office/drawing/2014/main" id="{904FE825-C785-436B-9901-40754F4C711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l="4140" t="3273" r="5498" b="9801"/>
          <a:stretch>
            <a:fillRect/>
          </a:stretch>
        </p:blipFill>
        <p:spPr bwMode="auto">
          <a:xfrm>
            <a:off x="7516306" y="5144573"/>
            <a:ext cx="2244516" cy="2391578"/>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73">
            <a:extLst>
              <a:ext uri="{FF2B5EF4-FFF2-40B4-BE49-F238E27FC236}">
                <a16:creationId xmlns:a16="http://schemas.microsoft.com/office/drawing/2014/main" id="{307E33B6-8C28-4836-87B3-6E1E11615764}"/>
              </a:ext>
            </a:extLst>
          </p:cNvPr>
          <p:cNvSpPr txBox="1">
            <a:spLocks noChangeArrowheads="1"/>
          </p:cNvSpPr>
          <p:nvPr/>
        </p:nvSpPr>
        <p:spPr bwMode="auto">
          <a:xfrm>
            <a:off x="7516305" y="7638917"/>
            <a:ext cx="2244516" cy="321419"/>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1"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Fig.12.1: Circuit Diagram</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 name="Text Box 74">
            <a:extLst>
              <a:ext uri="{FF2B5EF4-FFF2-40B4-BE49-F238E27FC236}">
                <a16:creationId xmlns:a16="http://schemas.microsoft.com/office/drawing/2014/main" id="{746A5E6F-D25D-412D-B732-1D7A40C3111F}"/>
              </a:ext>
            </a:extLst>
          </p:cNvPr>
          <p:cNvSpPr txBox="1">
            <a:spLocks noChangeArrowheads="1"/>
          </p:cNvSpPr>
          <p:nvPr/>
        </p:nvSpPr>
        <p:spPr bwMode="auto">
          <a:xfrm>
            <a:off x="9882742" y="7670542"/>
            <a:ext cx="4570496" cy="321418"/>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1"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Fig. 12.2: Corresponding Input and Output Waveform</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5" name="Rectangle 6">
            <a:extLst>
              <a:ext uri="{FF2B5EF4-FFF2-40B4-BE49-F238E27FC236}">
                <a16:creationId xmlns:a16="http://schemas.microsoft.com/office/drawing/2014/main" id="{41575653-1639-43E2-A893-A65B742584E8}"/>
              </a:ext>
            </a:extLst>
          </p:cNvPr>
          <p:cNvSpPr>
            <a:spLocks noChangeArrowheads="1"/>
          </p:cNvSpPr>
          <p:nvPr/>
        </p:nvSpPr>
        <p:spPr bwMode="auto">
          <a:xfrm>
            <a:off x="15196900" y="5558698"/>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sp>
        <p:nvSpPr>
          <p:cNvPr id="6" name="Rectangle 8">
            <a:extLst>
              <a:ext uri="{FF2B5EF4-FFF2-40B4-BE49-F238E27FC236}">
                <a16:creationId xmlns:a16="http://schemas.microsoft.com/office/drawing/2014/main" id="{569E039F-3EC2-4EE8-BED6-1CF0813533CB}"/>
              </a:ext>
            </a:extLst>
          </p:cNvPr>
          <p:cNvSpPr>
            <a:spLocks noChangeArrowheads="1"/>
          </p:cNvSpPr>
          <p:nvPr/>
        </p:nvSpPr>
        <p:spPr bwMode="auto">
          <a:xfrm>
            <a:off x="15196900" y="6898548"/>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down)">
                                      <p:cBhvr>
                                        <p:cTn id="7" dur="1000"/>
                                        <p:tgtEl>
                                          <p:spTgt spid="3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down)">
                                      <p:cBhvr>
                                        <p:cTn id="10" dur="1000"/>
                                        <p:tgtEl>
                                          <p:spTgt spid="11"/>
                                        </p:tgtEl>
                                      </p:cBhvr>
                                    </p:animEffect>
                                  </p:childTnLst>
                                </p:cTn>
                              </p:par>
                              <p:par>
                                <p:cTn id="11" presetID="22" presetClass="entr" presetSubtype="4"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down)">
                                      <p:cBhvr>
                                        <p:cTn id="13" dur="1000"/>
                                        <p:tgtEl>
                                          <p:spTgt spid="16"/>
                                        </p:tgtEl>
                                      </p:cBhvr>
                                    </p:animEffect>
                                  </p:childTnLst>
                                </p:cTn>
                              </p:par>
                              <p:par>
                                <p:cTn id="14" presetID="22" presetClass="entr" presetSubtype="4"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down)">
                                      <p:cBhvr>
                                        <p:cTn id="16" dur="1000"/>
                                        <p:tgtEl>
                                          <p:spTgt spid="17"/>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down)">
                                      <p:cBhvr>
                                        <p:cTn id="19" dur="1000"/>
                                        <p:tgtEl>
                                          <p:spTgt spid="18"/>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down)">
                                      <p:cBhvr>
                                        <p:cTn id="22" dur="10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down)">
                                      <p:cBhvr>
                                        <p:cTn id="27" dur="500"/>
                                        <p:tgtEl>
                                          <p:spTgt spid="26"/>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wipe(down)">
                                      <p:cBhvr>
                                        <p:cTn id="30" dur="500"/>
                                        <p:tgtEl>
                                          <p:spTgt spid="28"/>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wipe(down)">
                                      <p:cBhvr>
                                        <p:cTn id="33" dur="500"/>
                                        <p:tgtEl>
                                          <p:spTgt spid="29"/>
                                        </p:tgtEl>
                                      </p:cBhvr>
                                    </p:animEffect>
                                  </p:childTnLst>
                                </p:cTn>
                              </p:par>
                              <p:par>
                                <p:cTn id="34" presetID="22" presetClass="entr" presetSubtype="4" fill="hold" nodeType="with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wipe(down)">
                                      <p:cBhvr>
                                        <p:cTn id="36" dur="500"/>
                                        <p:tgtEl>
                                          <p:spTgt spid="27"/>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down)">
                                      <p:cBhvr>
                                        <p:cTn id="39" dur="500"/>
                                        <p:tgtEl>
                                          <p:spTgt spid="12"/>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wipe(down)">
                                      <p:cBhvr>
                                        <p:cTn id="42" dur="500"/>
                                        <p:tgtEl>
                                          <p:spTgt spid="3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down)">
                                      <p:cBhvr>
                                        <p:cTn id="47" dur="1000"/>
                                        <p:tgtEl>
                                          <p:spTgt spid="20"/>
                                        </p:tgtEl>
                                      </p:cBhvr>
                                    </p:animEffect>
                                  </p:childTnLst>
                                </p:cTn>
                              </p:par>
                              <p:par>
                                <p:cTn id="48" presetID="22" presetClass="entr" presetSubtype="4"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down)">
                                      <p:cBhvr>
                                        <p:cTn id="50" dur="1000"/>
                                        <p:tgtEl>
                                          <p:spTgt spid="21"/>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down)">
                                      <p:cBhvr>
                                        <p:cTn id="53" dur="1000"/>
                                        <p:tgtEl>
                                          <p:spTgt spid="22"/>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wipe(down)">
                                      <p:cBhvr>
                                        <p:cTn id="56" dur="1000"/>
                                        <p:tgtEl>
                                          <p:spTgt spid="24"/>
                                        </p:tgtEl>
                                      </p:cBhvr>
                                    </p:animEffect>
                                  </p:childTnLst>
                                </p:cTn>
                              </p:par>
                              <p:par>
                                <p:cTn id="57" presetID="22" presetClass="entr" presetSubtype="4" fill="hold" grpId="0" nodeType="with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wipe(down)">
                                      <p:cBhvr>
                                        <p:cTn id="59" dur="1000"/>
                                        <p:tgtEl>
                                          <p:spTgt spid="14"/>
                                        </p:tgtEl>
                                      </p:cBhvr>
                                    </p:animEffect>
                                  </p:childTnLst>
                                </p:cTn>
                              </p:par>
                              <p:par>
                                <p:cTn id="60" presetID="22" presetClass="entr" presetSubtype="4" fill="hold" grpId="0" nodeType="with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wipe(down)">
                                      <p:cBhvr>
                                        <p:cTn id="62" dur="1000"/>
                                        <p:tgtEl>
                                          <p:spTgt spid="3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wipe(down)">
                                      <p:cBhvr>
                                        <p:cTn id="67" dur="500"/>
                                        <p:tgtEl>
                                          <p:spTgt spid="33"/>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wipe(down)">
                                      <p:cBhvr>
                                        <p:cTn id="70" dur="500"/>
                                        <p:tgtEl>
                                          <p:spTgt spid="15"/>
                                        </p:tgtEl>
                                      </p:cBhvr>
                                    </p:animEffect>
                                  </p:childTnLst>
                                </p:cTn>
                              </p:par>
                              <p:par>
                                <p:cTn id="71" presetID="22" presetClass="entr" presetSubtype="4" fill="hold" nodeType="withEffect">
                                  <p:stCondLst>
                                    <p:cond delay="0"/>
                                  </p:stCondLst>
                                  <p:childTnLst>
                                    <p:set>
                                      <p:cBhvr>
                                        <p:cTn id="72" dur="1" fill="hold">
                                          <p:stCondLst>
                                            <p:cond delay="0"/>
                                          </p:stCondLst>
                                        </p:cTn>
                                        <p:tgtEl>
                                          <p:spTgt spid="2050"/>
                                        </p:tgtEl>
                                        <p:attrNameLst>
                                          <p:attrName>style.visibility</p:attrName>
                                        </p:attrNameLst>
                                      </p:cBhvr>
                                      <p:to>
                                        <p:strVal val="visible"/>
                                      </p:to>
                                    </p:set>
                                    <p:animEffect transition="in" filter="wipe(down)">
                                      <p:cBhvr>
                                        <p:cTn id="73" dur="500"/>
                                        <p:tgtEl>
                                          <p:spTgt spid="2050"/>
                                        </p:tgtEl>
                                      </p:cBhvr>
                                    </p:animEffect>
                                  </p:childTnLst>
                                </p:cTn>
                              </p:par>
                              <p:par>
                                <p:cTn id="74" presetID="22" presetClass="entr" presetSubtype="4" fill="hold" nodeType="withEffect">
                                  <p:stCondLst>
                                    <p:cond delay="0"/>
                                  </p:stCondLst>
                                  <p:childTnLst>
                                    <p:set>
                                      <p:cBhvr>
                                        <p:cTn id="75" dur="1" fill="hold">
                                          <p:stCondLst>
                                            <p:cond delay="0"/>
                                          </p:stCondLst>
                                        </p:cTn>
                                        <p:tgtEl>
                                          <p:spTgt spid="2052"/>
                                        </p:tgtEl>
                                        <p:attrNameLst>
                                          <p:attrName>style.visibility</p:attrName>
                                        </p:attrNameLst>
                                      </p:cBhvr>
                                      <p:to>
                                        <p:strVal val="visible"/>
                                      </p:to>
                                    </p:set>
                                    <p:animEffect transition="in" filter="wipe(down)">
                                      <p:cBhvr>
                                        <p:cTn id="76" dur="500"/>
                                        <p:tgtEl>
                                          <p:spTgt spid="2052"/>
                                        </p:tgtEl>
                                      </p:cBhvr>
                                    </p:animEffect>
                                  </p:childTnLst>
                                </p:cTn>
                              </p:par>
                              <p:par>
                                <p:cTn id="77" presetID="22" presetClass="entr" presetSubtype="4" fill="hold" grpId="0" nodeType="withEffect">
                                  <p:stCondLst>
                                    <p:cond delay="0"/>
                                  </p:stCondLst>
                                  <p:childTnLst>
                                    <p:set>
                                      <p:cBhvr>
                                        <p:cTn id="78" dur="1" fill="hold">
                                          <p:stCondLst>
                                            <p:cond delay="0"/>
                                          </p:stCondLst>
                                        </p:cTn>
                                        <p:tgtEl>
                                          <p:spTgt spid="2"/>
                                        </p:tgtEl>
                                        <p:attrNameLst>
                                          <p:attrName>style.visibility</p:attrName>
                                        </p:attrNameLst>
                                      </p:cBhvr>
                                      <p:to>
                                        <p:strVal val="visible"/>
                                      </p:to>
                                    </p:set>
                                    <p:animEffect transition="in" filter="wipe(down)">
                                      <p:cBhvr>
                                        <p:cTn id="79" dur="500"/>
                                        <p:tgtEl>
                                          <p:spTgt spid="2"/>
                                        </p:tgtEl>
                                      </p:cBhvr>
                                    </p:animEffect>
                                  </p:childTnLst>
                                </p:cTn>
                              </p:par>
                              <p:par>
                                <p:cTn id="80" presetID="22" presetClass="entr" presetSubtype="4" fill="hold" grpId="0" nodeType="withEffect">
                                  <p:stCondLst>
                                    <p:cond delay="0"/>
                                  </p:stCondLst>
                                  <p:childTnLst>
                                    <p:set>
                                      <p:cBhvr>
                                        <p:cTn id="81" dur="1" fill="hold">
                                          <p:stCondLst>
                                            <p:cond delay="0"/>
                                          </p:stCondLst>
                                        </p:cTn>
                                        <p:tgtEl>
                                          <p:spTgt spid="3"/>
                                        </p:tgtEl>
                                        <p:attrNameLst>
                                          <p:attrName>style.visibility</p:attrName>
                                        </p:attrNameLst>
                                      </p:cBhvr>
                                      <p:to>
                                        <p:strVal val="visible"/>
                                      </p:to>
                                    </p:set>
                                    <p:animEffect transition="in" filter="wipe(down)">
                                      <p:cBhvr>
                                        <p:cTn id="8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0" grpId="0" animBg="1"/>
      <p:bldP spid="32" grpId="0" animBg="1"/>
      <p:bldP spid="31" grpId="0" animBg="1"/>
      <p:bldP spid="11" grpId="0"/>
      <p:bldP spid="12" grpId="0"/>
      <p:bldP spid="14" grpId="0"/>
      <p:bldP spid="15" grpId="0"/>
      <p:bldP spid="18" grpId="0" animBg="1"/>
      <p:bldP spid="19" grpId="0" animBg="1"/>
      <p:bldP spid="22" grpId="0" animBg="1"/>
      <p:bldP spid="24" grpId="0" animBg="1"/>
      <p:bldP spid="28" grpId="0" animBg="1"/>
      <p:bldP spid="29" grpId="0" animBg="1"/>
      <p:bldP spid="2" grpId="0" animBg="1"/>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45BE85E-D21C-4115-B662-C49E8D1D848E}"/>
              </a:ext>
            </a:extLst>
          </p:cNvPr>
          <p:cNvSpPr/>
          <p:nvPr/>
        </p:nvSpPr>
        <p:spPr>
          <a:xfrm>
            <a:off x="197708" y="22824"/>
            <a:ext cx="14432692" cy="400110"/>
          </a:xfrm>
          <a:prstGeom prst="rect">
            <a:avLst/>
          </a:prstGeom>
        </p:spPr>
        <p:txBody>
          <a:bodyPr wrap="square">
            <a:spAutoFit/>
          </a:bodyPr>
          <a:lstStyle/>
          <a:p>
            <a:r>
              <a:rPr lang="en-IN" sz="2000" b="1" u="sng" dirty="0">
                <a:latin typeface="Times New Roman" panose="02020603050405020304" pitchFamily="18" charset="0"/>
                <a:ea typeface="Times New Roman" panose="02020603050405020304" pitchFamily="18" charset="0"/>
                <a:cs typeface="Times New Roman" panose="02020603050405020304" pitchFamily="18" charset="0"/>
              </a:rPr>
              <a:t>DESIGN AND ANALYSIS OF CLIPPER-CLAMPER CIRCUITS FOR SIGNAL CONDITIONING OF SINUSOIDAL SIGNALS</a:t>
            </a:r>
            <a:endParaRPr lang="en-IN" sz="20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E27B22B2-5F44-4546-A0D5-07916F897454}"/>
              </a:ext>
            </a:extLst>
          </p:cNvPr>
          <p:cNvPicPr/>
          <p:nvPr/>
        </p:nvPicPr>
        <p:blipFill rotWithShape="1">
          <a:blip r:embed="rId3"/>
          <a:srcRect l="2227" t="16576" r="5346" b="35172"/>
          <a:stretch/>
        </p:blipFill>
        <p:spPr bwMode="auto">
          <a:xfrm>
            <a:off x="197708" y="990825"/>
            <a:ext cx="5655980" cy="1798663"/>
          </a:xfrm>
          <a:prstGeom prst="rect">
            <a:avLst/>
          </a:prstGeom>
          <a:ln>
            <a:noFill/>
          </a:ln>
          <a:extLst>
            <a:ext uri="{53640926-AAD7-44D8-BBD7-CCE9431645EC}">
              <a14:shadowObscured xmlns:a14="http://schemas.microsoft.com/office/drawing/2010/main"/>
            </a:ext>
          </a:extLst>
        </p:spPr>
      </p:pic>
      <p:pic>
        <p:nvPicPr>
          <p:cNvPr id="12" name="Picture 11">
            <a:extLst>
              <a:ext uri="{FF2B5EF4-FFF2-40B4-BE49-F238E27FC236}">
                <a16:creationId xmlns:a16="http://schemas.microsoft.com/office/drawing/2014/main" id="{28AC8E6D-D0DE-4AC8-9266-39E19C2AFF5B}"/>
              </a:ext>
            </a:extLst>
          </p:cNvPr>
          <p:cNvPicPr/>
          <p:nvPr/>
        </p:nvPicPr>
        <p:blipFill rotWithShape="1">
          <a:blip r:embed="rId4">
            <a:extLst>
              <a:ext uri="{28A0092B-C50C-407E-A947-70E740481C1C}">
                <a14:useLocalDpi xmlns:a14="http://schemas.microsoft.com/office/drawing/2010/main" val="0"/>
              </a:ext>
            </a:extLst>
          </a:blip>
          <a:srcRect l="2792" t="14433" r="1395" b="7336"/>
          <a:stretch/>
        </p:blipFill>
        <p:spPr bwMode="auto">
          <a:xfrm>
            <a:off x="6766508" y="862996"/>
            <a:ext cx="7420550" cy="2002939"/>
          </a:xfrm>
          <a:prstGeom prst="rect">
            <a:avLst/>
          </a:prstGeom>
          <a:ln>
            <a:noFill/>
          </a:ln>
          <a:extLst>
            <a:ext uri="{53640926-AAD7-44D8-BBD7-CCE9431645EC}">
              <a14:shadowObscured xmlns:a14="http://schemas.microsoft.com/office/drawing/2010/main"/>
            </a:ext>
          </a:extLst>
        </p:spPr>
      </p:pic>
      <p:sp>
        <p:nvSpPr>
          <p:cNvPr id="14" name="Text Box 8">
            <a:extLst>
              <a:ext uri="{FF2B5EF4-FFF2-40B4-BE49-F238E27FC236}">
                <a16:creationId xmlns:a16="http://schemas.microsoft.com/office/drawing/2014/main" id="{9A76275A-5FA7-437A-9A02-C3CDAE63D14E}"/>
              </a:ext>
            </a:extLst>
          </p:cNvPr>
          <p:cNvSpPr txBox="1"/>
          <p:nvPr/>
        </p:nvSpPr>
        <p:spPr>
          <a:xfrm>
            <a:off x="1024930" y="2865295"/>
            <a:ext cx="4889861" cy="339279"/>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IN" sz="800" i="1" u="sng" dirty="0">
                <a:effectLst/>
                <a:latin typeface="Calibri" panose="020F0502020204030204" pitchFamily="34" charset="0"/>
                <a:ea typeface="Calibri" panose="020F0502020204030204" pitchFamily="34" charset="0"/>
                <a:cs typeface="Times New Roman" panose="02020603050405020304" pitchFamily="18" charset="0"/>
              </a:rPr>
              <a:t> </a:t>
            </a:r>
            <a:r>
              <a:rPr lang="en-US" sz="1600" i="1" u="sng" dirty="0">
                <a:effectLst/>
                <a:latin typeface="Calibri" panose="020F0502020204030204" pitchFamily="34" charset="0"/>
                <a:ea typeface="Calibri" panose="020F0502020204030204" pitchFamily="34" charset="0"/>
                <a:cs typeface="Times New Roman" panose="02020603050405020304" pitchFamily="18" charset="0"/>
              </a:rPr>
              <a:t>Fig.13.1: Block Diagram</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 Box 31">
            <a:extLst>
              <a:ext uri="{FF2B5EF4-FFF2-40B4-BE49-F238E27FC236}">
                <a16:creationId xmlns:a16="http://schemas.microsoft.com/office/drawing/2014/main" id="{4F04FB81-5B7C-49F3-9B46-9FDFA0BC5394}"/>
              </a:ext>
            </a:extLst>
          </p:cNvPr>
          <p:cNvSpPr txBox="1"/>
          <p:nvPr/>
        </p:nvSpPr>
        <p:spPr>
          <a:xfrm>
            <a:off x="2089385" y="7806666"/>
            <a:ext cx="6626225" cy="40011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600" i="1" u="sng" dirty="0">
                <a:effectLst/>
                <a:latin typeface="Calibri" panose="020F0502020204030204" pitchFamily="34" charset="0"/>
                <a:ea typeface="Calibri" panose="020F0502020204030204" pitchFamily="34" charset="0"/>
                <a:cs typeface="Times New Roman" panose="02020603050405020304" pitchFamily="18" charset="0"/>
              </a:rPr>
              <a:t>Fig.13.3: Corresponding Input and Output Waveform At 1-1</a:t>
            </a:r>
            <a:r>
              <a:rPr lang="en-US" sz="800" i="1" u="sng" dirty="0">
                <a:effectLst/>
                <a:latin typeface="Calibri" panose="020F0502020204030204" pitchFamily="34" charset="0"/>
                <a:ea typeface="Calibri" panose="020F0502020204030204" pitchFamily="34" charset="0"/>
                <a:cs typeface="Times New Roman" panose="02020603050405020304" pitchFamily="18"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8" name="Picture 17">
            <a:extLst>
              <a:ext uri="{FF2B5EF4-FFF2-40B4-BE49-F238E27FC236}">
                <a16:creationId xmlns:a16="http://schemas.microsoft.com/office/drawing/2014/main" id="{FCF6B03F-B6A0-41F8-BD8A-F6DAD0CAD554}"/>
              </a:ext>
            </a:extLst>
          </p:cNvPr>
          <p:cNvPicPr/>
          <p:nvPr/>
        </p:nvPicPr>
        <p:blipFill rotWithShape="1">
          <a:blip r:embed="rId5" cstate="print">
            <a:extLst>
              <a:ext uri="{28A0092B-C50C-407E-A947-70E740481C1C}">
                <a14:useLocalDpi xmlns:a14="http://schemas.microsoft.com/office/drawing/2010/main" val="0"/>
              </a:ext>
            </a:extLst>
          </a:blip>
          <a:srcRect l="482" t="20356" r="315" b="10353"/>
          <a:stretch/>
        </p:blipFill>
        <p:spPr bwMode="auto">
          <a:xfrm>
            <a:off x="105839" y="3699354"/>
            <a:ext cx="10199696" cy="4049317"/>
          </a:xfrm>
          <a:prstGeom prst="rect">
            <a:avLst/>
          </a:prstGeom>
          <a:ln>
            <a:noFill/>
          </a:ln>
          <a:extLst>
            <a:ext uri="{53640926-AAD7-44D8-BBD7-CCE9431645EC}">
              <a14:shadowObscured xmlns:a14="http://schemas.microsoft.com/office/drawing/2010/main"/>
            </a:ext>
          </a:extLst>
        </p:spPr>
      </p:pic>
      <p:sp>
        <p:nvSpPr>
          <p:cNvPr id="21" name="Text Box 10">
            <a:extLst>
              <a:ext uri="{FF2B5EF4-FFF2-40B4-BE49-F238E27FC236}">
                <a16:creationId xmlns:a16="http://schemas.microsoft.com/office/drawing/2014/main" id="{9549A291-7EA2-47CE-BAD7-4C20A69F678C}"/>
              </a:ext>
            </a:extLst>
          </p:cNvPr>
          <p:cNvSpPr txBox="1"/>
          <p:nvPr/>
        </p:nvSpPr>
        <p:spPr>
          <a:xfrm>
            <a:off x="8715610" y="2768876"/>
            <a:ext cx="3522345" cy="40011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600" i="1" u="sng" dirty="0">
                <a:effectLst/>
                <a:latin typeface="Calibri" panose="020F0502020204030204" pitchFamily="34" charset="0"/>
                <a:ea typeface="Calibri" panose="020F0502020204030204" pitchFamily="34" charset="0"/>
                <a:cs typeface="Times New Roman" panose="02020603050405020304" pitchFamily="18" charset="0"/>
              </a:rPr>
              <a:t>Fig.13.2: Circuit Diagram</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TextBox 21">
            <a:extLst>
              <a:ext uri="{FF2B5EF4-FFF2-40B4-BE49-F238E27FC236}">
                <a16:creationId xmlns:a16="http://schemas.microsoft.com/office/drawing/2014/main" id="{85E5514E-ECA1-4BA4-BD4A-A9D2EFBFFF71}"/>
              </a:ext>
            </a:extLst>
          </p:cNvPr>
          <p:cNvSpPr txBox="1"/>
          <p:nvPr/>
        </p:nvSpPr>
        <p:spPr>
          <a:xfrm rot="10605023" flipV="1">
            <a:off x="11126000" y="5213180"/>
            <a:ext cx="1639199" cy="5410215"/>
          </a:xfrm>
          <a:prstGeom prst="rect">
            <a:avLst/>
          </a:prstGeom>
          <a:noFill/>
        </p:spPr>
        <p:txBody>
          <a:bodyPr wrap="square" rtlCol="0">
            <a:spAutoFit/>
          </a:bodyPr>
          <a:lstStyle/>
          <a:p>
            <a:endParaRPr lang="en-IN" dirty="0"/>
          </a:p>
        </p:txBody>
      </p:sp>
      <p:sp>
        <p:nvSpPr>
          <p:cNvPr id="25" name="Rectangle 2">
            <a:extLst>
              <a:ext uri="{FF2B5EF4-FFF2-40B4-BE49-F238E27FC236}">
                <a16:creationId xmlns:a16="http://schemas.microsoft.com/office/drawing/2014/main" id="{7BA6984B-898D-4EAE-96C9-868F5D8CED13}"/>
              </a:ext>
            </a:extLst>
          </p:cNvPr>
          <p:cNvSpPr>
            <a:spLocks noChangeArrowheads="1"/>
          </p:cNvSpPr>
          <p:nvPr/>
        </p:nvSpPr>
        <p:spPr bwMode="auto">
          <a:xfrm rot="10800000" flipV="1">
            <a:off x="10305535" y="3836348"/>
            <a:ext cx="421902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For Combination Of Clipper Circuit: </a:t>
            </a:r>
            <a:r>
              <a:rPr kumimoji="0" lang="en-US" altLang="en-US" sz="1800" b="0" i="0" u="none" strike="noStrike" cap="none" normalizeH="0" baseline="0" dirty="0">
                <a:ln>
                  <a:noFill/>
                </a:ln>
                <a:solidFill>
                  <a:schemeClr val="tx1"/>
                </a:solidFill>
                <a:effectLst/>
                <a:latin typeface="Arial" panose="020B0604020202020204" pitchFamily="34" charset="0"/>
              </a:rPr>
              <a:t>We applied a 25 V peak-to-peak, 1 kHz sinusoidal input with 0° phase. The first block is a </a:t>
            </a:r>
            <a:r>
              <a:rPr kumimoji="0" lang="en-US" altLang="en-US" sz="1800" i="0" u="none" strike="noStrike" cap="none" normalizeH="0" baseline="0" dirty="0">
                <a:ln>
                  <a:noFill/>
                </a:ln>
                <a:solidFill>
                  <a:schemeClr val="tx1"/>
                </a:solidFill>
                <a:effectLst/>
                <a:latin typeface="Arial" panose="020B0604020202020204" pitchFamily="34" charset="0"/>
              </a:rPr>
              <a:t>combination clipper </a:t>
            </a:r>
            <a:r>
              <a:rPr kumimoji="0" lang="en-US" altLang="en-US" sz="1800" b="0" i="0" u="none" strike="noStrike" cap="none" normalizeH="0" baseline="0" dirty="0">
                <a:ln>
                  <a:noFill/>
                </a:ln>
                <a:solidFill>
                  <a:schemeClr val="tx1"/>
                </a:solidFill>
                <a:effectLst/>
                <a:latin typeface="Arial" panose="020B0604020202020204" pitchFamily="34" charset="0"/>
              </a:rPr>
              <a:t>using two diodes and two bias voltages (±2 V) to clip both positive and negative parts of the signal.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For </a:t>
            </a:r>
            <a:r>
              <a:rPr kumimoji="0" lang="en-US" altLang="en-US" sz="1800" i="0" u="none" strike="noStrike" cap="none" normalizeH="0" baseline="0" dirty="0">
                <a:ln>
                  <a:noFill/>
                </a:ln>
                <a:solidFill>
                  <a:schemeClr val="tx1"/>
                </a:solidFill>
                <a:effectLst/>
                <a:latin typeface="Arial" panose="020B0604020202020204" pitchFamily="34" charset="0"/>
              </a:rPr>
              <a:t>positive input &gt; +2 V</a:t>
            </a:r>
            <a:r>
              <a:rPr kumimoji="0" lang="en-US" altLang="en-US" sz="1800" b="0" i="0" u="none" strike="noStrike" cap="none" normalizeH="0" baseline="0" dirty="0">
                <a:ln>
                  <a:noFill/>
                </a:ln>
                <a:solidFill>
                  <a:schemeClr val="tx1"/>
                </a:solidFill>
                <a:effectLst/>
                <a:latin typeface="Arial" panose="020B0604020202020204" pitchFamily="34" charset="0"/>
              </a:rPr>
              <a:t>, D2 conducts, output is clipped at +2 V.</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For </a:t>
            </a:r>
            <a:r>
              <a:rPr kumimoji="0" lang="en-US" altLang="en-US" sz="1800" i="0" u="none" strike="noStrike" cap="none" normalizeH="0" baseline="0" dirty="0">
                <a:ln>
                  <a:noFill/>
                </a:ln>
                <a:solidFill>
                  <a:schemeClr val="tx1"/>
                </a:solidFill>
                <a:effectLst/>
                <a:latin typeface="Arial" panose="020B0604020202020204" pitchFamily="34" charset="0"/>
              </a:rPr>
              <a:t>negative input &lt; -2 V</a:t>
            </a:r>
            <a:r>
              <a:rPr kumimoji="0" lang="en-US" altLang="en-US" sz="1800" b="0" i="0" u="none" strike="noStrike" cap="none" normalizeH="0" baseline="0">
                <a:ln>
                  <a:noFill/>
                </a:ln>
                <a:solidFill>
                  <a:schemeClr val="tx1"/>
                </a:solidFill>
                <a:effectLst/>
                <a:latin typeface="Arial" panose="020B0604020202020204" pitchFamily="34" charset="0"/>
              </a:rPr>
              <a:t>, D1 </a:t>
            </a:r>
            <a:r>
              <a:rPr kumimoji="0" lang="en-US" altLang="en-US" sz="1800" b="0" i="0" u="none" strike="noStrike" cap="none" normalizeH="0" baseline="0" dirty="0">
                <a:ln>
                  <a:noFill/>
                </a:ln>
                <a:solidFill>
                  <a:schemeClr val="tx1"/>
                </a:solidFill>
                <a:effectLst/>
                <a:latin typeface="Arial" panose="020B0604020202020204" pitchFamily="34" charset="0"/>
              </a:rPr>
              <a:t>conducts, output is clipped at -2 V.</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This limits the signal between +2 V and -2 V.</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circle(in)">
                                      <p:cBhvr>
                                        <p:cTn id="17" dur="2000"/>
                                        <p:tgtEl>
                                          <p:spTgt spid="18"/>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circle(in)">
                                      <p:cBhvr>
                                        <p:cTn id="20" dur="2000"/>
                                        <p:tgtEl>
                                          <p:spTgt spid="15"/>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circle(in)">
                                      <p:cBhvr>
                                        <p:cTn id="23" dur="2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21" grpId="0" animBg="1"/>
      <p:bldP spid="25"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B866A3BB-54DE-4052-B47E-8A1C3607B37B}"/>
              </a:ext>
            </a:extLst>
          </p:cNvPr>
          <p:cNvSpPr txBox="1"/>
          <p:nvPr/>
        </p:nvSpPr>
        <p:spPr>
          <a:xfrm>
            <a:off x="4074202" y="3899275"/>
            <a:ext cx="4812030"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Components Required:</a:t>
            </a:r>
            <a:endParaRPr lang="en-IN" sz="3600" b="1" dirty="0">
              <a:latin typeface="Times New Roman" panose="02020603050405020304" pitchFamily="18" charset="0"/>
              <a:cs typeface="Times New Roman" panose="02020603050405020304" pitchFamily="18" charset="0"/>
            </a:endParaRPr>
          </a:p>
        </p:txBody>
      </p:sp>
      <p:sp>
        <p:nvSpPr>
          <p:cNvPr id="24" name="Text Box 21">
            <a:extLst>
              <a:ext uri="{FF2B5EF4-FFF2-40B4-BE49-F238E27FC236}">
                <a16:creationId xmlns:a16="http://schemas.microsoft.com/office/drawing/2014/main" id="{2E8F6765-EC80-442E-A1C9-62B574E5F730}"/>
              </a:ext>
            </a:extLst>
          </p:cNvPr>
          <p:cNvSpPr txBox="1"/>
          <p:nvPr/>
        </p:nvSpPr>
        <p:spPr>
          <a:xfrm>
            <a:off x="1678575" y="7685903"/>
            <a:ext cx="4791255" cy="485777"/>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600" i="1" u="sng" dirty="0">
                <a:effectLst/>
                <a:latin typeface="Calibri" panose="020F0502020204030204" pitchFamily="34" charset="0"/>
                <a:ea typeface="Calibri" panose="020F0502020204030204" pitchFamily="34" charset="0"/>
                <a:cs typeface="Times New Roman" panose="02020603050405020304" pitchFamily="18" charset="0"/>
              </a:rPr>
              <a:t>Fig.14.1: Circuit Diagram For PCB Design Using EasyEDA</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5" name="Picture 24">
            <a:extLst>
              <a:ext uri="{FF2B5EF4-FFF2-40B4-BE49-F238E27FC236}">
                <a16:creationId xmlns:a16="http://schemas.microsoft.com/office/drawing/2014/main" id="{648B1B65-6303-4596-A72F-E27DA48D0F03}"/>
              </a:ext>
            </a:extLst>
          </p:cNvPr>
          <p:cNvPicPr/>
          <p:nvPr/>
        </p:nvPicPr>
        <p:blipFill rotWithShape="1">
          <a:blip r:embed="rId3"/>
          <a:srcRect l="1764" t="-1" r="2353" b="2383"/>
          <a:stretch/>
        </p:blipFill>
        <p:spPr bwMode="auto">
          <a:xfrm>
            <a:off x="240083" y="4545608"/>
            <a:ext cx="7668241" cy="3140295"/>
          </a:xfrm>
          <a:prstGeom prst="rect">
            <a:avLst/>
          </a:prstGeom>
          <a:ln>
            <a:noFill/>
          </a:ln>
          <a:extLst>
            <a:ext uri="{53640926-AAD7-44D8-BBD7-CCE9431645EC}">
              <a14:shadowObscured xmlns:a14="http://schemas.microsoft.com/office/drawing/2010/main"/>
            </a:ext>
          </a:extLst>
        </p:spPr>
      </p:pic>
      <p:sp>
        <p:nvSpPr>
          <p:cNvPr id="30" name="Text Box 20">
            <a:extLst>
              <a:ext uri="{FF2B5EF4-FFF2-40B4-BE49-F238E27FC236}">
                <a16:creationId xmlns:a16="http://schemas.microsoft.com/office/drawing/2014/main" id="{1EDC74A1-FA3B-48A6-A29D-83B6A5194F82}"/>
              </a:ext>
            </a:extLst>
          </p:cNvPr>
          <p:cNvSpPr txBox="1"/>
          <p:nvPr/>
        </p:nvSpPr>
        <p:spPr>
          <a:xfrm>
            <a:off x="8019535" y="4555938"/>
            <a:ext cx="2113005" cy="3140295"/>
          </a:xfrm>
          <a:prstGeom prst="rect">
            <a:avLst/>
          </a:prstGeom>
          <a:solidFill>
            <a:sysClr val="window" lastClr="FFFFFF"/>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IN" sz="1600" dirty="0">
                <a:effectLst/>
                <a:latin typeface="Symbol" panose="05050102010706020507" pitchFamily="18" charset="2"/>
                <a:ea typeface="Calibri" panose="020F0502020204030204" pitchFamily="34" charset="0"/>
                <a:cs typeface="Times New Roman" panose="02020603050405020304" pitchFamily="18" charset="0"/>
              </a:rPr>
              <a:t>·</a:t>
            </a:r>
            <a:r>
              <a:rPr lang="en-IN" sz="1600" dirty="0">
                <a:effectLst/>
                <a:latin typeface="Calibri" panose="020F0502020204030204" pitchFamily="34" charset="0"/>
                <a:ea typeface="Calibri" panose="020F0502020204030204" pitchFamily="34" charset="0"/>
                <a:cs typeface="Calibri" panose="020F0502020204030204" pitchFamily="34" charset="0"/>
              </a:rPr>
              <a:t>SCREW TERMINAL BLOCKS  (P1,P2,P3&amp;P4)</a:t>
            </a:r>
            <a:br>
              <a:rPr lang="en-IN" sz="1600" b="1" u="sng" dirty="0">
                <a:effectLst/>
                <a:latin typeface="Calibri" panose="020F0502020204030204" pitchFamily="34" charset="0"/>
                <a:ea typeface="Calibri" panose="020F0502020204030204" pitchFamily="34" charset="0"/>
                <a:cs typeface="Calibri" panose="020F0502020204030204" pitchFamily="34" charset="0"/>
              </a:rPr>
            </a:br>
            <a:r>
              <a:rPr lang="en-IN" sz="1600" dirty="0">
                <a:effectLst/>
                <a:latin typeface="Symbol" panose="05050102010706020507" pitchFamily="18" charset="2"/>
                <a:ea typeface="Calibri" panose="020F0502020204030204" pitchFamily="34" charset="0"/>
                <a:cs typeface="Times New Roman" panose="02020603050405020304" pitchFamily="18" charset="0"/>
              </a:rPr>
              <a:t>·</a:t>
            </a:r>
            <a:r>
              <a:rPr lang="en-IN" sz="1600" dirty="0">
                <a:effectLst/>
                <a:latin typeface="Calibri" panose="020F0502020204030204" pitchFamily="34" charset="0"/>
                <a:ea typeface="Calibri" panose="020F0502020204030204" pitchFamily="34" charset="0"/>
                <a:cs typeface="Calibri" panose="020F0502020204030204" pitchFamily="34" charset="0"/>
              </a:rPr>
              <a:t>FUNCTION GENERATOR</a:t>
            </a:r>
            <a:br>
              <a:rPr lang="en-IN" sz="1600" dirty="0">
                <a:effectLst/>
                <a:latin typeface="Calibri" panose="020F0502020204030204" pitchFamily="34" charset="0"/>
                <a:ea typeface="Calibri" panose="020F0502020204030204" pitchFamily="34" charset="0"/>
                <a:cs typeface="Calibri" panose="020F0502020204030204" pitchFamily="34" charset="0"/>
              </a:rPr>
            </a:br>
            <a:r>
              <a:rPr lang="en-IN" sz="1600" dirty="0">
                <a:effectLst/>
                <a:latin typeface="Symbol" panose="05050102010706020507" pitchFamily="18" charset="2"/>
                <a:ea typeface="Calibri" panose="020F0502020204030204" pitchFamily="34" charset="0"/>
                <a:cs typeface="Times New Roman" panose="02020603050405020304" pitchFamily="18" charset="0"/>
              </a:rPr>
              <a:t>·</a:t>
            </a:r>
            <a:r>
              <a:rPr lang="en-IN" sz="1600" dirty="0">
                <a:effectLst/>
                <a:latin typeface="Calibri" panose="020F0502020204030204" pitchFamily="34" charset="0"/>
                <a:ea typeface="Calibri" panose="020F0502020204030204" pitchFamily="34" charset="0"/>
                <a:cs typeface="Calibri" panose="020F0502020204030204" pitchFamily="34" charset="0"/>
              </a:rPr>
              <a:t>C.R.O(Cathode Ray Oscilloscope)</a:t>
            </a:r>
            <a:br>
              <a:rPr lang="en-IN" sz="1600" dirty="0">
                <a:effectLst/>
                <a:latin typeface="Calibri" panose="020F0502020204030204" pitchFamily="34" charset="0"/>
                <a:ea typeface="Calibri" panose="020F0502020204030204" pitchFamily="34" charset="0"/>
                <a:cs typeface="Calibri" panose="020F0502020204030204" pitchFamily="34" charset="0"/>
              </a:rPr>
            </a:br>
            <a:r>
              <a:rPr lang="en-IN" sz="1600" dirty="0">
                <a:effectLst/>
                <a:latin typeface="Symbol" panose="05050102010706020507" pitchFamily="18" charset="2"/>
                <a:ea typeface="Calibri" panose="020F0502020204030204" pitchFamily="34" charset="0"/>
                <a:cs typeface="Times New Roman" panose="02020603050405020304" pitchFamily="18" charset="0"/>
              </a:rPr>
              <a:t>·</a:t>
            </a:r>
            <a:r>
              <a:rPr lang="en-IN" sz="1600" dirty="0">
                <a:effectLst/>
                <a:latin typeface="Calibri" panose="020F0502020204030204" pitchFamily="34" charset="0"/>
                <a:ea typeface="Calibri" panose="020F0502020204030204" pitchFamily="34" charset="0"/>
                <a:cs typeface="Calibri" panose="020F0502020204030204" pitchFamily="34" charset="0"/>
              </a:rPr>
              <a:t>SINGLE STRANDED WIRE        </a:t>
            </a:r>
            <a:br>
              <a:rPr lang="en-IN" sz="1600" dirty="0">
                <a:effectLst/>
                <a:latin typeface="Calibri" panose="020F0502020204030204" pitchFamily="34" charset="0"/>
                <a:ea typeface="Calibri" panose="020F0502020204030204" pitchFamily="34" charset="0"/>
                <a:cs typeface="Calibri" panose="020F0502020204030204" pitchFamily="34" charset="0"/>
              </a:rPr>
            </a:br>
            <a:r>
              <a:rPr lang="en-IN" sz="1600" dirty="0">
                <a:effectLst/>
                <a:latin typeface="Symbol" panose="05050102010706020507" pitchFamily="18" charset="2"/>
                <a:ea typeface="Calibri" panose="020F0502020204030204" pitchFamily="34" charset="0"/>
                <a:cs typeface="Times New Roman" panose="02020603050405020304" pitchFamily="18" charset="0"/>
              </a:rPr>
              <a:t>·</a:t>
            </a:r>
            <a:r>
              <a:rPr lang="en-IN" sz="1600" dirty="0">
                <a:effectLst/>
                <a:latin typeface="Calibri" panose="020F0502020204030204" pitchFamily="34" charset="0"/>
                <a:ea typeface="Calibri" panose="020F0502020204030204" pitchFamily="34" charset="0"/>
                <a:cs typeface="Calibri" panose="020F0502020204030204" pitchFamily="34" charset="0"/>
              </a:rPr>
              <a:t>PCB (Printed Circuit Board)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1" name="Text Box 48">
            <a:extLst>
              <a:ext uri="{FF2B5EF4-FFF2-40B4-BE49-F238E27FC236}">
                <a16:creationId xmlns:a16="http://schemas.microsoft.com/office/drawing/2014/main" id="{B189CAF0-3BB9-46A8-8D8B-69ED881537D2}"/>
              </a:ext>
            </a:extLst>
          </p:cNvPr>
          <p:cNvSpPr txBox="1"/>
          <p:nvPr/>
        </p:nvSpPr>
        <p:spPr>
          <a:xfrm>
            <a:off x="10360426" y="4545607"/>
            <a:ext cx="1934547" cy="3150626"/>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IN" sz="1600" u="sng" dirty="0">
                <a:effectLst/>
                <a:latin typeface="Calibri" panose="020F0502020204030204" pitchFamily="34" charset="0"/>
                <a:ea typeface="Calibri" panose="020F0502020204030204" pitchFamily="34" charset="0"/>
                <a:cs typeface="Calibri" panose="020F0502020204030204" pitchFamily="34" charset="0"/>
              </a:rPr>
              <a:t>FOR CLIPPING CIRCUIT</a:t>
            </a:r>
            <a:br>
              <a:rPr lang="en-IN" sz="1600" u="sng" dirty="0">
                <a:effectLst/>
                <a:latin typeface="Calibri" panose="020F0502020204030204" pitchFamily="34" charset="0"/>
                <a:ea typeface="Calibri" panose="020F0502020204030204" pitchFamily="34" charset="0"/>
                <a:cs typeface="Calibri" panose="020F0502020204030204" pitchFamily="34" charset="0"/>
              </a:rPr>
            </a:br>
            <a:r>
              <a:rPr lang="en-IN" sz="1600" dirty="0">
                <a:effectLst/>
                <a:latin typeface="Symbol" panose="05050102010706020507" pitchFamily="18" charset="2"/>
                <a:ea typeface="Calibri" panose="020F0502020204030204" pitchFamily="34" charset="0"/>
                <a:cs typeface="Times New Roman" panose="02020603050405020304" pitchFamily="18" charset="0"/>
              </a:rPr>
              <a:t>·</a:t>
            </a:r>
            <a:r>
              <a:rPr lang="en-IN" sz="1600" dirty="0">
                <a:effectLst/>
                <a:latin typeface="Calibri" panose="020F0502020204030204" pitchFamily="34" charset="0"/>
                <a:ea typeface="Calibri" panose="020F0502020204030204" pitchFamily="34" charset="0"/>
                <a:cs typeface="Times New Roman" panose="02020603050405020304" pitchFamily="18" charset="0"/>
              </a:rPr>
              <a:t>AC VOLTAGE SOURCE</a:t>
            </a:r>
            <a:br>
              <a:rPr lang="en-IN" sz="1600" dirty="0">
                <a:effectLst/>
                <a:latin typeface="Calibri" panose="020F0502020204030204" pitchFamily="34" charset="0"/>
                <a:ea typeface="Calibri" panose="020F0502020204030204" pitchFamily="34" charset="0"/>
                <a:cs typeface="Times New Roman" panose="02020603050405020304" pitchFamily="18" charset="0"/>
              </a:rPr>
            </a:br>
            <a:r>
              <a:rPr lang="en-IN" sz="1600" dirty="0">
                <a:effectLst/>
                <a:latin typeface="Symbol" panose="05050102010706020507" pitchFamily="18" charset="2"/>
                <a:ea typeface="Calibri" panose="020F0502020204030204" pitchFamily="34" charset="0"/>
                <a:cs typeface="Times New Roman" panose="02020603050405020304" pitchFamily="18" charset="0"/>
              </a:rPr>
              <a:t>·</a:t>
            </a:r>
            <a:r>
              <a:rPr lang="en-IN" sz="1600" dirty="0">
                <a:effectLst/>
                <a:latin typeface="Calibri" panose="020F0502020204030204" pitchFamily="34" charset="0"/>
                <a:ea typeface="Calibri" panose="020F0502020204030204" pitchFamily="34" charset="0"/>
                <a:cs typeface="Times New Roman" panose="02020603050405020304" pitchFamily="18" charset="0"/>
              </a:rPr>
              <a:t>RESITANCE – 1K</a:t>
            </a:r>
            <a:r>
              <a:rPr lang="en-IN" sz="1600" dirty="0">
                <a:effectLst/>
                <a:latin typeface="Calibri" panose="020F0502020204030204" pitchFamily="34" charset="0"/>
                <a:ea typeface="Calibri" panose="020F0502020204030204" pitchFamily="34" charset="0"/>
                <a:cs typeface="Calibri" panose="020F0502020204030204" pitchFamily="34" charset="0"/>
              </a:rPr>
              <a:t>Ω</a:t>
            </a:r>
            <a:r>
              <a:rPr lang="en-IN" sz="1600" dirty="0">
                <a:effectLst/>
                <a:latin typeface="Calibri" panose="020F0502020204030204" pitchFamily="34" charset="0"/>
                <a:ea typeface="Calibri" panose="020F0502020204030204" pitchFamily="34" charset="0"/>
                <a:cs typeface="Times New Roman" panose="02020603050405020304" pitchFamily="18" charset="0"/>
              </a:rPr>
              <a:t> &amp; 10K</a:t>
            </a:r>
            <a:r>
              <a:rPr lang="en-IN" sz="1600" dirty="0">
                <a:effectLst/>
                <a:latin typeface="Calibri" panose="020F0502020204030204" pitchFamily="34" charset="0"/>
                <a:ea typeface="Calibri" panose="020F0502020204030204" pitchFamily="34" charset="0"/>
                <a:cs typeface="Calibri" panose="020F0502020204030204" pitchFamily="34" charset="0"/>
              </a:rPr>
              <a:t>Ω</a:t>
            </a:r>
            <a:br>
              <a:rPr lang="en-IN" sz="1600" dirty="0">
                <a:effectLst/>
                <a:latin typeface="Calibri" panose="020F0502020204030204" pitchFamily="34" charset="0"/>
                <a:ea typeface="Calibri" panose="020F0502020204030204" pitchFamily="34" charset="0"/>
                <a:cs typeface="Calibri" panose="020F0502020204030204" pitchFamily="34" charset="0"/>
              </a:rPr>
            </a:br>
            <a:r>
              <a:rPr lang="en-IN" sz="1600" dirty="0">
                <a:effectLst/>
                <a:latin typeface="Symbol" panose="05050102010706020507" pitchFamily="18" charset="2"/>
                <a:ea typeface="Calibri" panose="020F0502020204030204" pitchFamily="34" charset="0"/>
                <a:cs typeface="Times New Roman" panose="02020603050405020304" pitchFamily="18" charset="0"/>
              </a:rPr>
              <a:t>·</a:t>
            </a:r>
            <a:r>
              <a:rPr lang="en-IN" sz="1600" dirty="0">
                <a:effectLst/>
                <a:latin typeface="Calibri" panose="020F0502020204030204" pitchFamily="34" charset="0"/>
                <a:ea typeface="Calibri" panose="020F0502020204030204" pitchFamily="34" charset="0"/>
                <a:cs typeface="Times New Roman" panose="02020603050405020304" pitchFamily="18" charset="0"/>
              </a:rPr>
              <a:t>TWO DIODES (D1 &amp; D2)</a:t>
            </a:r>
            <a:br>
              <a:rPr lang="en-IN" sz="1600" dirty="0">
                <a:effectLst/>
                <a:latin typeface="Calibri" panose="020F0502020204030204" pitchFamily="34" charset="0"/>
                <a:ea typeface="Calibri" panose="020F0502020204030204" pitchFamily="34" charset="0"/>
                <a:cs typeface="Times New Roman" panose="02020603050405020304" pitchFamily="18" charset="0"/>
              </a:rPr>
            </a:br>
            <a:r>
              <a:rPr lang="en-IN" sz="1600" dirty="0">
                <a:effectLst/>
                <a:latin typeface="Symbol" panose="05050102010706020507" pitchFamily="18" charset="2"/>
                <a:ea typeface="Calibri" panose="020F0502020204030204" pitchFamily="34" charset="0"/>
                <a:cs typeface="Times New Roman" panose="02020603050405020304" pitchFamily="18" charset="0"/>
              </a:rPr>
              <a:t>·</a:t>
            </a:r>
            <a:r>
              <a:rPr lang="en-IN" sz="1600" dirty="0">
                <a:effectLst/>
                <a:latin typeface="Calibri" panose="020F0502020204030204" pitchFamily="34" charset="0"/>
                <a:ea typeface="Calibri" panose="020F0502020204030204" pitchFamily="34" charset="0"/>
                <a:cs typeface="Times New Roman" panose="02020603050405020304" pitchFamily="18" charset="0"/>
              </a:rPr>
              <a:t>TWO 2V DC SOURCE (Vb1 &amp;Vb2)</a:t>
            </a:r>
          </a:p>
        </p:txBody>
      </p:sp>
      <p:sp>
        <p:nvSpPr>
          <p:cNvPr id="32" name="Text Box 49">
            <a:extLst>
              <a:ext uri="{FF2B5EF4-FFF2-40B4-BE49-F238E27FC236}">
                <a16:creationId xmlns:a16="http://schemas.microsoft.com/office/drawing/2014/main" id="{4D81C075-7418-472E-AA06-F07906D1B315}"/>
              </a:ext>
            </a:extLst>
          </p:cNvPr>
          <p:cNvSpPr txBox="1"/>
          <p:nvPr/>
        </p:nvSpPr>
        <p:spPr>
          <a:xfrm>
            <a:off x="12517395" y="4545606"/>
            <a:ext cx="1934547" cy="3150626"/>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IN" sz="1600" u="sng" dirty="0">
                <a:effectLst/>
                <a:latin typeface="Calibri" panose="020F0502020204030204" pitchFamily="34" charset="0"/>
                <a:ea typeface="Calibri" panose="020F0502020204030204" pitchFamily="34" charset="0"/>
                <a:cs typeface="Calibri" panose="020F0502020204030204" pitchFamily="34" charset="0"/>
              </a:rPr>
              <a:t>FOR CLAMPER CIRCUIT</a:t>
            </a:r>
            <a:br>
              <a:rPr lang="en-IN" sz="1600" dirty="0">
                <a:effectLst/>
                <a:latin typeface="Calibri" panose="020F0502020204030204" pitchFamily="34" charset="0"/>
                <a:ea typeface="Calibri" panose="020F0502020204030204" pitchFamily="34" charset="0"/>
                <a:cs typeface="Calibri" panose="020F0502020204030204" pitchFamily="34" charset="0"/>
              </a:rPr>
            </a:br>
            <a:r>
              <a:rPr lang="en-IN" sz="1600" dirty="0">
                <a:effectLst/>
                <a:latin typeface="Symbol" panose="05050102010706020507" pitchFamily="18" charset="2"/>
                <a:ea typeface="Calibri" panose="020F0502020204030204" pitchFamily="34" charset="0"/>
                <a:cs typeface="Times New Roman" panose="02020603050405020304" pitchFamily="18" charset="0"/>
              </a:rPr>
              <a:t>·</a:t>
            </a:r>
            <a:r>
              <a:rPr lang="en-IN" sz="1600" dirty="0">
                <a:effectLst/>
                <a:latin typeface="Calibri" panose="020F0502020204030204" pitchFamily="34" charset="0"/>
                <a:ea typeface="Calibri" panose="020F0502020204030204" pitchFamily="34" charset="0"/>
                <a:cs typeface="Times New Roman" panose="02020603050405020304" pitchFamily="18" charset="0"/>
              </a:rPr>
              <a:t>CAPACITOR – 0.1</a:t>
            </a:r>
            <a:r>
              <a:rPr lang="en-IN" sz="1600" dirty="0">
                <a:effectLst/>
                <a:latin typeface="Calibri" panose="020F0502020204030204" pitchFamily="34" charset="0"/>
                <a:ea typeface="Calibri" panose="020F0502020204030204" pitchFamily="34" charset="0"/>
                <a:cs typeface="Calibri" panose="020F0502020204030204" pitchFamily="34" charset="0"/>
              </a:rPr>
              <a:t>μ</a:t>
            </a:r>
            <a:r>
              <a:rPr lang="en-IN" sz="1600" dirty="0">
                <a:effectLst/>
                <a:latin typeface="Calibri" panose="020F0502020204030204" pitchFamily="34" charset="0"/>
                <a:ea typeface="Calibri" panose="020F0502020204030204" pitchFamily="34" charset="0"/>
                <a:cs typeface="Times New Roman" panose="02020603050405020304" pitchFamily="18" charset="0"/>
              </a:rPr>
              <a:t>F</a:t>
            </a:r>
            <a:br>
              <a:rPr lang="en-IN" sz="1600" dirty="0">
                <a:effectLst/>
                <a:latin typeface="Calibri" panose="020F0502020204030204" pitchFamily="34" charset="0"/>
                <a:ea typeface="Calibri" panose="020F0502020204030204" pitchFamily="34" charset="0"/>
                <a:cs typeface="Times New Roman" panose="02020603050405020304" pitchFamily="18" charset="0"/>
              </a:rPr>
            </a:br>
            <a:r>
              <a:rPr lang="en-IN" sz="1600" dirty="0">
                <a:effectLst/>
                <a:latin typeface="Symbol" panose="05050102010706020507" pitchFamily="18" charset="2"/>
                <a:ea typeface="Calibri" panose="020F0502020204030204" pitchFamily="34" charset="0"/>
                <a:cs typeface="Times New Roman" panose="02020603050405020304" pitchFamily="18" charset="0"/>
              </a:rPr>
              <a:t>·</a:t>
            </a:r>
            <a:r>
              <a:rPr lang="en-IN" sz="1600" dirty="0">
                <a:effectLst/>
                <a:latin typeface="Calibri" panose="020F0502020204030204" pitchFamily="34" charset="0"/>
                <a:ea typeface="Calibri" panose="020F0502020204030204" pitchFamily="34" charset="0"/>
                <a:cs typeface="Times New Roman" panose="02020603050405020304" pitchFamily="18" charset="0"/>
              </a:rPr>
              <a:t>RESISTANCE – 100K</a:t>
            </a:r>
            <a:r>
              <a:rPr lang="en-IN" sz="1600" dirty="0">
                <a:effectLst/>
                <a:latin typeface="Calibri" panose="020F0502020204030204" pitchFamily="34" charset="0"/>
                <a:ea typeface="Calibri" panose="020F0502020204030204" pitchFamily="34" charset="0"/>
                <a:cs typeface="Calibri" panose="020F0502020204030204" pitchFamily="34" charset="0"/>
              </a:rPr>
              <a:t>Ω</a:t>
            </a:r>
            <a:br>
              <a:rPr lang="en-IN" sz="1600" dirty="0">
                <a:effectLst/>
                <a:latin typeface="Calibri" panose="020F0502020204030204" pitchFamily="34" charset="0"/>
                <a:ea typeface="Calibri" panose="020F0502020204030204" pitchFamily="34" charset="0"/>
                <a:cs typeface="Times New Roman" panose="02020603050405020304" pitchFamily="18" charset="0"/>
              </a:rPr>
            </a:br>
            <a:r>
              <a:rPr lang="en-IN" sz="1600" dirty="0">
                <a:effectLst/>
                <a:latin typeface="Symbol" panose="05050102010706020507" pitchFamily="18" charset="2"/>
                <a:ea typeface="Calibri" panose="020F0502020204030204" pitchFamily="34" charset="0"/>
                <a:cs typeface="Times New Roman" panose="02020603050405020304" pitchFamily="18" charset="0"/>
              </a:rPr>
              <a:t>·</a:t>
            </a:r>
            <a:r>
              <a:rPr lang="en-IN" sz="1600" dirty="0">
                <a:effectLst/>
                <a:latin typeface="Calibri" panose="020F0502020204030204" pitchFamily="34" charset="0"/>
                <a:ea typeface="Calibri" panose="020F0502020204030204" pitchFamily="34" charset="0"/>
                <a:cs typeface="Calibri" panose="020F0502020204030204" pitchFamily="34" charset="0"/>
              </a:rPr>
              <a:t>DIODE(D3)</a:t>
            </a:r>
            <a:br>
              <a:rPr lang="en-IN" sz="1600" dirty="0">
                <a:effectLst/>
                <a:latin typeface="Calibri" panose="020F0502020204030204" pitchFamily="34" charset="0"/>
                <a:ea typeface="Calibri" panose="020F0502020204030204" pitchFamily="34" charset="0"/>
                <a:cs typeface="Times New Roman" panose="02020603050405020304" pitchFamily="18" charset="0"/>
              </a:rPr>
            </a:br>
            <a:br>
              <a:rPr lang="en-IN" sz="1100" dirty="0">
                <a:effectLst/>
                <a:latin typeface="Calibri" panose="020F0502020204030204" pitchFamily="34" charset="0"/>
                <a:ea typeface="Calibri" panose="020F0502020204030204" pitchFamily="34" charset="0"/>
                <a:cs typeface="Calibri" panose="020F0502020204030204" pitchFamily="34" charset="0"/>
              </a:rPr>
            </a:b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 Box 32">
            <a:extLst>
              <a:ext uri="{FF2B5EF4-FFF2-40B4-BE49-F238E27FC236}">
                <a16:creationId xmlns:a16="http://schemas.microsoft.com/office/drawing/2014/main" id="{541B52A4-74ED-44F8-B3C6-F01D1341558B}"/>
              </a:ext>
            </a:extLst>
          </p:cNvPr>
          <p:cNvSpPr txBox="1"/>
          <p:nvPr/>
        </p:nvSpPr>
        <p:spPr>
          <a:xfrm>
            <a:off x="1992612" y="3065233"/>
            <a:ext cx="6626225" cy="350878"/>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600" i="1" u="sng" dirty="0">
                <a:effectLst/>
                <a:latin typeface="Calibri" panose="020F0502020204030204" pitchFamily="34" charset="0"/>
                <a:ea typeface="Calibri" panose="020F0502020204030204" pitchFamily="34" charset="0"/>
                <a:cs typeface="Times New Roman" panose="02020603050405020304" pitchFamily="18" charset="0"/>
              </a:rPr>
              <a:t>Fig.13.4: Corresponding Input and Output Waveform At 2-2</a:t>
            </a:r>
            <a:r>
              <a:rPr lang="en-US" sz="800" i="1" u="sng" dirty="0">
                <a:effectLst/>
                <a:latin typeface="Calibri" panose="020F0502020204030204" pitchFamily="34" charset="0"/>
                <a:ea typeface="Calibri" panose="020F0502020204030204" pitchFamily="34" charset="0"/>
                <a:cs typeface="Times New Roman" panose="02020603050405020304" pitchFamily="18"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 name="Picture 9">
            <a:extLst>
              <a:ext uri="{FF2B5EF4-FFF2-40B4-BE49-F238E27FC236}">
                <a16:creationId xmlns:a16="http://schemas.microsoft.com/office/drawing/2014/main" id="{2E7B50BD-0353-4F05-BCFB-E9EF5F3596E3}"/>
              </a:ext>
            </a:extLst>
          </p:cNvPr>
          <p:cNvPicPr/>
          <p:nvPr/>
        </p:nvPicPr>
        <p:blipFill rotWithShape="1">
          <a:blip r:embed="rId4" cstate="print">
            <a:extLst>
              <a:ext uri="{28A0092B-C50C-407E-A947-70E740481C1C}">
                <a14:useLocalDpi xmlns:a14="http://schemas.microsoft.com/office/drawing/2010/main" val="0"/>
              </a:ext>
            </a:extLst>
          </a:blip>
          <a:srcRect l="458" t="16516" r="-14" b="10341"/>
          <a:stretch/>
        </p:blipFill>
        <p:spPr bwMode="auto">
          <a:xfrm>
            <a:off x="116515" y="78053"/>
            <a:ext cx="9793604" cy="2961710"/>
          </a:xfrm>
          <a:prstGeom prst="rect">
            <a:avLst/>
          </a:prstGeom>
          <a:ln>
            <a:noFill/>
          </a:ln>
          <a:extLst>
            <a:ext uri="{53640926-AAD7-44D8-BBD7-CCE9431645EC}">
              <a14:shadowObscured xmlns:a14="http://schemas.microsoft.com/office/drawing/2010/main"/>
            </a:ext>
          </a:extLst>
        </p:spPr>
      </p:pic>
      <p:sp>
        <p:nvSpPr>
          <p:cNvPr id="5" name="Rectangle 2">
            <a:extLst>
              <a:ext uri="{FF2B5EF4-FFF2-40B4-BE49-F238E27FC236}">
                <a16:creationId xmlns:a16="http://schemas.microsoft.com/office/drawing/2014/main" id="{6E9F3801-EA5B-49A8-9CB1-801BD3C1ADFD}"/>
              </a:ext>
            </a:extLst>
          </p:cNvPr>
          <p:cNvSpPr>
            <a:spLocks noChangeArrowheads="1"/>
          </p:cNvSpPr>
          <p:nvPr/>
        </p:nvSpPr>
        <p:spPr bwMode="auto">
          <a:xfrm>
            <a:off x="9910119" y="0"/>
            <a:ext cx="472028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For Positive Clamper </a:t>
            </a:r>
            <a:r>
              <a:rPr kumimoji="0" lang="en-US" altLang="en-US" sz="2000" b="1" i="0" u="none" strike="noStrike" cap="none" normalizeH="0" baseline="0" dirty="0" err="1">
                <a:ln>
                  <a:noFill/>
                </a:ln>
                <a:solidFill>
                  <a:schemeClr val="tx1"/>
                </a:solidFill>
                <a:effectLst/>
                <a:latin typeface="Arial" panose="020B0604020202020204" pitchFamily="34" charset="0"/>
              </a:rPr>
              <a:t>Circuit</a:t>
            </a:r>
            <a:r>
              <a:rPr kumimoji="0" lang="en-US" altLang="en-US" sz="2000" b="0" i="0" u="none" strike="noStrike" cap="none" normalizeH="0" baseline="0" dirty="0" err="1">
                <a:ln>
                  <a:noFill/>
                </a:ln>
                <a:solidFill>
                  <a:schemeClr val="tx1"/>
                </a:solidFill>
                <a:effectLst/>
                <a:latin typeface="Arial" panose="020B0604020202020204" pitchFamily="34" charset="0"/>
              </a:rPr>
              <a:t>:The</a:t>
            </a:r>
            <a:r>
              <a:rPr kumimoji="0" lang="en-US" altLang="en-US" sz="2000" b="0" i="0" u="none" strike="noStrike" cap="none" normalizeH="0" baseline="0" dirty="0">
                <a:ln>
                  <a:noFill/>
                </a:ln>
                <a:solidFill>
                  <a:schemeClr val="tx1"/>
                </a:solidFill>
                <a:effectLst/>
                <a:latin typeface="Arial" panose="020B0604020202020204" pitchFamily="34" charset="0"/>
              </a:rPr>
              <a:t> output from the clipper circuit is fed into a positive clamper. Initially, the diode is reverse biased. During the negative half cycle, the diode conducts and charges the capacitor to 2V. In the next positive half cycle, the diode is reverse biased, and the output becomes </a:t>
            </a:r>
            <a:r>
              <a:rPr kumimoji="0" lang="en-US" altLang="en-US" sz="2000" b="0" i="0" u="none" strike="noStrike" cap="none" normalizeH="0" baseline="0" dirty="0" err="1">
                <a:ln>
                  <a:noFill/>
                </a:ln>
                <a:solidFill>
                  <a:schemeClr val="tx1"/>
                </a:solidFill>
                <a:effectLst/>
                <a:latin typeface="Arial" panose="020B0604020202020204" pitchFamily="34" charset="0"/>
              </a:rPr>
              <a:t>Vout</a:t>
            </a:r>
            <a:r>
              <a:rPr kumimoji="0" lang="en-US" altLang="en-US" sz="2000" b="0" i="0" u="none" strike="noStrike" cap="none" normalizeH="0" baseline="0" dirty="0">
                <a:ln>
                  <a:noFill/>
                </a:ln>
                <a:solidFill>
                  <a:schemeClr val="tx1"/>
                </a:solidFill>
                <a:effectLst/>
                <a:latin typeface="Arial" panose="020B0604020202020204" pitchFamily="34" charset="0"/>
              </a:rPr>
              <a:t>=Vin+2V, thus shifting the signal positively</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circle(in)">
                                      <p:cBhvr>
                                        <p:cTn id="10" dur="2000"/>
                                        <p:tgtEl>
                                          <p:spTgt spid="5"/>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circle(in)">
                                      <p:cBhvr>
                                        <p:cTn id="13" dur="20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5"/>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1"/>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4" grpId="0" animBg="1"/>
      <p:bldP spid="30" grpId="0" animBg="1"/>
      <p:bldP spid="31" grpId="0" animBg="1"/>
      <p:bldP spid="32" grpId="0" animBg="1"/>
      <p:bldP spid="9" grpId="0" animBg="1"/>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C51313A-839C-4C91-89A9-D369E1CF4CBD}"/>
              </a:ext>
            </a:extLst>
          </p:cNvPr>
          <p:cNvSpPr txBox="1"/>
          <p:nvPr/>
        </p:nvSpPr>
        <p:spPr>
          <a:xfrm>
            <a:off x="3104516" y="91440"/>
            <a:ext cx="8618220" cy="584775"/>
          </a:xfrm>
          <a:prstGeom prst="rect">
            <a:avLst/>
          </a:prstGeom>
          <a:noFill/>
        </p:spPr>
        <p:txBody>
          <a:bodyPr wrap="square" rtlCol="0">
            <a:spAutoFit/>
          </a:bodyPr>
          <a:lstStyle/>
          <a:p>
            <a:r>
              <a:rPr lang="en-IN" sz="3200" b="1" u="sng" dirty="0">
                <a:latin typeface="Times New Roman" panose="02020603050405020304" pitchFamily="18" charset="0"/>
                <a:cs typeface="Times New Roman" panose="02020603050405020304" pitchFamily="18" charset="0"/>
              </a:rPr>
              <a:t>PRINTED CIRCUIT BOARD (PCB) DESIGN</a:t>
            </a:r>
            <a:endParaRPr lang="en-IN" sz="3200"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B5CE5698-4CBB-4816-AF4B-06639035E135}"/>
              </a:ext>
            </a:extLst>
          </p:cNvPr>
          <p:cNvSpPr/>
          <p:nvPr/>
        </p:nvSpPr>
        <p:spPr>
          <a:xfrm>
            <a:off x="3781424" y="1028700"/>
            <a:ext cx="3463290" cy="7109460"/>
          </a:xfrm>
          <a:prstGeom prst="rect">
            <a:avLst/>
          </a:prstGeom>
          <a:solidFill>
            <a:schemeClr val="accent4">
              <a:lumMod val="60000"/>
              <a:lumOff val="40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4578D53F-9EE5-4DBB-88FE-0B185DD6EBF1}"/>
              </a:ext>
            </a:extLst>
          </p:cNvPr>
          <p:cNvSpPr/>
          <p:nvPr/>
        </p:nvSpPr>
        <p:spPr>
          <a:xfrm>
            <a:off x="7413626" y="1028700"/>
            <a:ext cx="3463290" cy="7109460"/>
          </a:xfrm>
          <a:prstGeom prst="rect">
            <a:avLst/>
          </a:prstGeom>
          <a:solidFill>
            <a:schemeClr val="tx2">
              <a:lumMod val="60000"/>
              <a:lumOff val="40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5774E4D8-BA65-4ED2-AE36-F6B0040681E2}"/>
              </a:ext>
            </a:extLst>
          </p:cNvPr>
          <p:cNvSpPr/>
          <p:nvPr/>
        </p:nvSpPr>
        <p:spPr>
          <a:xfrm>
            <a:off x="11101071" y="1011288"/>
            <a:ext cx="3463290" cy="7109460"/>
          </a:xfrm>
          <a:prstGeom prst="rect">
            <a:avLst/>
          </a:prstGeom>
          <a:solidFill>
            <a:schemeClr val="accent6">
              <a:lumMod val="60000"/>
              <a:lumOff val="40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6483E3AB-1166-4935-BB31-5106D7519BFB}"/>
              </a:ext>
            </a:extLst>
          </p:cNvPr>
          <p:cNvSpPr/>
          <p:nvPr/>
        </p:nvSpPr>
        <p:spPr>
          <a:xfrm>
            <a:off x="93979" y="1014752"/>
            <a:ext cx="3463290" cy="7109460"/>
          </a:xfrm>
          <a:prstGeom prst="rect">
            <a:avLst/>
          </a:prstGeom>
          <a:solidFill>
            <a:schemeClr val="accent2">
              <a:lumMod val="60000"/>
              <a:lumOff val="40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CC70361C-C1A5-438C-8A82-0ADFEA592CD5}"/>
              </a:ext>
            </a:extLst>
          </p:cNvPr>
          <p:cNvPicPr/>
          <p:nvPr/>
        </p:nvPicPr>
        <p:blipFill rotWithShape="1">
          <a:blip r:embed="rId3"/>
          <a:srcRect l="2652" t="2806" r="2092" b="7072"/>
          <a:stretch/>
        </p:blipFill>
        <p:spPr bwMode="auto">
          <a:xfrm rot="10800000">
            <a:off x="279399" y="1293434"/>
            <a:ext cx="3092450" cy="2741354"/>
          </a:xfrm>
          <a:prstGeom prst="rect">
            <a:avLst/>
          </a:prstGeom>
          <a:ln>
            <a:noFill/>
          </a:ln>
          <a:extLst>
            <a:ext uri="{53640926-AAD7-44D8-BBD7-CCE9431645EC}">
              <a14:shadowObscured xmlns:a14="http://schemas.microsoft.com/office/drawing/2010/main"/>
            </a:ext>
          </a:extLst>
        </p:spPr>
      </p:pic>
      <p:sp>
        <p:nvSpPr>
          <p:cNvPr id="15" name="Text Box 75">
            <a:extLst>
              <a:ext uri="{FF2B5EF4-FFF2-40B4-BE49-F238E27FC236}">
                <a16:creationId xmlns:a16="http://schemas.microsoft.com/office/drawing/2014/main" id="{7B45C1A8-1BCD-48A6-889C-8E6606EDDB2A}"/>
              </a:ext>
            </a:extLst>
          </p:cNvPr>
          <p:cNvSpPr txBox="1"/>
          <p:nvPr/>
        </p:nvSpPr>
        <p:spPr>
          <a:xfrm>
            <a:off x="309878" y="4114800"/>
            <a:ext cx="3092452" cy="66294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600" i="1" u="sng" dirty="0">
                <a:effectLst/>
                <a:latin typeface="Calibri" panose="020F0502020204030204" pitchFamily="34" charset="0"/>
                <a:ea typeface="Calibri" panose="020F0502020204030204" pitchFamily="34" charset="0"/>
                <a:cs typeface="Times New Roman" panose="02020603050405020304" pitchFamily="18" charset="0"/>
              </a:rPr>
              <a:t>Fig.15.1: PCB Design Layout Using EasyEDA</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67BDE0B9-FAEC-4EB6-9A5D-D7C127A27B4A}"/>
              </a:ext>
            </a:extLst>
          </p:cNvPr>
          <p:cNvSpPr txBox="1"/>
          <p:nvPr/>
        </p:nvSpPr>
        <p:spPr>
          <a:xfrm>
            <a:off x="309878" y="5394960"/>
            <a:ext cx="2843531" cy="1200329"/>
          </a:xfrm>
          <a:prstGeom prst="rect">
            <a:avLst/>
          </a:prstGeom>
          <a:noFill/>
        </p:spPr>
        <p:txBody>
          <a:bodyPr wrap="square" rtlCol="0">
            <a:spAutoFit/>
          </a:bodyPr>
          <a:lstStyle/>
          <a:p>
            <a:pPr algn="ctr"/>
            <a:r>
              <a:rPr lang="en-IN" sz="3600" b="1" u="sng" dirty="0">
                <a:latin typeface="Tomorrow Semi Bold" panose="020B0604020202020204" charset="0"/>
              </a:rPr>
              <a:t>PCB LAYOUT DESIGNING</a:t>
            </a:r>
            <a:endParaRPr lang="en-IN" sz="3600" u="sng" dirty="0">
              <a:latin typeface="Tomorrow Semi Bold" panose="020B0604020202020204" charset="0"/>
            </a:endParaRPr>
          </a:p>
        </p:txBody>
      </p:sp>
      <p:pic>
        <p:nvPicPr>
          <p:cNvPr id="17" name="Picture 16">
            <a:extLst>
              <a:ext uri="{FF2B5EF4-FFF2-40B4-BE49-F238E27FC236}">
                <a16:creationId xmlns:a16="http://schemas.microsoft.com/office/drawing/2014/main" id="{DBC34AAD-17FD-4917-AC20-F979904E972D}"/>
              </a:ext>
            </a:extLst>
          </p:cNvPr>
          <p:cNvPicPr/>
          <p:nvPr/>
        </p:nvPicPr>
        <p:blipFill rotWithShape="1">
          <a:blip r:embed="rId4"/>
          <a:srcRect l="3614" r="792" b="2311"/>
          <a:stretch/>
        </p:blipFill>
        <p:spPr bwMode="auto">
          <a:xfrm rot="5400000">
            <a:off x="4495979" y="1834651"/>
            <a:ext cx="1944960" cy="3213417"/>
          </a:xfrm>
          <a:prstGeom prst="rect">
            <a:avLst/>
          </a:prstGeom>
          <a:ln>
            <a:noFill/>
          </a:ln>
          <a:extLst>
            <a:ext uri="{53640926-AAD7-44D8-BBD7-CCE9431645EC}">
              <a14:shadowObscured xmlns:a14="http://schemas.microsoft.com/office/drawing/2010/main"/>
            </a:ext>
          </a:extLst>
        </p:spPr>
      </p:pic>
      <p:pic>
        <p:nvPicPr>
          <p:cNvPr id="18" name="Picture 17" descr="C:\Users\Swapnil Saha\AppData\Local\Packages\Microsoft.YourPhone_8wekyb3d8bbwe\TempState\medias\IMG_20250703_151250.jpg">
            <a:extLst>
              <a:ext uri="{FF2B5EF4-FFF2-40B4-BE49-F238E27FC236}">
                <a16:creationId xmlns:a16="http://schemas.microsoft.com/office/drawing/2014/main" id="{8B4ACA32-9B27-4DE1-A898-CF81DB64ADC8}"/>
              </a:ext>
            </a:extLst>
          </p:cNvPr>
          <p:cNvPicPr/>
          <p:nvPr/>
        </p:nvPicPr>
        <p:blipFill rotWithShape="1">
          <a:blip r:embed="rId5">
            <a:extLst>
              <a:ext uri="{28A0092B-C50C-407E-A947-70E740481C1C}">
                <a14:useLocalDpi xmlns:a14="http://schemas.microsoft.com/office/drawing/2010/main" val="0"/>
              </a:ext>
            </a:extLst>
          </a:blip>
          <a:srcRect t="4327" r="28116" b="4142"/>
          <a:stretch/>
        </p:blipFill>
        <p:spPr bwMode="auto">
          <a:xfrm rot="5400000">
            <a:off x="4647106" y="4700132"/>
            <a:ext cx="1731925" cy="3246756"/>
          </a:xfrm>
          <a:prstGeom prst="rect">
            <a:avLst/>
          </a:prstGeom>
          <a:noFill/>
          <a:ln>
            <a:noFill/>
          </a:ln>
          <a:extLst>
            <a:ext uri="{53640926-AAD7-44D8-BBD7-CCE9431645EC}">
              <a14:shadowObscured xmlns:a14="http://schemas.microsoft.com/office/drawing/2010/main"/>
            </a:ext>
          </a:extLst>
        </p:spPr>
      </p:pic>
      <p:sp>
        <p:nvSpPr>
          <p:cNvPr id="19" name="Text Box 95">
            <a:extLst>
              <a:ext uri="{FF2B5EF4-FFF2-40B4-BE49-F238E27FC236}">
                <a16:creationId xmlns:a16="http://schemas.microsoft.com/office/drawing/2014/main" id="{8D403BF5-0FAC-462C-ADCC-78316EB5398B}"/>
              </a:ext>
            </a:extLst>
          </p:cNvPr>
          <p:cNvSpPr txBox="1"/>
          <p:nvPr/>
        </p:nvSpPr>
        <p:spPr>
          <a:xfrm>
            <a:off x="3861750" y="4505112"/>
            <a:ext cx="3213421" cy="611506"/>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IN" sz="800" i="1" u="sng" dirty="0">
                <a:effectLst/>
                <a:latin typeface="Calibri" panose="020F0502020204030204" pitchFamily="34" charset="0"/>
                <a:ea typeface="Calibri" panose="020F0502020204030204" pitchFamily="34" charset="0"/>
                <a:cs typeface="Times New Roman" panose="02020603050405020304" pitchFamily="18" charset="0"/>
              </a:rPr>
              <a:t> </a:t>
            </a:r>
            <a:r>
              <a:rPr lang="en-US" sz="1600" i="1" u="sng" dirty="0">
                <a:effectLst/>
                <a:latin typeface="Calibri" panose="020F0502020204030204" pitchFamily="34" charset="0"/>
                <a:ea typeface="Calibri" panose="020F0502020204030204" pitchFamily="34" charset="0"/>
                <a:cs typeface="Times New Roman" panose="02020603050405020304" pitchFamily="18" charset="0"/>
              </a:rPr>
              <a:t>Fig.15.2: Mirrored Image Of Circuit Design Layout For Temporary Mask</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0" name="Text Box 97">
            <a:extLst>
              <a:ext uri="{FF2B5EF4-FFF2-40B4-BE49-F238E27FC236}">
                <a16:creationId xmlns:a16="http://schemas.microsoft.com/office/drawing/2014/main" id="{ED9B2DBE-E3B5-4DEA-9222-2C24D9E50544}"/>
              </a:ext>
            </a:extLst>
          </p:cNvPr>
          <p:cNvSpPr txBox="1"/>
          <p:nvPr/>
        </p:nvSpPr>
        <p:spPr>
          <a:xfrm>
            <a:off x="3913980" y="7275095"/>
            <a:ext cx="3246755" cy="584775"/>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600" i="1" u="sng" dirty="0">
                <a:effectLst/>
                <a:latin typeface="Calibri" panose="020F0502020204030204" pitchFamily="34" charset="0"/>
                <a:ea typeface="Calibri" panose="020F0502020204030204" pitchFamily="34" charset="0"/>
                <a:cs typeface="Times New Roman" panose="02020603050405020304" pitchFamily="18" charset="0"/>
              </a:rPr>
              <a:t>Fig.15.3: Etching By Ferric Chloride Solution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BCCC92D7-F2D8-463C-BBEC-D805AE1806F3}"/>
              </a:ext>
            </a:extLst>
          </p:cNvPr>
          <p:cNvSpPr txBox="1"/>
          <p:nvPr/>
        </p:nvSpPr>
        <p:spPr>
          <a:xfrm>
            <a:off x="3913980" y="1152842"/>
            <a:ext cx="3161189" cy="1200329"/>
          </a:xfrm>
          <a:prstGeom prst="rect">
            <a:avLst/>
          </a:prstGeom>
          <a:noFill/>
        </p:spPr>
        <p:txBody>
          <a:bodyPr wrap="square" rtlCol="0">
            <a:spAutoFit/>
          </a:bodyPr>
          <a:lstStyle/>
          <a:p>
            <a:pPr algn="ctr"/>
            <a:r>
              <a:rPr lang="en-IN" sz="3600" b="1" u="sng" dirty="0">
                <a:latin typeface="Tomorrow Semi Bold" panose="020B0604020202020204" charset="0"/>
              </a:rPr>
              <a:t>PCB ETCHING PROCESS</a:t>
            </a:r>
            <a:endParaRPr lang="en-IN" sz="3600" dirty="0">
              <a:latin typeface="Tomorrow Semi Bold" panose="020B0604020202020204" charset="0"/>
            </a:endParaRPr>
          </a:p>
        </p:txBody>
      </p:sp>
      <p:sp>
        <p:nvSpPr>
          <p:cNvPr id="22" name="TextBox 21">
            <a:extLst>
              <a:ext uri="{FF2B5EF4-FFF2-40B4-BE49-F238E27FC236}">
                <a16:creationId xmlns:a16="http://schemas.microsoft.com/office/drawing/2014/main" id="{D5201D3B-B9F5-4C48-8073-D1E0FA0632DC}"/>
              </a:ext>
            </a:extLst>
          </p:cNvPr>
          <p:cNvSpPr txBox="1"/>
          <p:nvPr/>
        </p:nvSpPr>
        <p:spPr>
          <a:xfrm>
            <a:off x="8023862" y="5394959"/>
            <a:ext cx="2411730" cy="1200329"/>
          </a:xfrm>
          <a:prstGeom prst="rect">
            <a:avLst/>
          </a:prstGeom>
          <a:noFill/>
        </p:spPr>
        <p:txBody>
          <a:bodyPr wrap="square" rtlCol="0">
            <a:spAutoFit/>
          </a:bodyPr>
          <a:lstStyle/>
          <a:p>
            <a:pPr algn="ctr"/>
            <a:r>
              <a:rPr lang="en-IN" sz="3600" b="1" u="sng" dirty="0">
                <a:latin typeface="Tomorrow Semi Bold" panose="020B0604020202020204" charset="0"/>
              </a:rPr>
              <a:t>PCB DRILLING</a:t>
            </a:r>
            <a:endParaRPr lang="en-IN" sz="3600" u="sng" dirty="0">
              <a:latin typeface="Tomorrow Semi Bold" panose="020B0604020202020204" charset="0"/>
            </a:endParaRPr>
          </a:p>
        </p:txBody>
      </p:sp>
      <p:pic>
        <p:nvPicPr>
          <p:cNvPr id="23" name="Picture 22" descr="C:\Users\Swapnil Saha\AppData\Local\Packages\Microsoft.YourPhone_8wekyb3d8bbwe\TempState\medias\IMG_20250703_160634.jpg">
            <a:extLst>
              <a:ext uri="{FF2B5EF4-FFF2-40B4-BE49-F238E27FC236}">
                <a16:creationId xmlns:a16="http://schemas.microsoft.com/office/drawing/2014/main" id="{EFA0485F-368A-4563-AF6E-4A3407CE67C6}"/>
              </a:ext>
            </a:extLst>
          </p:cNvPr>
          <p:cNvPicPr/>
          <p:nvPr/>
        </p:nvPicPr>
        <p:blipFill rotWithShape="1">
          <a:blip r:embed="rId6">
            <a:extLst>
              <a:ext uri="{28A0092B-C50C-407E-A947-70E740481C1C}">
                <a14:useLocalDpi xmlns:a14="http://schemas.microsoft.com/office/drawing/2010/main" val="0"/>
              </a:ext>
            </a:extLst>
          </a:blip>
          <a:srcRect l="19049" r="11472" b="11250"/>
          <a:stretch/>
        </p:blipFill>
        <p:spPr bwMode="auto">
          <a:xfrm>
            <a:off x="7669531" y="1305928"/>
            <a:ext cx="3028950" cy="2728862"/>
          </a:xfrm>
          <a:prstGeom prst="rect">
            <a:avLst/>
          </a:prstGeom>
          <a:noFill/>
          <a:ln>
            <a:noFill/>
          </a:ln>
          <a:extLst>
            <a:ext uri="{53640926-AAD7-44D8-BBD7-CCE9431645EC}">
              <a14:shadowObscured xmlns:a14="http://schemas.microsoft.com/office/drawing/2010/main"/>
            </a:ext>
          </a:extLst>
        </p:spPr>
      </p:pic>
      <p:sp>
        <p:nvSpPr>
          <p:cNvPr id="25" name="Text Box 100">
            <a:extLst>
              <a:ext uri="{FF2B5EF4-FFF2-40B4-BE49-F238E27FC236}">
                <a16:creationId xmlns:a16="http://schemas.microsoft.com/office/drawing/2014/main" id="{2F663279-B14B-4B0F-9FD9-51A346370A1E}"/>
              </a:ext>
            </a:extLst>
          </p:cNvPr>
          <p:cNvSpPr txBox="1"/>
          <p:nvPr/>
        </p:nvSpPr>
        <p:spPr>
          <a:xfrm>
            <a:off x="7527291" y="4224761"/>
            <a:ext cx="3235960" cy="378158"/>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600" i="1" u="sng" dirty="0">
                <a:effectLst/>
                <a:latin typeface="Calibri" panose="020F0502020204030204" pitchFamily="34" charset="0"/>
                <a:ea typeface="Calibri" panose="020F0502020204030204" pitchFamily="34" charset="0"/>
                <a:cs typeface="Times New Roman" panose="02020603050405020304" pitchFamily="18" charset="0"/>
              </a:rPr>
              <a:t>Fig.15.4: PCB Drilling</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6" name="Picture 25" descr="C:\Users\Swapnil Saha\AppData\Local\Packages\Microsoft.YourPhone_8wekyb3d8bbwe\TempState\medias\IMG_20250716_012743.jpg">
            <a:extLst>
              <a:ext uri="{FF2B5EF4-FFF2-40B4-BE49-F238E27FC236}">
                <a16:creationId xmlns:a16="http://schemas.microsoft.com/office/drawing/2014/main" id="{3354329C-B433-46D0-88B4-554514F05797}"/>
              </a:ext>
            </a:extLst>
          </p:cNvPr>
          <p:cNvPicPr/>
          <p:nvPr/>
        </p:nvPicPr>
        <p:blipFill rotWithShape="1">
          <a:blip r:embed="rId7">
            <a:extLst>
              <a:ext uri="{28A0092B-C50C-407E-A947-70E740481C1C}">
                <a14:useLocalDpi xmlns:a14="http://schemas.microsoft.com/office/drawing/2010/main" val="0"/>
              </a:ext>
            </a:extLst>
          </a:blip>
          <a:srcRect l="14700" t="36254" r="37556" b="29909"/>
          <a:stretch/>
        </p:blipFill>
        <p:spPr bwMode="auto">
          <a:xfrm>
            <a:off x="11176636" y="1152842"/>
            <a:ext cx="3268345" cy="1912620"/>
          </a:xfrm>
          <a:prstGeom prst="rect">
            <a:avLst/>
          </a:prstGeom>
          <a:noFill/>
          <a:ln>
            <a:noFill/>
          </a:ln>
          <a:extLst>
            <a:ext uri="{53640926-AAD7-44D8-BBD7-CCE9431645EC}">
              <a14:shadowObscured xmlns:a14="http://schemas.microsoft.com/office/drawing/2010/main"/>
            </a:ext>
          </a:extLst>
        </p:spPr>
      </p:pic>
      <p:pic>
        <p:nvPicPr>
          <p:cNvPr id="27" name="Picture 26" descr="C:\Users\Swapnil Saha\AppData\Local\Packages\Microsoft.YourPhone_8wekyb3d8bbwe\TempState\medias\IMG_20250716_012754.jpg">
            <a:extLst>
              <a:ext uri="{FF2B5EF4-FFF2-40B4-BE49-F238E27FC236}">
                <a16:creationId xmlns:a16="http://schemas.microsoft.com/office/drawing/2014/main" id="{7950A4A2-FC27-4CDE-AE7C-3B53D0753A3E}"/>
              </a:ext>
            </a:extLst>
          </p:cNvPr>
          <p:cNvPicPr/>
          <p:nvPr/>
        </p:nvPicPr>
        <p:blipFill rotWithShape="1">
          <a:blip r:embed="rId8">
            <a:extLst>
              <a:ext uri="{28A0092B-C50C-407E-A947-70E740481C1C}">
                <a14:useLocalDpi xmlns:a14="http://schemas.microsoft.com/office/drawing/2010/main" val="0"/>
              </a:ext>
            </a:extLst>
          </a:blip>
          <a:srcRect l="26630" t="27291" r="35468" b="46486"/>
          <a:stretch/>
        </p:blipFill>
        <p:spPr bwMode="auto">
          <a:xfrm>
            <a:off x="11220451" y="5457546"/>
            <a:ext cx="3268345" cy="1852295"/>
          </a:xfrm>
          <a:prstGeom prst="rect">
            <a:avLst/>
          </a:prstGeom>
          <a:noFill/>
          <a:ln>
            <a:noFill/>
          </a:ln>
          <a:extLst>
            <a:ext uri="{53640926-AAD7-44D8-BBD7-CCE9431645EC}">
              <a14:shadowObscured xmlns:a14="http://schemas.microsoft.com/office/drawing/2010/main"/>
            </a:ext>
          </a:extLst>
        </p:spPr>
      </p:pic>
      <p:sp>
        <p:nvSpPr>
          <p:cNvPr id="28" name="Text Box 102">
            <a:extLst>
              <a:ext uri="{FF2B5EF4-FFF2-40B4-BE49-F238E27FC236}">
                <a16:creationId xmlns:a16="http://schemas.microsoft.com/office/drawing/2014/main" id="{37ABD64E-51AB-4D48-B68B-41EF1E2E2002}"/>
              </a:ext>
            </a:extLst>
          </p:cNvPr>
          <p:cNvSpPr txBox="1"/>
          <p:nvPr/>
        </p:nvSpPr>
        <p:spPr>
          <a:xfrm>
            <a:off x="11176636" y="7402295"/>
            <a:ext cx="3312160" cy="584774"/>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600" i="1" u="sng" dirty="0">
                <a:effectLst/>
                <a:latin typeface="Calibri" panose="020F0502020204030204" pitchFamily="34" charset="0"/>
                <a:ea typeface="Calibri" panose="020F0502020204030204" pitchFamily="34" charset="0"/>
                <a:cs typeface="Times New Roman" panose="02020603050405020304" pitchFamily="18" charset="0"/>
              </a:rPr>
              <a:t> Fig.15.6: Bottom View (Connecting Tracks)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9" name="Text Box 106">
            <a:extLst>
              <a:ext uri="{FF2B5EF4-FFF2-40B4-BE49-F238E27FC236}">
                <a16:creationId xmlns:a16="http://schemas.microsoft.com/office/drawing/2014/main" id="{C5BAB977-CEF8-44E2-A399-BC86A7C3491F}"/>
              </a:ext>
            </a:extLst>
          </p:cNvPr>
          <p:cNvSpPr txBox="1"/>
          <p:nvPr/>
        </p:nvSpPr>
        <p:spPr>
          <a:xfrm>
            <a:off x="11209338" y="3041015"/>
            <a:ext cx="3246755" cy="584774"/>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600" i="1" u="sng" dirty="0">
                <a:effectLst/>
                <a:latin typeface="Calibri" panose="020F0502020204030204" pitchFamily="34" charset="0"/>
                <a:ea typeface="Calibri" panose="020F0502020204030204" pitchFamily="34" charset="0"/>
                <a:cs typeface="Times New Roman" panose="02020603050405020304" pitchFamily="18" charset="0"/>
              </a:rPr>
              <a:t>Fig.15.5: Top View (Components On PCB</a:t>
            </a:r>
            <a:r>
              <a:rPr lang="en-US" sz="800" i="1" u="sng" dirty="0">
                <a:effectLst/>
                <a:latin typeface="Calibri" panose="020F0502020204030204" pitchFamily="34" charset="0"/>
                <a:ea typeface="Calibri" panose="020F0502020204030204" pitchFamily="34" charset="0"/>
                <a:cs typeface="Times New Roman" panose="02020603050405020304" pitchFamily="18" charset="0"/>
              </a:rPr>
              <a:t>)</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0" name="TextBox 29">
            <a:extLst>
              <a:ext uri="{FF2B5EF4-FFF2-40B4-BE49-F238E27FC236}">
                <a16:creationId xmlns:a16="http://schemas.microsoft.com/office/drawing/2014/main" id="{7481B33E-F642-4C81-BFCD-BE75890D0497}"/>
              </a:ext>
            </a:extLst>
          </p:cNvPr>
          <p:cNvSpPr txBox="1"/>
          <p:nvPr/>
        </p:nvSpPr>
        <p:spPr>
          <a:xfrm>
            <a:off x="11296017" y="3852556"/>
            <a:ext cx="3148964" cy="1200329"/>
          </a:xfrm>
          <a:prstGeom prst="rect">
            <a:avLst/>
          </a:prstGeom>
          <a:noFill/>
        </p:spPr>
        <p:txBody>
          <a:bodyPr wrap="square" rtlCol="0">
            <a:spAutoFit/>
          </a:bodyPr>
          <a:lstStyle/>
          <a:p>
            <a:pPr algn="ctr"/>
            <a:r>
              <a:rPr lang="en-IN" sz="3600" b="1" u="sng" dirty="0">
                <a:latin typeface="Tomorrow Semi Bold" panose="020B0604020202020204" charset="0"/>
                <a:cs typeface="Times New Roman" panose="02020603050405020304" pitchFamily="18" charset="0"/>
              </a:rPr>
              <a:t>PCB ASSEMBLING</a:t>
            </a:r>
            <a:r>
              <a:rPr lang="en-IN" sz="3600" b="1" dirty="0">
                <a:latin typeface="Tomorrow Semi Bold" panose="020B0604020202020204" charset="0"/>
                <a:cs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ppt_x</p:attrName>
                                        </p:attrNameLst>
                                      </p:cBhvr>
                                      <p:tavLst>
                                        <p:tav tm="0">
                                          <p:val>
                                            <p:strVal val="#ppt_x"/>
                                          </p:val>
                                        </p:tav>
                                        <p:tav tm="100000">
                                          <p:val>
                                            <p:strVal val="#ppt_x"/>
                                          </p:val>
                                        </p:tav>
                                      </p:tavLst>
                                    </p:anim>
                                    <p:anim calcmode="lin" valueType="num">
                                      <p:cBhvr>
                                        <p:cTn id="31" dur="1000" fill="hold"/>
                                        <p:tgtEl>
                                          <p:spTgt spid="9"/>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1000"/>
                                        <p:tgtEl>
                                          <p:spTgt spid="21"/>
                                        </p:tgtEl>
                                      </p:cBhvr>
                                    </p:animEffect>
                                    <p:anim calcmode="lin" valueType="num">
                                      <p:cBhvr>
                                        <p:cTn id="35" dur="1000" fill="hold"/>
                                        <p:tgtEl>
                                          <p:spTgt spid="21"/>
                                        </p:tgtEl>
                                        <p:attrNameLst>
                                          <p:attrName>ppt_x</p:attrName>
                                        </p:attrNameLst>
                                      </p:cBhvr>
                                      <p:tavLst>
                                        <p:tav tm="0">
                                          <p:val>
                                            <p:strVal val="#ppt_x"/>
                                          </p:val>
                                        </p:tav>
                                        <p:tav tm="100000">
                                          <p:val>
                                            <p:strVal val="#ppt_x"/>
                                          </p:val>
                                        </p:tav>
                                      </p:tavLst>
                                    </p:anim>
                                    <p:anim calcmode="lin" valueType="num">
                                      <p:cBhvr>
                                        <p:cTn id="36" dur="1000" fill="hold"/>
                                        <p:tgtEl>
                                          <p:spTgt spid="21"/>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1000"/>
                                        <p:tgtEl>
                                          <p:spTgt spid="17"/>
                                        </p:tgtEl>
                                      </p:cBhvr>
                                    </p:animEffect>
                                    <p:anim calcmode="lin" valueType="num">
                                      <p:cBhvr>
                                        <p:cTn id="40" dur="1000" fill="hold"/>
                                        <p:tgtEl>
                                          <p:spTgt spid="17"/>
                                        </p:tgtEl>
                                        <p:attrNameLst>
                                          <p:attrName>ppt_x</p:attrName>
                                        </p:attrNameLst>
                                      </p:cBhvr>
                                      <p:tavLst>
                                        <p:tav tm="0">
                                          <p:val>
                                            <p:strVal val="#ppt_x"/>
                                          </p:val>
                                        </p:tav>
                                        <p:tav tm="100000">
                                          <p:val>
                                            <p:strVal val="#ppt_x"/>
                                          </p:val>
                                        </p:tav>
                                      </p:tavLst>
                                    </p:anim>
                                    <p:anim calcmode="lin" valueType="num">
                                      <p:cBhvr>
                                        <p:cTn id="41" dur="1000" fill="hold"/>
                                        <p:tgtEl>
                                          <p:spTgt spid="17"/>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1000"/>
                                        <p:tgtEl>
                                          <p:spTgt spid="19"/>
                                        </p:tgtEl>
                                      </p:cBhvr>
                                    </p:animEffect>
                                    <p:anim calcmode="lin" valueType="num">
                                      <p:cBhvr>
                                        <p:cTn id="45" dur="1000" fill="hold"/>
                                        <p:tgtEl>
                                          <p:spTgt spid="19"/>
                                        </p:tgtEl>
                                        <p:attrNameLst>
                                          <p:attrName>ppt_x</p:attrName>
                                        </p:attrNameLst>
                                      </p:cBhvr>
                                      <p:tavLst>
                                        <p:tav tm="0">
                                          <p:val>
                                            <p:strVal val="#ppt_x"/>
                                          </p:val>
                                        </p:tav>
                                        <p:tav tm="100000">
                                          <p:val>
                                            <p:strVal val="#ppt_x"/>
                                          </p:val>
                                        </p:tav>
                                      </p:tavLst>
                                    </p:anim>
                                    <p:anim calcmode="lin" valueType="num">
                                      <p:cBhvr>
                                        <p:cTn id="46" dur="1000" fill="hold"/>
                                        <p:tgtEl>
                                          <p:spTgt spid="19"/>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1000"/>
                                        <p:tgtEl>
                                          <p:spTgt spid="18"/>
                                        </p:tgtEl>
                                      </p:cBhvr>
                                    </p:animEffect>
                                    <p:anim calcmode="lin" valueType="num">
                                      <p:cBhvr>
                                        <p:cTn id="50" dur="1000" fill="hold"/>
                                        <p:tgtEl>
                                          <p:spTgt spid="18"/>
                                        </p:tgtEl>
                                        <p:attrNameLst>
                                          <p:attrName>ppt_x</p:attrName>
                                        </p:attrNameLst>
                                      </p:cBhvr>
                                      <p:tavLst>
                                        <p:tav tm="0">
                                          <p:val>
                                            <p:strVal val="#ppt_x"/>
                                          </p:val>
                                        </p:tav>
                                        <p:tav tm="100000">
                                          <p:val>
                                            <p:strVal val="#ppt_x"/>
                                          </p:val>
                                        </p:tav>
                                      </p:tavLst>
                                    </p:anim>
                                    <p:anim calcmode="lin" valueType="num">
                                      <p:cBhvr>
                                        <p:cTn id="51" dur="1000" fill="hold"/>
                                        <p:tgtEl>
                                          <p:spTgt spid="18"/>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1000"/>
                                        <p:tgtEl>
                                          <p:spTgt spid="20"/>
                                        </p:tgtEl>
                                      </p:cBhvr>
                                    </p:animEffect>
                                    <p:anim calcmode="lin" valueType="num">
                                      <p:cBhvr>
                                        <p:cTn id="55" dur="1000" fill="hold"/>
                                        <p:tgtEl>
                                          <p:spTgt spid="20"/>
                                        </p:tgtEl>
                                        <p:attrNameLst>
                                          <p:attrName>ppt_x</p:attrName>
                                        </p:attrNameLst>
                                      </p:cBhvr>
                                      <p:tavLst>
                                        <p:tav tm="0">
                                          <p:val>
                                            <p:strVal val="#ppt_x"/>
                                          </p:val>
                                        </p:tav>
                                        <p:tav tm="100000">
                                          <p:val>
                                            <p:strVal val="#ppt_x"/>
                                          </p:val>
                                        </p:tav>
                                      </p:tavLst>
                                    </p:anim>
                                    <p:anim calcmode="lin" valueType="num">
                                      <p:cBhvr>
                                        <p:cTn id="56"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10"/>
                                        </p:tgtEl>
                                        <p:attrNameLst>
                                          <p:attrName>style.visibility</p:attrName>
                                        </p:attrNameLst>
                                      </p:cBhvr>
                                      <p:to>
                                        <p:strVal val="visible"/>
                                      </p:to>
                                    </p:set>
                                    <p:animEffect transition="in" filter="fade">
                                      <p:cBhvr>
                                        <p:cTn id="61" dur="1000"/>
                                        <p:tgtEl>
                                          <p:spTgt spid="10"/>
                                        </p:tgtEl>
                                      </p:cBhvr>
                                    </p:animEffect>
                                    <p:anim calcmode="lin" valueType="num">
                                      <p:cBhvr>
                                        <p:cTn id="62" dur="1000" fill="hold"/>
                                        <p:tgtEl>
                                          <p:spTgt spid="10"/>
                                        </p:tgtEl>
                                        <p:attrNameLst>
                                          <p:attrName>ppt_x</p:attrName>
                                        </p:attrNameLst>
                                      </p:cBhvr>
                                      <p:tavLst>
                                        <p:tav tm="0">
                                          <p:val>
                                            <p:strVal val="#ppt_x"/>
                                          </p:val>
                                        </p:tav>
                                        <p:tav tm="100000">
                                          <p:val>
                                            <p:strVal val="#ppt_x"/>
                                          </p:val>
                                        </p:tav>
                                      </p:tavLst>
                                    </p:anim>
                                    <p:anim calcmode="lin" valueType="num">
                                      <p:cBhvr>
                                        <p:cTn id="63" dur="1000" fill="hold"/>
                                        <p:tgtEl>
                                          <p:spTgt spid="10"/>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1000"/>
                                        <p:tgtEl>
                                          <p:spTgt spid="23"/>
                                        </p:tgtEl>
                                      </p:cBhvr>
                                    </p:animEffect>
                                    <p:anim calcmode="lin" valueType="num">
                                      <p:cBhvr>
                                        <p:cTn id="67" dur="1000" fill="hold"/>
                                        <p:tgtEl>
                                          <p:spTgt spid="23"/>
                                        </p:tgtEl>
                                        <p:attrNameLst>
                                          <p:attrName>ppt_x</p:attrName>
                                        </p:attrNameLst>
                                      </p:cBhvr>
                                      <p:tavLst>
                                        <p:tav tm="0">
                                          <p:val>
                                            <p:strVal val="#ppt_x"/>
                                          </p:val>
                                        </p:tav>
                                        <p:tav tm="100000">
                                          <p:val>
                                            <p:strVal val="#ppt_x"/>
                                          </p:val>
                                        </p:tav>
                                      </p:tavLst>
                                    </p:anim>
                                    <p:anim calcmode="lin" valueType="num">
                                      <p:cBhvr>
                                        <p:cTn id="68" dur="1000" fill="hold"/>
                                        <p:tgtEl>
                                          <p:spTgt spid="23"/>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1000"/>
                                        <p:tgtEl>
                                          <p:spTgt spid="25"/>
                                        </p:tgtEl>
                                      </p:cBhvr>
                                    </p:animEffect>
                                    <p:anim calcmode="lin" valueType="num">
                                      <p:cBhvr>
                                        <p:cTn id="72" dur="1000" fill="hold"/>
                                        <p:tgtEl>
                                          <p:spTgt spid="25"/>
                                        </p:tgtEl>
                                        <p:attrNameLst>
                                          <p:attrName>ppt_x</p:attrName>
                                        </p:attrNameLst>
                                      </p:cBhvr>
                                      <p:tavLst>
                                        <p:tav tm="0">
                                          <p:val>
                                            <p:strVal val="#ppt_x"/>
                                          </p:val>
                                        </p:tav>
                                        <p:tav tm="100000">
                                          <p:val>
                                            <p:strVal val="#ppt_x"/>
                                          </p:val>
                                        </p:tav>
                                      </p:tavLst>
                                    </p:anim>
                                    <p:anim calcmode="lin" valueType="num">
                                      <p:cBhvr>
                                        <p:cTn id="73" dur="1000" fill="hold"/>
                                        <p:tgtEl>
                                          <p:spTgt spid="25"/>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22"/>
                                        </p:tgtEl>
                                        <p:attrNameLst>
                                          <p:attrName>style.visibility</p:attrName>
                                        </p:attrNameLst>
                                      </p:cBhvr>
                                      <p:to>
                                        <p:strVal val="visible"/>
                                      </p:to>
                                    </p:set>
                                    <p:animEffect transition="in" filter="fade">
                                      <p:cBhvr>
                                        <p:cTn id="76" dur="1000"/>
                                        <p:tgtEl>
                                          <p:spTgt spid="22"/>
                                        </p:tgtEl>
                                      </p:cBhvr>
                                    </p:animEffect>
                                    <p:anim calcmode="lin" valueType="num">
                                      <p:cBhvr>
                                        <p:cTn id="77" dur="1000" fill="hold"/>
                                        <p:tgtEl>
                                          <p:spTgt spid="22"/>
                                        </p:tgtEl>
                                        <p:attrNameLst>
                                          <p:attrName>ppt_x</p:attrName>
                                        </p:attrNameLst>
                                      </p:cBhvr>
                                      <p:tavLst>
                                        <p:tav tm="0">
                                          <p:val>
                                            <p:strVal val="#ppt_x"/>
                                          </p:val>
                                        </p:tav>
                                        <p:tav tm="100000">
                                          <p:val>
                                            <p:strVal val="#ppt_x"/>
                                          </p:val>
                                        </p:tav>
                                      </p:tavLst>
                                    </p:anim>
                                    <p:anim calcmode="lin" valueType="num">
                                      <p:cBhvr>
                                        <p:cTn id="78"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grpId="0" nodeType="clickEffect">
                                  <p:stCondLst>
                                    <p:cond delay="0"/>
                                  </p:stCondLst>
                                  <p:childTnLst>
                                    <p:set>
                                      <p:cBhvr>
                                        <p:cTn id="82" dur="1" fill="hold">
                                          <p:stCondLst>
                                            <p:cond delay="0"/>
                                          </p:stCondLst>
                                        </p:cTn>
                                        <p:tgtEl>
                                          <p:spTgt spid="11"/>
                                        </p:tgtEl>
                                        <p:attrNameLst>
                                          <p:attrName>style.visibility</p:attrName>
                                        </p:attrNameLst>
                                      </p:cBhvr>
                                      <p:to>
                                        <p:strVal val="visible"/>
                                      </p:to>
                                    </p:set>
                                    <p:animEffect transition="in" filter="fade">
                                      <p:cBhvr>
                                        <p:cTn id="83" dur="1000"/>
                                        <p:tgtEl>
                                          <p:spTgt spid="11"/>
                                        </p:tgtEl>
                                      </p:cBhvr>
                                    </p:animEffect>
                                    <p:anim calcmode="lin" valueType="num">
                                      <p:cBhvr>
                                        <p:cTn id="84" dur="1000" fill="hold"/>
                                        <p:tgtEl>
                                          <p:spTgt spid="11"/>
                                        </p:tgtEl>
                                        <p:attrNameLst>
                                          <p:attrName>ppt_x</p:attrName>
                                        </p:attrNameLst>
                                      </p:cBhvr>
                                      <p:tavLst>
                                        <p:tav tm="0">
                                          <p:val>
                                            <p:strVal val="#ppt_x"/>
                                          </p:val>
                                        </p:tav>
                                        <p:tav tm="100000">
                                          <p:val>
                                            <p:strVal val="#ppt_x"/>
                                          </p:val>
                                        </p:tav>
                                      </p:tavLst>
                                    </p:anim>
                                    <p:anim calcmode="lin" valueType="num">
                                      <p:cBhvr>
                                        <p:cTn id="85" dur="1000" fill="hold"/>
                                        <p:tgtEl>
                                          <p:spTgt spid="11"/>
                                        </p:tgtEl>
                                        <p:attrNameLst>
                                          <p:attrName>ppt_y</p:attrName>
                                        </p:attrNameLst>
                                      </p:cBhvr>
                                      <p:tavLst>
                                        <p:tav tm="0">
                                          <p:val>
                                            <p:strVal val="#ppt_y+.1"/>
                                          </p:val>
                                        </p:tav>
                                        <p:tav tm="100000">
                                          <p:val>
                                            <p:strVal val="#ppt_y"/>
                                          </p:val>
                                        </p:tav>
                                      </p:tavLst>
                                    </p:anim>
                                  </p:childTnLst>
                                </p:cTn>
                              </p:par>
                              <p:par>
                                <p:cTn id="86" presetID="42" presetClass="entr" presetSubtype="0" fill="hold" nodeType="withEffect">
                                  <p:stCondLst>
                                    <p:cond delay="0"/>
                                  </p:stCondLst>
                                  <p:childTnLst>
                                    <p:set>
                                      <p:cBhvr>
                                        <p:cTn id="87" dur="1" fill="hold">
                                          <p:stCondLst>
                                            <p:cond delay="0"/>
                                          </p:stCondLst>
                                        </p:cTn>
                                        <p:tgtEl>
                                          <p:spTgt spid="26"/>
                                        </p:tgtEl>
                                        <p:attrNameLst>
                                          <p:attrName>style.visibility</p:attrName>
                                        </p:attrNameLst>
                                      </p:cBhvr>
                                      <p:to>
                                        <p:strVal val="visible"/>
                                      </p:to>
                                    </p:set>
                                    <p:animEffect transition="in" filter="fade">
                                      <p:cBhvr>
                                        <p:cTn id="88" dur="1000"/>
                                        <p:tgtEl>
                                          <p:spTgt spid="26"/>
                                        </p:tgtEl>
                                      </p:cBhvr>
                                    </p:animEffect>
                                    <p:anim calcmode="lin" valueType="num">
                                      <p:cBhvr>
                                        <p:cTn id="89" dur="1000" fill="hold"/>
                                        <p:tgtEl>
                                          <p:spTgt spid="26"/>
                                        </p:tgtEl>
                                        <p:attrNameLst>
                                          <p:attrName>ppt_x</p:attrName>
                                        </p:attrNameLst>
                                      </p:cBhvr>
                                      <p:tavLst>
                                        <p:tav tm="0">
                                          <p:val>
                                            <p:strVal val="#ppt_x"/>
                                          </p:val>
                                        </p:tav>
                                        <p:tav tm="100000">
                                          <p:val>
                                            <p:strVal val="#ppt_x"/>
                                          </p:val>
                                        </p:tav>
                                      </p:tavLst>
                                    </p:anim>
                                    <p:anim calcmode="lin" valueType="num">
                                      <p:cBhvr>
                                        <p:cTn id="90" dur="1000" fill="hold"/>
                                        <p:tgtEl>
                                          <p:spTgt spid="26"/>
                                        </p:tgtEl>
                                        <p:attrNameLst>
                                          <p:attrName>ppt_y</p:attrName>
                                        </p:attrNameLst>
                                      </p:cBhvr>
                                      <p:tavLst>
                                        <p:tav tm="0">
                                          <p:val>
                                            <p:strVal val="#ppt_y+.1"/>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29"/>
                                        </p:tgtEl>
                                        <p:attrNameLst>
                                          <p:attrName>style.visibility</p:attrName>
                                        </p:attrNameLst>
                                      </p:cBhvr>
                                      <p:to>
                                        <p:strVal val="visible"/>
                                      </p:to>
                                    </p:set>
                                    <p:animEffect transition="in" filter="fade">
                                      <p:cBhvr>
                                        <p:cTn id="93" dur="1000"/>
                                        <p:tgtEl>
                                          <p:spTgt spid="29"/>
                                        </p:tgtEl>
                                      </p:cBhvr>
                                    </p:animEffect>
                                    <p:anim calcmode="lin" valueType="num">
                                      <p:cBhvr>
                                        <p:cTn id="94" dur="1000" fill="hold"/>
                                        <p:tgtEl>
                                          <p:spTgt spid="29"/>
                                        </p:tgtEl>
                                        <p:attrNameLst>
                                          <p:attrName>ppt_x</p:attrName>
                                        </p:attrNameLst>
                                      </p:cBhvr>
                                      <p:tavLst>
                                        <p:tav tm="0">
                                          <p:val>
                                            <p:strVal val="#ppt_x"/>
                                          </p:val>
                                        </p:tav>
                                        <p:tav tm="100000">
                                          <p:val>
                                            <p:strVal val="#ppt_x"/>
                                          </p:val>
                                        </p:tav>
                                      </p:tavLst>
                                    </p:anim>
                                    <p:anim calcmode="lin" valueType="num">
                                      <p:cBhvr>
                                        <p:cTn id="95" dur="1000" fill="hold"/>
                                        <p:tgtEl>
                                          <p:spTgt spid="29"/>
                                        </p:tgtEl>
                                        <p:attrNameLst>
                                          <p:attrName>ppt_y</p:attrName>
                                        </p:attrNameLst>
                                      </p:cBhvr>
                                      <p:tavLst>
                                        <p:tav tm="0">
                                          <p:val>
                                            <p:strVal val="#ppt_y+.1"/>
                                          </p:val>
                                        </p:tav>
                                        <p:tav tm="100000">
                                          <p:val>
                                            <p:strVal val="#ppt_y"/>
                                          </p:val>
                                        </p:tav>
                                      </p:tavLst>
                                    </p:anim>
                                  </p:childTnLst>
                                </p:cTn>
                              </p:par>
                              <p:par>
                                <p:cTn id="96" presetID="42" presetClass="entr" presetSubtype="0" fill="hold" grpId="0" nodeType="withEffect">
                                  <p:stCondLst>
                                    <p:cond delay="0"/>
                                  </p:stCondLst>
                                  <p:childTnLst>
                                    <p:set>
                                      <p:cBhvr>
                                        <p:cTn id="97" dur="1" fill="hold">
                                          <p:stCondLst>
                                            <p:cond delay="0"/>
                                          </p:stCondLst>
                                        </p:cTn>
                                        <p:tgtEl>
                                          <p:spTgt spid="30"/>
                                        </p:tgtEl>
                                        <p:attrNameLst>
                                          <p:attrName>style.visibility</p:attrName>
                                        </p:attrNameLst>
                                      </p:cBhvr>
                                      <p:to>
                                        <p:strVal val="visible"/>
                                      </p:to>
                                    </p:set>
                                    <p:animEffect transition="in" filter="fade">
                                      <p:cBhvr>
                                        <p:cTn id="98" dur="1000"/>
                                        <p:tgtEl>
                                          <p:spTgt spid="30"/>
                                        </p:tgtEl>
                                      </p:cBhvr>
                                    </p:animEffect>
                                    <p:anim calcmode="lin" valueType="num">
                                      <p:cBhvr>
                                        <p:cTn id="99" dur="1000" fill="hold"/>
                                        <p:tgtEl>
                                          <p:spTgt spid="30"/>
                                        </p:tgtEl>
                                        <p:attrNameLst>
                                          <p:attrName>ppt_x</p:attrName>
                                        </p:attrNameLst>
                                      </p:cBhvr>
                                      <p:tavLst>
                                        <p:tav tm="0">
                                          <p:val>
                                            <p:strVal val="#ppt_x"/>
                                          </p:val>
                                        </p:tav>
                                        <p:tav tm="100000">
                                          <p:val>
                                            <p:strVal val="#ppt_x"/>
                                          </p:val>
                                        </p:tav>
                                      </p:tavLst>
                                    </p:anim>
                                    <p:anim calcmode="lin" valueType="num">
                                      <p:cBhvr>
                                        <p:cTn id="100" dur="1000" fill="hold"/>
                                        <p:tgtEl>
                                          <p:spTgt spid="30"/>
                                        </p:tgtEl>
                                        <p:attrNameLst>
                                          <p:attrName>ppt_y</p:attrName>
                                        </p:attrNameLst>
                                      </p:cBhvr>
                                      <p:tavLst>
                                        <p:tav tm="0">
                                          <p:val>
                                            <p:strVal val="#ppt_y+.1"/>
                                          </p:val>
                                        </p:tav>
                                        <p:tav tm="100000">
                                          <p:val>
                                            <p:strVal val="#ppt_y"/>
                                          </p:val>
                                        </p:tav>
                                      </p:tavLst>
                                    </p:anim>
                                  </p:childTnLst>
                                </p:cTn>
                              </p:par>
                              <p:par>
                                <p:cTn id="101" presetID="42" presetClass="entr" presetSubtype="0" fill="hold" nodeType="withEffect">
                                  <p:stCondLst>
                                    <p:cond delay="0"/>
                                  </p:stCondLst>
                                  <p:childTnLst>
                                    <p:set>
                                      <p:cBhvr>
                                        <p:cTn id="102" dur="1" fill="hold">
                                          <p:stCondLst>
                                            <p:cond delay="0"/>
                                          </p:stCondLst>
                                        </p:cTn>
                                        <p:tgtEl>
                                          <p:spTgt spid="27"/>
                                        </p:tgtEl>
                                        <p:attrNameLst>
                                          <p:attrName>style.visibility</p:attrName>
                                        </p:attrNameLst>
                                      </p:cBhvr>
                                      <p:to>
                                        <p:strVal val="visible"/>
                                      </p:to>
                                    </p:set>
                                    <p:animEffect transition="in" filter="fade">
                                      <p:cBhvr>
                                        <p:cTn id="103" dur="1000"/>
                                        <p:tgtEl>
                                          <p:spTgt spid="27"/>
                                        </p:tgtEl>
                                      </p:cBhvr>
                                    </p:animEffect>
                                    <p:anim calcmode="lin" valueType="num">
                                      <p:cBhvr>
                                        <p:cTn id="104" dur="1000" fill="hold"/>
                                        <p:tgtEl>
                                          <p:spTgt spid="27"/>
                                        </p:tgtEl>
                                        <p:attrNameLst>
                                          <p:attrName>ppt_x</p:attrName>
                                        </p:attrNameLst>
                                      </p:cBhvr>
                                      <p:tavLst>
                                        <p:tav tm="0">
                                          <p:val>
                                            <p:strVal val="#ppt_x"/>
                                          </p:val>
                                        </p:tav>
                                        <p:tav tm="100000">
                                          <p:val>
                                            <p:strVal val="#ppt_x"/>
                                          </p:val>
                                        </p:tav>
                                      </p:tavLst>
                                    </p:anim>
                                    <p:anim calcmode="lin" valueType="num">
                                      <p:cBhvr>
                                        <p:cTn id="105" dur="1000" fill="hold"/>
                                        <p:tgtEl>
                                          <p:spTgt spid="27"/>
                                        </p:tgtEl>
                                        <p:attrNameLst>
                                          <p:attrName>ppt_y</p:attrName>
                                        </p:attrNameLst>
                                      </p:cBhvr>
                                      <p:tavLst>
                                        <p:tav tm="0">
                                          <p:val>
                                            <p:strVal val="#ppt_y+.1"/>
                                          </p:val>
                                        </p:tav>
                                        <p:tav tm="100000">
                                          <p:val>
                                            <p:strVal val="#ppt_y"/>
                                          </p:val>
                                        </p:tav>
                                      </p:tavLst>
                                    </p:anim>
                                  </p:childTnLst>
                                </p:cTn>
                              </p:par>
                              <p:par>
                                <p:cTn id="106" presetID="42" presetClass="entr" presetSubtype="0" fill="hold" grpId="0" nodeType="withEffect">
                                  <p:stCondLst>
                                    <p:cond delay="0"/>
                                  </p:stCondLst>
                                  <p:childTnLst>
                                    <p:set>
                                      <p:cBhvr>
                                        <p:cTn id="107" dur="1" fill="hold">
                                          <p:stCondLst>
                                            <p:cond delay="0"/>
                                          </p:stCondLst>
                                        </p:cTn>
                                        <p:tgtEl>
                                          <p:spTgt spid="28"/>
                                        </p:tgtEl>
                                        <p:attrNameLst>
                                          <p:attrName>style.visibility</p:attrName>
                                        </p:attrNameLst>
                                      </p:cBhvr>
                                      <p:to>
                                        <p:strVal val="visible"/>
                                      </p:to>
                                    </p:set>
                                    <p:animEffect transition="in" filter="fade">
                                      <p:cBhvr>
                                        <p:cTn id="108" dur="1000"/>
                                        <p:tgtEl>
                                          <p:spTgt spid="28"/>
                                        </p:tgtEl>
                                      </p:cBhvr>
                                    </p:animEffect>
                                    <p:anim calcmode="lin" valueType="num">
                                      <p:cBhvr>
                                        <p:cTn id="109" dur="1000" fill="hold"/>
                                        <p:tgtEl>
                                          <p:spTgt spid="28"/>
                                        </p:tgtEl>
                                        <p:attrNameLst>
                                          <p:attrName>ppt_x</p:attrName>
                                        </p:attrNameLst>
                                      </p:cBhvr>
                                      <p:tavLst>
                                        <p:tav tm="0">
                                          <p:val>
                                            <p:strVal val="#ppt_x"/>
                                          </p:val>
                                        </p:tav>
                                        <p:tav tm="100000">
                                          <p:val>
                                            <p:strVal val="#ppt_x"/>
                                          </p:val>
                                        </p:tav>
                                      </p:tavLst>
                                    </p:anim>
                                    <p:anim calcmode="lin" valueType="num">
                                      <p:cBhvr>
                                        <p:cTn id="110"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5" grpId="0" animBg="1"/>
      <p:bldP spid="16" grpId="0"/>
      <p:bldP spid="19" grpId="0" animBg="1"/>
      <p:bldP spid="20" grpId="0" animBg="1"/>
      <p:bldP spid="21" grpId="0"/>
      <p:bldP spid="22" grpId="0"/>
      <p:bldP spid="25" grpId="0" animBg="1"/>
      <p:bldP spid="28" grpId="0" animBg="1"/>
      <p:bldP spid="29" grpId="0" animBg="1"/>
      <p:bldP spid="30"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7D8C606A-3E14-40DB-805D-712774046BFA}"/>
              </a:ext>
            </a:extLst>
          </p:cNvPr>
          <p:cNvSpPr txBox="1"/>
          <p:nvPr/>
        </p:nvSpPr>
        <p:spPr>
          <a:xfrm>
            <a:off x="0" y="27709"/>
            <a:ext cx="6303818"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RESULT AND DISCUSSION:</a:t>
            </a:r>
            <a:endParaRPr lang="en-IN" sz="3600" b="1" dirty="0">
              <a:latin typeface="Times New Roman" panose="02020603050405020304" pitchFamily="18" charset="0"/>
              <a:cs typeface="Times New Roman" panose="02020603050405020304" pitchFamily="18" charset="0"/>
            </a:endParaRPr>
          </a:p>
        </p:txBody>
      </p:sp>
      <p:pic>
        <p:nvPicPr>
          <p:cNvPr id="3" name="Picture 2" descr="C:\Users\Swapnil Saha\Downloads\Mini_project_Clipper_clamper.jpeg">
            <a:extLst>
              <a:ext uri="{FF2B5EF4-FFF2-40B4-BE49-F238E27FC236}">
                <a16:creationId xmlns:a16="http://schemas.microsoft.com/office/drawing/2014/main" id="{0FD3204F-0744-4BBB-BBBD-616544BA49A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364489" y="674040"/>
            <a:ext cx="8482950" cy="2922905"/>
          </a:xfrm>
          <a:prstGeom prst="rect">
            <a:avLst/>
          </a:prstGeom>
          <a:noFill/>
          <a:ln>
            <a:noFill/>
          </a:ln>
        </p:spPr>
      </p:pic>
      <p:sp>
        <p:nvSpPr>
          <p:cNvPr id="4" name="Text Box 113">
            <a:extLst>
              <a:ext uri="{FF2B5EF4-FFF2-40B4-BE49-F238E27FC236}">
                <a16:creationId xmlns:a16="http://schemas.microsoft.com/office/drawing/2014/main" id="{C0461947-EAFF-49B4-A737-68C5117A334E}"/>
              </a:ext>
            </a:extLst>
          </p:cNvPr>
          <p:cNvSpPr txBox="1"/>
          <p:nvPr/>
        </p:nvSpPr>
        <p:spPr>
          <a:xfrm>
            <a:off x="364489" y="3668654"/>
            <a:ext cx="8482950" cy="386715"/>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600" i="1" u="sng" dirty="0">
                <a:effectLst/>
                <a:latin typeface="Calibri" panose="020F0502020204030204" pitchFamily="34" charset="0"/>
                <a:ea typeface="Calibri" panose="020F0502020204030204" pitchFamily="34" charset="0"/>
                <a:cs typeface="Times New Roman" panose="02020603050405020304" pitchFamily="18" charset="0"/>
              </a:rPr>
              <a:t>Fig.16.1: Working Of The PCB Design In Real Time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4A1A2F0A-E1DC-45DF-A267-204386280AAE}"/>
              </a:ext>
            </a:extLst>
          </p:cNvPr>
          <p:cNvSpPr/>
          <p:nvPr/>
        </p:nvSpPr>
        <p:spPr>
          <a:xfrm>
            <a:off x="6740524" y="4361601"/>
            <a:ext cx="7339331" cy="3550716"/>
          </a:xfrm>
          <a:prstGeom prst="rect">
            <a:avLst/>
          </a:prstGeom>
        </p:spPr>
        <p:txBody>
          <a:bodyPr wrap="square">
            <a:spAutoFit/>
          </a:bodyPr>
          <a:lstStyle/>
          <a:p>
            <a:pPr algn="ctr">
              <a:lnSpc>
                <a:spcPct val="107000"/>
              </a:lnSpc>
              <a:spcAft>
                <a:spcPts val="800"/>
              </a:spcAft>
            </a:pPr>
            <a:r>
              <a:rPr lang="en-IN" sz="3200" b="1" u="sng" cap="all" dirty="0">
                <a:latin typeface="Tomorrow Semi Bold" panose="020B0604020202020204" charset="0"/>
                <a:ea typeface="Calibri" panose="020F0502020204030204" pitchFamily="34" charset="0"/>
                <a:cs typeface="Times New Roman" panose="02020603050405020304" pitchFamily="18" charset="0"/>
              </a:rPr>
              <a:t>Applications</a:t>
            </a:r>
            <a:endParaRPr lang="en-IN" sz="1600" dirty="0">
              <a:latin typeface="Tomorrow Semi Bold" panose="020B0604020202020204" charset="0"/>
              <a:ea typeface="Calibri" panose="020F0502020204030204" pitchFamily="34" charset="0"/>
              <a:cs typeface="Times New Roman" panose="02020603050405020304" pitchFamily="18" charset="0"/>
            </a:endParaRPr>
          </a:p>
          <a:p>
            <a:pPr>
              <a:lnSpc>
                <a:spcPct val="107000"/>
              </a:lnSpc>
              <a:spcAft>
                <a:spcPts val="800"/>
              </a:spcAft>
            </a:pPr>
            <a:r>
              <a:rPr lang="en-IN" sz="2000" b="1" dirty="0">
                <a:latin typeface="Calibri" panose="020F0502020204030204" pitchFamily="34" charset="0"/>
                <a:ea typeface="Calibri" panose="020F0502020204030204" pitchFamily="34" charset="0"/>
                <a:cs typeface="Times New Roman" panose="02020603050405020304" pitchFamily="18" charset="0"/>
              </a:rPr>
              <a:t> (1) Overvoltage Protection for Sensitive Devices</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SzPts val="1100"/>
              <a:buFont typeface="Symbol" panose="05050102010706020507" pitchFamily="18" charset="2"/>
              <a:buChar char=""/>
            </a:pPr>
            <a:r>
              <a:rPr lang="en-IN" dirty="0">
                <a:latin typeface="Calibri" panose="020F0502020204030204" pitchFamily="34" charset="0"/>
                <a:ea typeface="Calibri" panose="020F0502020204030204" pitchFamily="34" charset="0"/>
                <a:cs typeface="Times New Roman" panose="02020603050405020304" pitchFamily="18" charset="0"/>
              </a:rPr>
              <a:t>Maintaining the signal levels within </a:t>
            </a:r>
            <a:r>
              <a:rPr lang="en-IN" b="1" dirty="0">
                <a:latin typeface="Calibri" panose="020F0502020204030204" pitchFamily="34" charset="0"/>
                <a:ea typeface="Calibri" panose="020F0502020204030204" pitchFamily="34" charset="0"/>
                <a:cs typeface="Times New Roman" panose="02020603050405020304" pitchFamily="18" charset="0"/>
              </a:rPr>
              <a:t>desired dynamic range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100"/>
              <a:buFont typeface="Symbol" panose="05050102010706020507" pitchFamily="18" charset="2"/>
              <a:buChar char=""/>
            </a:pPr>
            <a:r>
              <a:rPr lang="en-IN" dirty="0">
                <a:latin typeface="Calibri" panose="020F0502020204030204" pitchFamily="34" charset="0"/>
                <a:ea typeface="Calibri" panose="020F0502020204030204" pitchFamily="34" charset="0"/>
                <a:cs typeface="Times New Roman" panose="02020603050405020304" pitchFamily="18" charset="0"/>
              </a:rPr>
              <a:t>By clipping the signal at ±2 V, we </a:t>
            </a:r>
            <a:r>
              <a:rPr lang="en-IN" b="1" dirty="0">
                <a:latin typeface="Calibri" panose="020F0502020204030204" pitchFamily="34" charset="0"/>
                <a:ea typeface="Calibri" panose="020F0502020204030204" pitchFamily="34" charset="0"/>
                <a:cs typeface="Times New Roman" panose="02020603050405020304" pitchFamily="18" charset="0"/>
              </a:rPr>
              <a:t>protect downstream circuits</a:t>
            </a:r>
            <a:r>
              <a:rPr lang="en-IN" dirty="0">
                <a:latin typeface="Calibri" panose="020F0502020204030204" pitchFamily="34" charset="0"/>
                <a:ea typeface="Calibri" panose="020F0502020204030204" pitchFamily="34" charset="0"/>
                <a:cs typeface="Times New Roman" panose="02020603050405020304" pitchFamily="18" charset="0"/>
              </a:rPr>
              <a:t> (like op-amps or microcontroller inputs) from higher voltage spikes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200"/>
              </a:spcBef>
              <a:spcAft>
                <a:spcPts val="0"/>
              </a:spcAft>
            </a:pPr>
            <a:r>
              <a:rPr lang="en-IN" sz="2000" b="1"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 </a:t>
            </a:r>
            <a:endParaRPr lang="en-IN" sz="1600" b="1" i="1" dirty="0">
              <a:solidFill>
                <a:srgbClr val="2F5496"/>
              </a:solidFill>
              <a:latin typeface="Calibri Light" panose="020F0302020204030204" pitchFamily="34" charset="0"/>
              <a:ea typeface="Times New Roman" panose="02020603050405020304" pitchFamily="18" charset="0"/>
              <a:cs typeface="Times New Roman" panose="02020603050405020304" pitchFamily="18" charset="0"/>
            </a:endParaRPr>
          </a:p>
          <a:p>
            <a:pPr>
              <a:lnSpc>
                <a:spcPct val="107000"/>
              </a:lnSpc>
              <a:spcBef>
                <a:spcPts val="200"/>
              </a:spcBef>
              <a:spcAft>
                <a:spcPts val="0"/>
              </a:spcAft>
            </a:pPr>
            <a:r>
              <a:rPr lang="en-IN" sz="2000" b="1"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(2) Analog-to-Digital Converter (ADC): </a:t>
            </a:r>
            <a:r>
              <a:rPr lang="en-IN" b="1"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This circuit ensures</a:t>
            </a:r>
            <a:r>
              <a:rPr lang="en-IN"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IN" sz="1600" b="1" i="1" dirty="0">
              <a:solidFill>
                <a:srgbClr val="2F5496"/>
              </a:solidFill>
              <a:latin typeface="Calibri Light" panose="020F0302020204030204" pitchFamily="34"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dirty="0">
                <a:latin typeface="Calibri" panose="020F0502020204030204" pitchFamily="34" charset="0"/>
                <a:ea typeface="Times New Roman" panose="02020603050405020304" pitchFamily="18" charset="0"/>
                <a:cs typeface="Calibri" panose="020F0502020204030204" pitchFamily="34" charset="0"/>
              </a:rPr>
              <a:t>The signal </a:t>
            </a:r>
            <a:r>
              <a:rPr lang="en-IN" dirty="0">
                <a:solidFill>
                  <a:srgbClr val="000000"/>
                </a:solidFill>
                <a:latin typeface="Calibri" panose="020F0502020204030204" pitchFamily="34" charset="0"/>
                <a:ea typeface="Times New Roman" panose="02020603050405020304" pitchFamily="18" charset="0"/>
                <a:cs typeface="Calibri" panose="020F0502020204030204" pitchFamily="34" charset="0"/>
              </a:rPr>
              <a:t>does not exceed </a:t>
            </a:r>
            <a:r>
              <a:rPr lang="en-IN" dirty="0">
                <a:latin typeface="Calibri" panose="020F0502020204030204" pitchFamily="34" charset="0"/>
                <a:ea typeface="Times New Roman" panose="02020603050405020304" pitchFamily="18" charset="0"/>
                <a:cs typeface="Calibri" panose="020F0502020204030204" pitchFamily="34" charset="0"/>
              </a:rPr>
              <a:t>upper/lower voltage limits (due to clipping)</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dirty="0">
                <a:latin typeface="Calibri" panose="020F0502020204030204" pitchFamily="34" charset="0"/>
                <a:ea typeface="Times New Roman" panose="02020603050405020304" pitchFamily="18" charset="0"/>
                <a:cs typeface="Calibri" panose="020F0502020204030204" pitchFamily="34" charset="0"/>
              </a:rPr>
              <a:t>The signal is shifted into the ADC’s input range (due to clamping)</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AB65857D-AA8E-4BC2-8388-2E6BDC8FFEC3}"/>
              </a:ext>
            </a:extLst>
          </p:cNvPr>
          <p:cNvSpPr/>
          <p:nvPr/>
        </p:nvSpPr>
        <p:spPr>
          <a:xfrm>
            <a:off x="9211928" y="982625"/>
            <a:ext cx="5280661" cy="1903470"/>
          </a:xfrm>
          <a:prstGeom prst="rect">
            <a:avLst/>
          </a:prstGeom>
        </p:spPr>
        <p:txBody>
          <a:bodyPr wrap="square">
            <a:spAutoFit/>
          </a:bodyPr>
          <a:lstStyle/>
          <a:p>
            <a:pPr>
              <a:lnSpc>
                <a:spcPct val="107000"/>
              </a:lnSpc>
              <a:spcAft>
                <a:spcPts val="800"/>
              </a:spcAft>
            </a:pPr>
            <a:r>
              <a:rPr lang="en-IN" sz="2000" b="1" cap="all" dirty="0">
                <a:latin typeface="Calibri" panose="020F0502020204030204" pitchFamily="34" charset="0"/>
                <a:ea typeface="Calibri" panose="020F0502020204030204" pitchFamily="34" charset="0"/>
                <a:cs typeface="Times New Roman" panose="02020603050405020304" pitchFamily="18" charset="0"/>
              </a:rPr>
              <a:t>Conclusion:</a:t>
            </a:r>
            <a:r>
              <a:rPr lang="en-IN" sz="1600" dirty="0">
                <a:latin typeface="Calibri" panose="020F0502020204030204" pitchFamily="34" charset="0"/>
                <a:ea typeface="Calibri" panose="020F0502020204030204" pitchFamily="34" charset="0"/>
                <a:cs typeface="Times New Roman" panose="02020603050405020304" pitchFamily="18" charset="0"/>
              </a:rPr>
              <a:t> </a:t>
            </a:r>
            <a:r>
              <a:rPr lang="en-IN" dirty="0">
                <a:latin typeface="Calibri" panose="020F0502020204030204" pitchFamily="34" charset="0"/>
                <a:ea typeface="Calibri" panose="020F0502020204030204" pitchFamily="34" charset="0"/>
                <a:cs typeface="Times New Roman" panose="02020603050405020304" pitchFamily="18" charset="0"/>
              </a:rPr>
              <a:t>The clipper-clamper circuit was successfully designed, implemented, and tested on a PCB. It effectively clipped the input sinusoidal waveform and shifted it upward using a positive clamper. The real-time output matched the expected results, confirming proper operation.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C0F86B80-363C-4A0F-AC61-D1E420A69561}"/>
              </a:ext>
            </a:extLst>
          </p:cNvPr>
          <p:cNvSpPr/>
          <p:nvPr/>
        </p:nvSpPr>
        <p:spPr>
          <a:xfrm>
            <a:off x="364489" y="4628854"/>
            <a:ext cx="5529684" cy="3016210"/>
          </a:xfrm>
          <a:prstGeom prst="rect">
            <a:avLst/>
          </a:prstGeom>
        </p:spPr>
        <p:txBody>
          <a:bodyPr wrap="square">
            <a:spAutoFit/>
          </a:bodyPr>
          <a:lstStyle/>
          <a:p>
            <a:r>
              <a:rPr lang="en-US" sz="2800" dirty="0"/>
              <a:t>Precautions :</a:t>
            </a:r>
          </a:p>
          <a:p>
            <a:pPr marL="285750" indent="-285750">
              <a:buFont typeface="Arial" panose="020B0604020202020204" pitchFamily="34" charset="0"/>
              <a:buChar char="•"/>
            </a:pPr>
            <a:r>
              <a:rPr lang="en-US" dirty="0"/>
              <a:t>Avoid 90° traces in PCB design to prevent signal reflections and broken tracks during etching.</a:t>
            </a:r>
          </a:p>
          <a:p>
            <a:pPr marL="285750" indent="-285750">
              <a:buFont typeface="Arial" panose="020B0604020202020204" pitchFamily="34" charset="0"/>
              <a:buChar char="•"/>
            </a:pPr>
            <a:r>
              <a:rPr lang="en-US" dirty="0"/>
              <a:t>Fix broken PCB tracks using nail polish or a marker before etching to ensure continuity.</a:t>
            </a:r>
          </a:p>
          <a:p>
            <a:pPr marL="285750" indent="-285750">
              <a:buFont typeface="Arial" panose="020B0604020202020204" pitchFamily="34" charset="0"/>
              <a:buChar char="•"/>
            </a:pPr>
            <a:r>
              <a:rPr lang="en-US" dirty="0"/>
              <a:t>Check diode orientation, maintain correct capacitor polarity, and use proper ±2 V bias. Ensure tight connections, use a regulated power supply, and set the function generator to 25 V peak, 1 kHz. Allow time for capacitors to charge before observation.</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alpha val="56000"/>
          </a:schemeClr>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9B63AB3-6462-4421-BB6F-DB3F519FAED2}"/>
              </a:ext>
            </a:extLst>
          </p:cNvPr>
          <p:cNvPicPr>
            <a:picLocks noChangeAspect="1"/>
          </p:cNvPicPr>
          <p:nvPr/>
        </p:nvPicPr>
        <p:blipFill rotWithShape="1">
          <a:blip r:embed="rId2"/>
          <a:srcRect l="18202" t="2039" r="1563" b="2039"/>
          <a:stretch/>
        </p:blipFill>
        <p:spPr>
          <a:xfrm>
            <a:off x="1" y="0"/>
            <a:ext cx="14630399" cy="8229599"/>
          </a:xfrm>
          <a:prstGeom prst="rect">
            <a:avLst/>
          </a:prstGeom>
        </p:spPr>
      </p:pic>
      <p:sp>
        <p:nvSpPr>
          <p:cNvPr id="21" name="TextBox 20">
            <a:extLst>
              <a:ext uri="{FF2B5EF4-FFF2-40B4-BE49-F238E27FC236}">
                <a16:creationId xmlns:a16="http://schemas.microsoft.com/office/drawing/2014/main" id="{FC6B501E-EC26-4A9D-9D09-BC327022C2FF}"/>
              </a:ext>
            </a:extLst>
          </p:cNvPr>
          <p:cNvSpPr txBox="1"/>
          <p:nvPr/>
        </p:nvSpPr>
        <p:spPr>
          <a:xfrm>
            <a:off x="3072807" y="-1"/>
            <a:ext cx="11557593" cy="8229599"/>
          </a:xfrm>
          <a:custGeom>
            <a:avLst/>
            <a:gdLst/>
            <a:ahLst/>
            <a:cxnLst/>
            <a:rect l="l" t="t" r="r" b="b"/>
            <a:pathLst>
              <a:path w="11557593" h="8229599">
                <a:moveTo>
                  <a:pt x="2417266" y="769753"/>
                </a:moveTo>
                <a:lnTo>
                  <a:pt x="2321942" y="1083482"/>
                </a:lnTo>
                <a:lnTo>
                  <a:pt x="2513595" y="1083482"/>
                </a:lnTo>
                <a:close/>
                <a:moveTo>
                  <a:pt x="6906815" y="732843"/>
                </a:moveTo>
                <a:cubicBezTo>
                  <a:pt x="6963568" y="732843"/>
                  <a:pt x="7008514" y="751794"/>
                  <a:pt x="7041653" y="789696"/>
                </a:cubicBezTo>
                <a:cubicBezTo>
                  <a:pt x="7074793" y="827597"/>
                  <a:pt x="7091362" y="887625"/>
                  <a:pt x="7091362" y="969778"/>
                </a:cubicBezTo>
                <a:cubicBezTo>
                  <a:pt x="7091362" y="1067409"/>
                  <a:pt x="7075487" y="1135076"/>
                  <a:pt x="7043737" y="1172779"/>
                </a:cubicBezTo>
                <a:cubicBezTo>
                  <a:pt x="7011987" y="1210482"/>
                  <a:pt x="6967140" y="1229334"/>
                  <a:pt x="6909196" y="1229334"/>
                </a:cubicBezTo>
                <a:cubicBezTo>
                  <a:pt x="6852840" y="1229334"/>
                  <a:pt x="6808291" y="1210086"/>
                  <a:pt x="6775548" y="1171589"/>
                </a:cubicBezTo>
                <a:cubicBezTo>
                  <a:pt x="6742806" y="1133092"/>
                  <a:pt x="6726435" y="1069790"/>
                  <a:pt x="6726435" y="981684"/>
                </a:cubicBezTo>
                <a:cubicBezTo>
                  <a:pt x="6726435" y="892784"/>
                  <a:pt x="6742906" y="829086"/>
                  <a:pt x="6775846" y="790589"/>
                </a:cubicBezTo>
                <a:cubicBezTo>
                  <a:pt x="6808787" y="752092"/>
                  <a:pt x="6852444" y="732843"/>
                  <a:pt x="6906815" y="732843"/>
                </a:cubicBezTo>
                <a:close/>
                <a:moveTo>
                  <a:pt x="7548562" y="543534"/>
                </a:moveTo>
                <a:lnTo>
                  <a:pt x="7548562" y="1063493"/>
                </a:lnTo>
                <a:cubicBezTo>
                  <a:pt x="7548562" y="1106324"/>
                  <a:pt x="7556896" y="1155503"/>
                  <a:pt x="7573565" y="1211028"/>
                </a:cubicBezTo>
                <a:cubicBezTo>
                  <a:pt x="7583884" y="1245531"/>
                  <a:pt x="7603033" y="1279044"/>
                  <a:pt x="7631012" y="1311566"/>
                </a:cubicBezTo>
                <a:cubicBezTo>
                  <a:pt x="7658992" y="1344088"/>
                  <a:pt x="7689850" y="1369174"/>
                  <a:pt x="7723584" y="1386822"/>
                </a:cubicBezTo>
                <a:cubicBezTo>
                  <a:pt x="7757319" y="1404471"/>
                  <a:pt x="7799288" y="1416270"/>
                  <a:pt x="7849492" y="1422220"/>
                </a:cubicBezTo>
                <a:cubicBezTo>
                  <a:pt x="7899697" y="1428170"/>
                  <a:pt x="7946033" y="1431145"/>
                  <a:pt x="7988498" y="1431145"/>
                </a:cubicBezTo>
                <a:cubicBezTo>
                  <a:pt x="8061920" y="1431145"/>
                  <a:pt x="8124824" y="1421428"/>
                  <a:pt x="8177212" y="1401993"/>
                </a:cubicBezTo>
                <a:cubicBezTo>
                  <a:pt x="8214915" y="1388115"/>
                  <a:pt x="8250932" y="1364022"/>
                  <a:pt x="8285261" y="1329714"/>
                </a:cubicBezTo>
                <a:cubicBezTo>
                  <a:pt x="8319591" y="1295406"/>
                  <a:pt x="8344792" y="1255348"/>
                  <a:pt x="8360866" y="1209540"/>
                </a:cubicBezTo>
                <a:cubicBezTo>
                  <a:pt x="8376939" y="1163732"/>
                  <a:pt x="8384976" y="1115050"/>
                  <a:pt x="8384976" y="1063493"/>
                </a:cubicBezTo>
                <a:lnTo>
                  <a:pt x="8384976" y="543534"/>
                </a:lnTo>
                <a:lnTo>
                  <a:pt x="8115894" y="543534"/>
                </a:lnTo>
                <a:lnTo>
                  <a:pt x="8115894" y="1075874"/>
                </a:lnTo>
                <a:cubicBezTo>
                  <a:pt x="8115894" y="1124249"/>
                  <a:pt x="8102699" y="1161622"/>
                  <a:pt x="8076306" y="1187992"/>
                </a:cubicBezTo>
                <a:cubicBezTo>
                  <a:pt x="8049915" y="1214363"/>
                  <a:pt x="8013501" y="1227548"/>
                  <a:pt x="7967066" y="1227548"/>
                </a:cubicBezTo>
                <a:cubicBezTo>
                  <a:pt x="7920235" y="1227548"/>
                  <a:pt x="7883624" y="1214166"/>
                  <a:pt x="7857231" y="1187402"/>
                </a:cubicBezTo>
                <a:cubicBezTo>
                  <a:pt x="7830840" y="1160637"/>
                  <a:pt x="7817643" y="1123461"/>
                  <a:pt x="7817643" y="1075874"/>
                </a:cubicBezTo>
                <a:lnTo>
                  <a:pt x="7817643" y="543534"/>
                </a:lnTo>
                <a:close/>
                <a:moveTo>
                  <a:pt x="5488186" y="543534"/>
                </a:moveTo>
                <a:lnTo>
                  <a:pt x="5828109" y="1050740"/>
                </a:lnTo>
                <a:lnTo>
                  <a:pt x="5828109" y="1416262"/>
                </a:lnTo>
                <a:lnTo>
                  <a:pt x="6098381" y="1416262"/>
                </a:lnTo>
                <a:lnTo>
                  <a:pt x="6098381" y="1050740"/>
                </a:lnTo>
                <a:lnTo>
                  <a:pt x="6437709" y="543534"/>
                </a:lnTo>
                <a:lnTo>
                  <a:pt x="6139764" y="543534"/>
                </a:lnTo>
                <a:lnTo>
                  <a:pt x="5963571" y="837953"/>
                </a:lnTo>
                <a:lnTo>
                  <a:pt x="5787739" y="543534"/>
                </a:lnTo>
                <a:close/>
                <a:moveTo>
                  <a:pt x="4082058" y="543534"/>
                </a:moveTo>
                <a:lnTo>
                  <a:pt x="4351734" y="543534"/>
                </a:lnTo>
                <a:lnTo>
                  <a:pt x="4351734" y="873337"/>
                </a:lnTo>
                <a:lnTo>
                  <a:pt x="4634219" y="543534"/>
                </a:lnTo>
                <a:lnTo>
                  <a:pt x="4992886" y="543534"/>
                </a:lnTo>
                <a:lnTo>
                  <a:pt x="4674412" y="872947"/>
                </a:lnTo>
                <a:lnTo>
                  <a:pt x="5007173" y="1416262"/>
                </a:lnTo>
                <a:lnTo>
                  <a:pt x="4675073" y="1416262"/>
                </a:lnTo>
                <a:lnTo>
                  <a:pt x="4491065" y="1057354"/>
                </a:lnTo>
                <a:lnTo>
                  <a:pt x="4351734" y="1203298"/>
                </a:lnTo>
                <a:lnTo>
                  <a:pt x="4351734" y="1416262"/>
                </a:lnTo>
                <a:lnTo>
                  <a:pt x="4082058" y="1416262"/>
                </a:lnTo>
                <a:close/>
                <a:moveTo>
                  <a:pt x="3025378" y="543534"/>
                </a:moveTo>
                <a:lnTo>
                  <a:pt x="3277195" y="543534"/>
                </a:lnTo>
                <a:lnTo>
                  <a:pt x="3605808" y="1026370"/>
                </a:lnTo>
                <a:lnTo>
                  <a:pt x="3605808" y="543534"/>
                </a:lnTo>
                <a:lnTo>
                  <a:pt x="3860006" y="543534"/>
                </a:lnTo>
                <a:lnTo>
                  <a:pt x="3860006" y="1416262"/>
                </a:lnTo>
                <a:lnTo>
                  <a:pt x="3605808" y="1416262"/>
                </a:lnTo>
                <a:lnTo>
                  <a:pt x="3278981" y="937073"/>
                </a:lnTo>
                <a:lnTo>
                  <a:pt x="3278981" y="1416262"/>
                </a:lnTo>
                <a:lnTo>
                  <a:pt x="3025378" y="1416262"/>
                </a:lnTo>
                <a:close/>
                <a:moveTo>
                  <a:pt x="2273498" y="543534"/>
                </a:moveTo>
                <a:lnTo>
                  <a:pt x="2567657" y="543534"/>
                </a:lnTo>
                <a:lnTo>
                  <a:pt x="2895600" y="1416262"/>
                </a:lnTo>
                <a:lnTo>
                  <a:pt x="2613199" y="1416262"/>
                </a:lnTo>
                <a:lnTo>
                  <a:pt x="2569536" y="1272197"/>
                </a:lnTo>
                <a:lnTo>
                  <a:pt x="2263369" y="1272197"/>
                </a:lnTo>
                <a:lnTo>
                  <a:pt x="2220832" y="1416262"/>
                </a:lnTo>
                <a:lnTo>
                  <a:pt x="1945481" y="1416262"/>
                </a:lnTo>
                <a:close/>
                <a:moveTo>
                  <a:pt x="976908" y="543534"/>
                </a:moveTo>
                <a:lnTo>
                  <a:pt x="1246584" y="543534"/>
                </a:lnTo>
                <a:lnTo>
                  <a:pt x="1246584" y="848929"/>
                </a:lnTo>
                <a:lnTo>
                  <a:pt x="1541264" y="848929"/>
                </a:lnTo>
                <a:lnTo>
                  <a:pt x="1541264" y="543534"/>
                </a:lnTo>
                <a:lnTo>
                  <a:pt x="1812131" y="543534"/>
                </a:lnTo>
                <a:lnTo>
                  <a:pt x="1812131" y="1416262"/>
                </a:lnTo>
                <a:lnTo>
                  <a:pt x="1541264" y="1416262"/>
                </a:lnTo>
                <a:lnTo>
                  <a:pt x="1541264" y="1063242"/>
                </a:lnTo>
                <a:lnTo>
                  <a:pt x="1246584" y="1063242"/>
                </a:lnTo>
                <a:lnTo>
                  <a:pt x="1246584" y="1416262"/>
                </a:lnTo>
                <a:lnTo>
                  <a:pt x="976908" y="1416262"/>
                </a:lnTo>
                <a:close/>
                <a:moveTo>
                  <a:pt x="0" y="543534"/>
                </a:moveTo>
                <a:lnTo>
                  <a:pt x="819745" y="543534"/>
                </a:lnTo>
                <a:lnTo>
                  <a:pt x="819745" y="759037"/>
                </a:lnTo>
                <a:lnTo>
                  <a:pt x="544711" y="759037"/>
                </a:lnTo>
                <a:lnTo>
                  <a:pt x="544711" y="1416262"/>
                </a:lnTo>
                <a:lnTo>
                  <a:pt x="275034" y="1416262"/>
                </a:lnTo>
                <a:lnTo>
                  <a:pt x="275034" y="759037"/>
                </a:lnTo>
                <a:lnTo>
                  <a:pt x="0" y="759037"/>
                </a:lnTo>
                <a:close/>
                <a:moveTo>
                  <a:pt x="6907410" y="528651"/>
                </a:moveTo>
                <a:cubicBezTo>
                  <a:pt x="6765726" y="528651"/>
                  <a:pt x="6655196" y="568339"/>
                  <a:pt x="6575822" y="647714"/>
                </a:cubicBezTo>
                <a:cubicBezTo>
                  <a:pt x="6496447" y="727089"/>
                  <a:pt x="6456759" y="838015"/>
                  <a:pt x="6456759" y="980493"/>
                </a:cubicBezTo>
                <a:cubicBezTo>
                  <a:pt x="6456759" y="1082490"/>
                  <a:pt x="6476801" y="1167422"/>
                  <a:pt x="6516886" y="1235287"/>
                </a:cubicBezTo>
                <a:cubicBezTo>
                  <a:pt x="6556970" y="1303153"/>
                  <a:pt x="6609259" y="1352762"/>
                  <a:pt x="6673750" y="1384115"/>
                </a:cubicBezTo>
                <a:cubicBezTo>
                  <a:pt x="6738242" y="1415468"/>
                  <a:pt x="6819701" y="1431145"/>
                  <a:pt x="6918126" y="1431145"/>
                </a:cubicBezTo>
                <a:cubicBezTo>
                  <a:pt x="7014964" y="1431145"/>
                  <a:pt x="7095826" y="1412988"/>
                  <a:pt x="7160716" y="1376674"/>
                </a:cubicBezTo>
                <a:cubicBezTo>
                  <a:pt x="7225605" y="1340360"/>
                  <a:pt x="7275214" y="1289560"/>
                  <a:pt x="7309544" y="1224274"/>
                </a:cubicBezTo>
                <a:cubicBezTo>
                  <a:pt x="7343874" y="1158988"/>
                  <a:pt x="7361038" y="1075347"/>
                  <a:pt x="7361038" y="973350"/>
                </a:cubicBezTo>
                <a:cubicBezTo>
                  <a:pt x="7361038" y="832856"/>
                  <a:pt x="7321748" y="723616"/>
                  <a:pt x="7243166" y="645630"/>
                </a:cubicBezTo>
                <a:cubicBezTo>
                  <a:pt x="7164585" y="567644"/>
                  <a:pt x="7052666" y="528651"/>
                  <a:pt x="6907410" y="528651"/>
                </a:cubicBezTo>
                <a:close/>
                <a:moveTo>
                  <a:pt x="5420265" y="0"/>
                </a:moveTo>
                <a:lnTo>
                  <a:pt x="11557593" y="0"/>
                </a:lnTo>
                <a:lnTo>
                  <a:pt x="9511817" y="8229599"/>
                </a:lnTo>
                <a:lnTo>
                  <a:pt x="3374489" y="8229599"/>
                </a:lnTo>
                <a:close/>
              </a:path>
            </a:pathLst>
          </a:custGeom>
          <a:solidFill>
            <a:srgbClr val="FFFF00">
              <a:alpha val="84000"/>
            </a:srgbClr>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IN" sz="9600" spc="300" dirty="0">
              <a:solidFill>
                <a:srgbClr val="FFFF00"/>
              </a:solidFill>
              <a:latin typeface="Arial Black" panose="020B0A04020102020204" pitchFamily="34" charset="0"/>
            </a:endParaRPr>
          </a:p>
        </p:txBody>
      </p:sp>
      <p:sp>
        <p:nvSpPr>
          <p:cNvPr id="22" name="Rectangle 21">
            <a:extLst>
              <a:ext uri="{FF2B5EF4-FFF2-40B4-BE49-F238E27FC236}">
                <a16:creationId xmlns:a16="http://schemas.microsoft.com/office/drawing/2014/main" id="{3627B936-CFA1-478F-B227-25E89BB5B752}"/>
              </a:ext>
            </a:extLst>
          </p:cNvPr>
          <p:cNvSpPr/>
          <p:nvPr/>
        </p:nvSpPr>
        <p:spPr>
          <a:xfrm>
            <a:off x="6010052" y="8229598"/>
            <a:ext cx="8524582" cy="7449219"/>
          </a:xfrm>
          <a:prstGeom prst="rect">
            <a:avLst/>
          </a:prstGeom>
        </p:spPr>
        <p:txBody>
          <a:bodyPr wrap="square">
            <a:spAutoFit/>
          </a:bodyPr>
          <a:lstStyle/>
          <a:p>
            <a:pPr algn="ctr">
              <a:lnSpc>
                <a:spcPct val="107000"/>
              </a:lnSpc>
              <a:spcAft>
                <a:spcPts val="800"/>
              </a:spcAft>
            </a:pPr>
            <a:r>
              <a:rPr lang="en-IN" sz="2000" b="1" u="sng" dirty="0">
                <a:solidFill>
                  <a:schemeClr val="bg1"/>
                </a:solidFill>
                <a:latin typeface="Calibri" panose="020F0502020204030204" pitchFamily="34" charset="0"/>
                <a:ea typeface="Calibri" panose="020F0502020204030204" pitchFamily="34" charset="0"/>
                <a:cs typeface="Times New Roman" panose="02020603050405020304" pitchFamily="18" charset="0"/>
              </a:rPr>
              <a:t>BIBLIOGRAPHY</a:t>
            </a:r>
            <a:r>
              <a:rPr lang="en-IN" sz="2000" b="1" cap="all" dirty="0">
                <a:solidFill>
                  <a:schemeClr val="bg1"/>
                </a:solidFill>
                <a:latin typeface="Calibri" panose="020F0502020204030204" pitchFamily="34" charset="0"/>
                <a:ea typeface="Calibri" panose="020F0502020204030204" pitchFamily="34" charset="0"/>
                <a:cs typeface="Times New Roman" panose="02020603050405020304" pitchFamily="18" charset="0"/>
              </a:rPr>
              <a:t> </a:t>
            </a:r>
            <a:endParaRPr lang="en-IN" sz="11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2700"/>
              </a:lnSpc>
              <a:spcAft>
                <a:spcPts val="0"/>
              </a:spcAft>
              <a:buFont typeface="+mj-lt"/>
              <a:buAutoNum type="arabicPeriod"/>
            </a:pPr>
            <a:r>
              <a:rPr lang="en-IN" sz="2400" b="1" dirty="0">
                <a:solidFill>
                  <a:schemeClr val="bg1"/>
                </a:solidFill>
                <a:latin typeface="Arial Black" panose="020B0A04020102020204" pitchFamily="34" charset="0"/>
                <a:ea typeface="Times New Roman" panose="02020603050405020304" pitchFamily="18" charset="0"/>
                <a:cs typeface="Calibri" panose="020F0502020204030204" pitchFamily="34" charset="0"/>
              </a:rPr>
              <a:t>Microelectronic circuits</a:t>
            </a:r>
            <a:r>
              <a:rPr lang="en-IN" sz="2400" b="1" dirty="0">
                <a:solidFill>
                  <a:schemeClr val="bg1"/>
                </a:solidFill>
                <a:latin typeface="Arial Black" panose="020B0A04020102020204" pitchFamily="34" charset="0"/>
                <a:ea typeface="Times New Roman" panose="02020603050405020304" pitchFamily="18" charset="0"/>
                <a:cs typeface="Times New Roman" panose="02020603050405020304" pitchFamily="18" charset="0"/>
              </a:rPr>
              <a:t> </a:t>
            </a:r>
            <a:r>
              <a:rPr lang="en-IN" sz="2400" b="1" dirty="0">
                <a:solidFill>
                  <a:schemeClr val="bg1"/>
                </a:solidFill>
                <a:latin typeface="Arial Black" panose="020B0A04020102020204" pitchFamily="34" charset="0"/>
                <a:ea typeface="Times New Roman" panose="02020603050405020304" pitchFamily="18" charset="0"/>
                <a:cs typeface="Calibri" panose="020F0502020204030204" pitchFamily="34" charset="0"/>
              </a:rPr>
              <a:t>book by Adel </a:t>
            </a:r>
            <a:r>
              <a:rPr lang="en-IN" sz="2400" b="1" dirty="0" err="1">
                <a:solidFill>
                  <a:schemeClr val="bg1"/>
                </a:solidFill>
                <a:latin typeface="Arial Black" panose="020B0A04020102020204" pitchFamily="34" charset="0"/>
                <a:ea typeface="Times New Roman" panose="02020603050405020304" pitchFamily="18" charset="0"/>
                <a:cs typeface="Calibri" panose="020F0502020204030204" pitchFamily="34" charset="0"/>
              </a:rPr>
              <a:t>Sedra</a:t>
            </a:r>
            <a:r>
              <a:rPr lang="en-IN" sz="2400" b="1" dirty="0">
                <a:solidFill>
                  <a:schemeClr val="bg1"/>
                </a:solidFill>
                <a:latin typeface="Arial Black" panose="020B0A04020102020204" pitchFamily="34" charset="0"/>
                <a:ea typeface="Times New Roman" panose="02020603050405020304" pitchFamily="18" charset="0"/>
                <a:cs typeface="Calibri" panose="020F0502020204030204" pitchFamily="34" charset="0"/>
              </a:rPr>
              <a:t> and Kenneth Smith.</a:t>
            </a:r>
            <a:endParaRPr lang="en-IN" sz="2400" b="1" dirty="0">
              <a:solidFill>
                <a:schemeClr val="bg1"/>
              </a:solidFill>
              <a:latin typeface="Arial Black" panose="020B0A04020102020204" pitchFamily="34" charset="0"/>
              <a:ea typeface="Calibri" panose="020F0502020204030204" pitchFamily="34" charset="0"/>
              <a:cs typeface="Times New Roman" panose="02020603050405020304" pitchFamily="18" charset="0"/>
            </a:endParaRPr>
          </a:p>
          <a:p>
            <a:pPr marL="342900" lvl="0" indent="-342900">
              <a:lnSpc>
                <a:spcPts val="2700"/>
              </a:lnSpc>
              <a:spcAft>
                <a:spcPts val="0"/>
              </a:spcAft>
              <a:buFont typeface="+mj-lt"/>
              <a:buAutoNum type="arabicPeriod"/>
            </a:pPr>
            <a:r>
              <a:rPr lang="en-IN" sz="2400" b="1" dirty="0">
                <a:solidFill>
                  <a:schemeClr val="bg1"/>
                </a:solidFill>
                <a:latin typeface="Arial Black" panose="020B0A04020102020204" pitchFamily="34" charset="0"/>
                <a:ea typeface="Calibri" panose="020F0502020204030204" pitchFamily="34" charset="0"/>
                <a:cs typeface="Times New Roman" panose="02020603050405020304" pitchFamily="18" charset="0"/>
              </a:rPr>
              <a:t>Lab manuals and resources from the </a:t>
            </a:r>
            <a:r>
              <a:rPr lang="en-IN" sz="2400" b="1" i="1" dirty="0">
                <a:solidFill>
                  <a:schemeClr val="bg1"/>
                </a:solidFill>
                <a:latin typeface="Arial Black" panose="020B0A04020102020204" pitchFamily="34" charset="0"/>
                <a:ea typeface="Calibri" panose="020F0502020204030204" pitchFamily="34" charset="0"/>
                <a:cs typeface="Times New Roman" panose="02020603050405020304" pitchFamily="18" charset="0"/>
              </a:rPr>
              <a:t>Institute of Radio Physics and Electronics Department</a:t>
            </a:r>
            <a:r>
              <a:rPr lang="en-IN" sz="2400" b="1" dirty="0">
                <a:solidFill>
                  <a:schemeClr val="bg1"/>
                </a:solidFill>
                <a:latin typeface="Arial Black" panose="020B0A04020102020204" pitchFamily="34" charset="0"/>
                <a:ea typeface="Calibri" panose="020F0502020204030204" pitchFamily="34" charset="0"/>
                <a:cs typeface="Times New Roman" panose="02020603050405020304" pitchFamily="18" charset="0"/>
              </a:rPr>
              <a:t>, University of Calcutta.</a:t>
            </a:r>
          </a:p>
          <a:p>
            <a:pPr marL="342900" lvl="0" indent="-342900">
              <a:lnSpc>
                <a:spcPts val="2700"/>
              </a:lnSpc>
              <a:spcAft>
                <a:spcPts val="0"/>
              </a:spcAft>
              <a:buFont typeface="+mj-lt"/>
              <a:buAutoNum type="arabicPeriod"/>
            </a:pPr>
            <a:r>
              <a:rPr lang="en-IN" sz="2400" b="1" dirty="0">
                <a:solidFill>
                  <a:schemeClr val="bg1"/>
                </a:solidFill>
                <a:latin typeface="Arial Black" panose="020B0A04020102020204" pitchFamily="34" charset="0"/>
                <a:ea typeface="Times New Roman" panose="02020603050405020304" pitchFamily="18" charset="0"/>
                <a:cs typeface="Calibri" panose="020F0502020204030204" pitchFamily="34" charset="0"/>
              </a:rPr>
              <a:t>Introduction of clippers circuits: </a:t>
            </a:r>
            <a:r>
              <a:rPr lang="en-IN" sz="2400" b="1" u="sng" dirty="0">
                <a:solidFill>
                  <a:schemeClr val="bg1"/>
                </a:solidFill>
                <a:latin typeface="Arial Black" panose="020B0A04020102020204" pitchFamily="34" charset="0"/>
                <a:ea typeface="Times New Roman" panose="02020603050405020304" pitchFamily="18" charset="0"/>
                <a:cs typeface="Calibri" panose="020F0502020204030204" pitchFamily="34" charset="0"/>
                <a:hlinkClick r:id="rId3"/>
              </a:rPr>
              <a:t>https://www.geeksforgeeks.org/digital-logic/introduction-to-clippers/</a:t>
            </a:r>
            <a:endParaRPr lang="en-IN" sz="2400" b="1" dirty="0">
              <a:solidFill>
                <a:schemeClr val="bg1"/>
              </a:solidFill>
              <a:latin typeface="Arial Black" panose="020B0A04020102020204" pitchFamily="34" charset="0"/>
              <a:ea typeface="Calibri" panose="020F0502020204030204" pitchFamily="34" charset="0"/>
              <a:cs typeface="Times New Roman" panose="02020603050405020304" pitchFamily="18" charset="0"/>
            </a:endParaRPr>
          </a:p>
          <a:p>
            <a:pPr marL="342900" lvl="0" indent="-342900">
              <a:lnSpc>
                <a:spcPts val="2700"/>
              </a:lnSpc>
              <a:spcAft>
                <a:spcPts val="0"/>
              </a:spcAft>
              <a:buFont typeface="+mj-lt"/>
              <a:buAutoNum type="arabicPeriod"/>
            </a:pPr>
            <a:r>
              <a:rPr lang="en-IN" sz="2400" b="1" dirty="0">
                <a:solidFill>
                  <a:schemeClr val="bg1"/>
                </a:solidFill>
                <a:latin typeface="Arial Black" panose="020B0A04020102020204" pitchFamily="34" charset="0"/>
                <a:ea typeface="Times New Roman" panose="02020603050405020304" pitchFamily="18" charset="0"/>
                <a:cs typeface="Calibri" panose="020F0502020204030204" pitchFamily="34" charset="0"/>
              </a:rPr>
              <a:t>Introduction of clampers circuits</a:t>
            </a:r>
            <a:r>
              <a:rPr lang="en-IN" sz="2400" b="1" dirty="0">
                <a:solidFill>
                  <a:schemeClr val="bg1"/>
                </a:solidFill>
                <a:latin typeface="Arial Black" panose="020B0A04020102020204" pitchFamily="34" charset="0"/>
                <a:ea typeface="Times New Roman" panose="02020603050405020304" pitchFamily="18" charset="0"/>
                <a:cs typeface="Times New Roman" panose="02020603050405020304" pitchFamily="18" charset="0"/>
              </a:rPr>
              <a:t>: </a:t>
            </a:r>
            <a:r>
              <a:rPr lang="en-IN" sz="2400" b="1" u="sng" dirty="0">
                <a:solidFill>
                  <a:schemeClr val="bg1"/>
                </a:solidFill>
                <a:latin typeface="Arial Black" panose="020B0A04020102020204" pitchFamily="34" charset="0"/>
                <a:ea typeface="Times New Roman" panose="02020603050405020304" pitchFamily="18" charset="0"/>
                <a:cs typeface="Calibri" panose="020F0502020204030204" pitchFamily="34" charset="0"/>
                <a:hlinkClick r:id="rId4"/>
              </a:rPr>
              <a:t>https://www.tutorialspoint.com/electronic_circuits/electronic_clamper_circuits.htm</a:t>
            </a:r>
            <a:endParaRPr lang="en-IN" sz="2400" b="1" dirty="0">
              <a:solidFill>
                <a:schemeClr val="bg1"/>
              </a:solidFill>
              <a:latin typeface="Arial Black" panose="020B0A04020102020204" pitchFamily="34" charset="0"/>
              <a:ea typeface="Calibri" panose="020F0502020204030204" pitchFamily="34" charset="0"/>
              <a:cs typeface="Times New Roman" panose="02020603050405020304" pitchFamily="18" charset="0"/>
            </a:endParaRPr>
          </a:p>
          <a:p>
            <a:pPr marL="342900" lvl="0" indent="-342900">
              <a:lnSpc>
                <a:spcPts val="2700"/>
              </a:lnSpc>
              <a:spcAft>
                <a:spcPts val="0"/>
              </a:spcAft>
              <a:buFont typeface="+mj-lt"/>
              <a:buAutoNum type="arabicPeriod"/>
            </a:pPr>
            <a:r>
              <a:rPr lang="en-IN" sz="2400" b="1" dirty="0">
                <a:solidFill>
                  <a:schemeClr val="bg1"/>
                </a:solidFill>
                <a:latin typeface="Arial Black" panose="020B0A04020102020204" pitchFamily="34" charset="0"/>
                <a:ea typeface="Times New Roman" panose="02020603050405020304" pitchFamily="18" charset="0"/>
                <a:cs typeface="Calibri" panose="020F0502020204030204" pitchFamily="34" charset="0"/>
              </a:rPr>
              <a:t>YouTube- ALL ABOUT ELECTRONICS:</a:t>
            </a:r>
            <a:r>
              <a:rPr lang="en-IN" sz="2400" b="1" dirty="0">
                <a:solidFill>
                  <a:schemeClr val="bg1"/>
                </a:solidFill>
                <a:latin typeface="Arial Black" panose="020B0A04020102020204" pitchFamily="34" charset="0"/>
                <a:ea typeface="Calibri" panose="020F0502020204030204" pitchFamily="34" charset="0"/>
                <a:cs typeface="Times New Roman" panose="02020603050405020304" pitchFamily="18" charset="0"/>
              </a:rPr>
              <a:t> </a:t>
            </a:r>
          </a:p>
          <a:p>
            <a:pPr marL="742950" lvl="1" indent="-285750">
              <a:lnSpc>
                <a:spcPts val="2700"/>
              </a:lnSpc>
              <a:spcAft>
                <a:spcPts val="0"/>
              </a:spcAft>
              <a:buFont typeface="+mj-lt"/>
              <a:buAutoNum type="alphaLcPeriod"/>
            </a:pPr>
            <a:r>
              <a:rPr lang="en-IN" sz="2400" b="1" u="sng" dirty="0">
                <a:solidFill>
                  <a:schemeClr val="bg1"/>
                </a:solidFill>
                <a:latin typeface="Arial Black" panose="020B0A04020102020204" pitchFamily="34" charset="0"/>
                <a:ea typeface="Times New Roman" panose="02020603050405020304" pitchFamily="18" charset="0"/>
                <a:cs typeface="Calibri" panose="020F0502020204030204" pitchFamily="34" charset="0"/>
                <a:hlinkClick r:id="rId5"/>
              </a:rPr>
              <a:t>https://www.youtube.com/watch?v=S76CnEJMl5E&amp;list=PLwjK_iyK4LLBVM18VZ7JKW-q88FAtnr8_&amp;index=48</a:t>
            </a:r>
            <a:endParaRPr lang="en-IN" sz="2400" b="1" dirty="0">
              <a:solidFill>
                <a:schemeClr val="bg1"/>
              </a:solidFill>
              <a:latin typeface="Arial Black" panose="020B0A04020102020204" pitchFamily="34" charset="0"/>
              <a:ea typeface="Calibri" panose="020F0502020204030204" pitchFamily="34" charset="0"/>
              <a:cs typeface="Times New Roman" panose="02020603050405020304" pitchFamily="18" charset="0"/>
            </a:endParaRPr>
          </a:p>
          <a:p>
            <a:pPr marL="742950" lvl="1" indent="-285750">
              <a:lnSpc>
                <a:spcPts val="2700"/>
              </a:lnSpc>
              <a:spcAft>
                <a:spcPts val="0"/>
              </a:spcAft>
              <a:buFont typeface="+mj-lt"/>
              <a:buAutoNum type="alphaLcPeriod"/>
            </a:pPr>
            <a:r>
              <a:rPr lang="en-IN" sz="2400" b="1" u="sng" dirty="0">
                <a:solidFill>
                  <a:schemeClr val="bg1"/>
                </a:solidFill>
                <a:latin typeface="Arial Black" panose="020B0A04020102020204" pitchFamily="34" charset="0"/>
                <a:ea typeface="Times New Roman" panose="02020603050405020304" pitchFamily="18" charset="0"/>
                <a:cs typeface="Calibri" panose="020F0502020204030204" pitchFamily="34" charset="0"/>
                <a:hlinkClick r:id="rId6"/>
              </a:rPr>
              <a:t>https://www.youtube.com/watch?v=7O3Hbkkt624&amp;list=PLwjK_iyK4LLBVM18VZ7JKW-q88FAtnr8_&amp;index=50</a:t>
            </a:r>
            <a:endParaRPr lang="en-IN" sz="2400" b="1" dirty="0">
              <a:solidFill>
                <a:schemeClr val="bg1"/>
              </a:solidFill>
              <a:latin typeface="Arial Black" panose="020B0A04020102020204" pitchFamily="34" charset="0"/>
              <a:ea typeface="Calibri" panose="020F0502020204030204" pitchFamily="34" charset="0"/>
              <a:cs typeface="Times New Roman" panose="02020603050405020304" pitchFamily="18" charset="0"/>
            </a:endParaRPr>
          </a:p>
          <a:p>
            <a:pPr>
              <a:lnSpc>
                <a:spcPts val="2700"/>
              </a:lnSpc>
              <a:spcAft>
                <a:spcPts val="0"/>
              </a:spcAft>
            </a:pPr>
            <a:r>
              <a:rPr lang="en-IN" sz="2400" b="1" dirty="0">
                <a:solidFill>
                  <a:schemeClr val="bg1"/>
                </a:solidFill>
                <a:latin typeface="Arial Black" panose="020B0A04020102020204" pitchFamily="34" charset="0"/>
                <a:ea typeface="Times New Roman" panose="02020603050405020304" pitchFamily="18" charset="0"/>
                <a:cs typeface="Calibri" panose="020F0502020204030204" pitchFamily="34" charset="0"/>
              </a:rPr>
              <a:t> </a:t>
            </a:r>
            <a:endParaRPr lang="en-IN" sz="2400" b="1" dirty="0">
              <a:solidFill>
                <a:schemeClr val="bg1"/>
              </a:solidFill>
              <a:latin typeface="Arial Black" panose="020B0A04020102020204" pitchFamily="34" charset="0"/>
              <a:ea typeface="Calibri" panose="020F0502020204030204" pitchFamily="34" charset="0"/>
              <a:cs typeface="Times New Roman" panose="02020603050405020304" pitchFamily="18" charset="0"/>
            </a:endParaRPr>
          </a:p>
          <a:p>
            <a:pPr>
              <a:lnSpc>
                <a:spcPts val="2700"/>
              </a:lnSpc>
              <a:spcAft>
                <a:spcPts val="0"/>
              </a:spcAft>
            </a:pPr>
            <a:r>
              <a:rPr lang="en-IN" sz="1200" dirty="0">
                <a:solidFill>
                  <a:schemeClr val="bg1"/>
                </a:solidFill>
                <a:latin typeface="Calibri" panose="020F0502020204030204" pitchFamily="34" charset="0"/>
                <a:ea typeface="Times New Roman" panose="02020603050405020304" pitchFamily="18" charset="0"/>
                <a:cs typeface="Calibri" panose="020F0502020204030204" pitchFamily="34" charset="0"/>
              </a:rPr>
              <a:t> </a:t>
            </a:r>
            <a:endParaRPr lang="en-IN" sz="1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4D9EC5C3-BCEA-4926-B614-9443CD94E788}"/>
              </a:ext>
            </a:extLst>
          </p:cNvPr>
          <p:cNvSpPr/>
          <p:nvPr/>
        </p:nvSpPr>
        <p:spPr>
          <a:xfrm>
            <a:off x="-6151900" y="5088599"/>
            <a:ext cx="6104618" cy="3139321"/>
          </a:xfrm>
          <a:prstGeom prst="rect">
            <a:avLst/>
          </a:prstGeom>
        </p:spPr>
        <p:txBody>
          <a:bodyPr wrap="square">
            <a:spAutoFit/>
          </a:bodyPr>
          <a:lstStyle/>
          <a:p>
            <a:pPr algn="ctr"/>
            <a:r>
              <a:rPr lang="en-US" b="1" dirty="0">
                <a:solidFill>
                  <a:schemeClr val="bg1"/>
                </a:solidFill>
                <a:latin typeface="Arial Black" panose="020B0A04020102020204" pitchFamily="34" charset="0"/>
              </a:rPr>
              <a:t>ACKNOWLEDGEMENT</a:t>
            </a:r>
          </a:p>
          <a:p>
            <a:r>
              <a:rPr lang="en-US" b="1" dirty="0">
                <a:solidFill>
                  <a:schemeClr val="bg1"/>
                </a:solidFill>
                <a:latin typeface="Arial Black" panose="020B0A04020102020204" pitchFamily="34" charset="0"/>
              </a:rPr>
              <a:t>We sincerely thank our supervisor, Prof. Kaushik Mandal, for his valuable guidance, and Prof. </a:t>
            </a:r>
            <a:r>
              <a:rPr lang="en-US" b="1" dirty="0" err="1">
                <a:solidFill>
                  <a:schemeClr val="bg1"/>
                </a:solidFill>
                <a:latin typeface="Arial Black" panose="020B0A04020102020204" pitchFamily="34" charset="0"/>
              </a:rPr>
              <a:t>Santanu</a:t>
            </a:r>
            <a:r>
              <a:rPr lang="en-US" b="1" dirty="0">
                <a:solidFill>
                  <a:schemeClr val="bg1"/>
                </a:solidFill>
                <a:latin typeface="Arial Black" panose="020B0A04020102020204" pitchFamily="34" charset="0"/>
              </a:rPr>
              <a:t> Mondal for his constant encouragement. We are grateful to the Institute of Radio Physics and Electronics, University of Calcutta, for providing the necessary facilities. We also acknowledge the support of Mr. Deb Kumar Majhi, Analog Devices lab assistant, for his kind assistance and helpful feedback.</a:t>
            </a:r>
            <a:endParaRPr lang="en-IN" b="1"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957434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4" presetClass="path" presetSubtype="0" fill="hold" grpId="0" nodeType="withEffect">
                                  <p:stCondLst>
                                    <p:cond delay="0"/>
                                  </p:stCondLst>
                                  <p:childTnLst>
                                    <p:animMotion origin="layout" path="M 1.5625E-6 3.7037E-6 L 0.00054 -0.81 " pathEditMode="relative" rAng="0" ptsTypes="AA">
                                      <p:cBhvr>
                                        <p:cTn id="6" dur="5000" fill="hold"/>
                                        <p:tgtEl>
                                          <p:spTgt spid="22"/>
                                        </p:tgtEl>
                                        <p:attrNameLst>
                                          <p:attrName>ppt_x</p:attrName>
                                          <p:attrName>ppt_y</p:attrName>
                                        </p:attrNameLst>
                                      </p:cBhvr>
                                      <p:rCtr x="22" y="-40509"/>
                                    </p:animMotion>
                                  </p:childTnLst>
                                </p:cTn>
                              </p:par>
                              <p:par>
                                <p:cTn id="7" presetID="63" presetClass="path" presetSubtype="0" accel="50000" decel="50000" fill="hold" grpId="0" nodeType="withEffect">
                                  <p:stCondLst>
                                    <p:cond delay="0"/>
                                  </p:stCondLst>
                                  <p:childTnLst>
                                    <p:animMotion origin="layout" path="M -4.44444E-6 2.22222E-6 L 0.42188 0.00077 " pathEditMode="relative" rAng="0" ptsTypes="AA">
                                      <p:cBhvr>
                                        <p:cTn id="8" dur="2000" fill="hold"/>
                                        <p:tgtEl>
                                          <p:spTgt spid="2"/>
                                        </p:tgtEl>
                                        <p:attrNameLst>
                                          <p:attrName>ppt_x</p:attrName>
                                          <p:attrName>ppt_y</p:attrName>
                                        </p:attrNameLst>
                                      </p:cBhvr>
                                      <p:rCtr x="21094" y="3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972</TotalTime>
  <Words>1241</Words>
  <Application>Microsoft Office PowerPoint</Application>
  <PresentationFormat>Custom</PresentationFormat>
  <Paragraphs>152</Paragraphs>
  <Slides>12</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Cambria Math</vt:lpstr>
      <vt:lpstr>Symbol</vt:lpstr>
      <vt:lpstr>Tomorrow Semi Bold</vt:lpstr>
      <vt:lpstr>Arial</vt:lpstr>
      <vt:lpstr>Calibri</vt:lpstr>
      <vt:lpstr>Calibri Light</vt:lpstr>
      <vt:lpstr>Times New Roman</vt:lpstr>
      <vt:lpstr>Arial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Swapnil Saha</dc:creator>
  <cp:lastModifiedBy>Swapnil Saha</cp:lastModifiedBy>
  <cp:revision>75</cp:revision>
  <dcterms:created xsi:type="dcterms:W3CDTF">2025-07-16T08:32:46Z</dcterms:created>
  <dcterms:modified xsi:type="dcterms:W3CDTF">2025-07-20T00:05:15Z</dcterms:modified>
</cp:coreProperties>
</file>